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00000" y="0"/>
            <a:ext cx="15000" cy="6858000"/>
          </a:xfrm>
          <a:prstGeom prst="rect">
            <a:avLst/>
          </a:prstGeom>
          <a:solidFill>
            <a:srgbClr val="3A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nside_circle_logo.png"/>
          <p:cNvPicPr>
            <a:picLocks noChangeAspect="1"/>
          </p:cNvPicPr>
          <p:nvPr/>
        </p:nvPicPr>
        <p:blipFill>
          <a:blip r:embed="rId2"/>
          <a:stretch>
            <a:fillRect/>
          </a:stretch>
        </p:blipFill>
        <p:spPr>
          <a:xfrm>
            <a:off x="10660000" y="130000"/>
            <a:ext cx="1302000" cy="420000"/>
          </a:xfrm>
          <a:prstGeom prst="rect">
            <a:avLst/>
          </a:prstGeom>
        </p:spPr>
      </p:pic>
      <p:sp>
        <p:nvSpPr>
          <p:cNvPr id="5" name="TextBox 4"/>
          <p:cNvSpPr txBox="1"/>
          <p:nvPr/>
        </p:nvSpPr>
        <p:spPr>
          <a:xfrm>
            <a:off x="228600" y="240000"/>
            <a:ext cx="3842800" cy="1300000"/>
          </a:xfrm>
          <a:prstGeom prst="rect">
            <a:avLst/>
          </a:prstGeom>
          <a:noFill/>
        </p:spPr>
        <p:txBody>
          <a:bodyPr wrap="square" lIns="0" rIns="0" tIns="0" bIns="0">
            <a:spAutoFit/>
          </a:bodyPr>
          <a:lstStyle/>
          <a:p>
            <a:pPr algn="l"/>
            <a:r>
              <a:rPr sz="2800" b="0" i="0">
                <a:solidFill>
                  <a:srgbClr val="3AEDE5"/>
                </a:solidFill>
                <a:latin typeface="Alegreya Sans"/>
              </a:rPr>
              <a:t>Claire</a:t>
            </a:r>
          </a:p>
          <a:p>
            <a:pPr>
              <a:spcBef>
                <a:spcPts val="0"/>
              </a:spcBef>
            </a:pPr>
            <a:r>
              <a:rPr sz="3200" b="1" i="0">
                <a:solidFill>
                  <a:srgbClr val="3AEDE5"/>
                </a:solidFill>
                <a:latin typeface="Alegreya Sans"/>
              </a:rPr>
              <a:t>SAVOLDELLI</a:t>
            </a:r>
          </a:p>
        </p:txBody>
      </p:sp>
      <p:sp>
        <p:nvSpPr>
          <p:cNvPr id="6" name="TextBox 5"/>
          <p:cNvSpPr txBox="1"/>
          <p:nvPr/>
        </p:nvSpPr>
        <p:spPr>
          <a:xfrm>
            <a:off x="4528600" y="300000"/>
            <a:ext cx="5963400" cy="800000"/>
          </a:xfrm>
          <a:prstGeom prst="rect">
            <a:avLst/>
          </a:prstGeom>
          <a:noFill/>
        </p:spPr>
        <p:txBody>
          <a:bodyPr wrap="square" lIns="0" rIns="0" tIns="0" bIns="0">
            <a:spAutoFit/>
          </a:bodyPr>
          <a:lstStyle/>
          <a:p>
            <a:r>
              <a:rPr sz="2400" b="1" i="0">
                <a:solidFill>
                  <a:srgbClr val="FFFFFF"/>
                </a:solidFill>
                <a:latin typeface="Alegreya Sans"/>
              </a:rPr>
              <a:t>Data Governance Manager — Chef de Projet</a:t>
            </a:r>
          </a:p>
          <a:p>
            <a:pPr>
              <a:spcBef>
                <a:spcPts val="200"/>
              </a:spcBef>
            </a:pPr>
            <a:r>
              <a:rPr sz="1500" b="0" i="1">
                <a:solidFill>
                  <a:srgbClr val="3AEDE5"/>
                </a:solidFill>
                <a:latin typeface="Alegreya Sans"/>
              </a:rPr>
              <a:t>Optimisation des processus &amp; gouvernance des données — Banque &amp; Marchés financiers</a:t>
            </a:r>
          </a:p>
        </p:txBody>
      </p:sp>
      <p:sp>
        <p:nvSpPr>
          <p:cNvPr id="7" name="TextBox 6"/>
          <p:cNvSpPr txBox="1"/>
          <p:nvPr/>
        </p:nvSpPr>
        <p:spPr>
          <a:xfrm>
            <a:off x="228600" y="1180000"/>
            <a:ext cx="3842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DOMAINES D'EXPERTISE</a:t>
            </a:r>
          </a:p>
          <a:p>
            <a:pPr algn="l">
              <a:spcAft>
                <a:spcPts val="100"/>
              </a:spcAft>
            </a:pPr>
            <a:r>
              <a:rPr sz="1200" b="1" i="0">
                <a:solidFill>
                  <a:srgbClr val="3AEDE5"/>
                </a:solidFill>
                <a:latin typeface="Alegreya Sans"/>
              </a:rPr>
              <a:t>•  </a:t>
            </a:r>
            <a:r>
              <a:rPr sz="1200" b="0" i="0">
                <a:solidFill>
                  <a:srgbClr val="FFFFFF"/>
                </a:solidFill>
                <a:latin typeface="Alegreya Sans"/>
              </a:rPr>
              <a:t>Gouvernance des données &amp; data catalog (Collibra)</a:t>
            </a:r>
          </a:p>
          <a:p>
            <a:pPr algn="l">
              <a:spcAft>
                <a:spcPts val="100"/>
              </a:spcAft>
            </a:pPr>
            <a:r>
              <a:rPr sz="1200" b="1" i="0">
                <a:solidFill>
                  <a:srgbClr val="3AEDE5"/>
                </a:solidFill>
                <a:latin typeface="Alegreya Sans"/>
              </a:rPr>
              <a:t>•  </a:t>
            </a:r>
            <a:r>
              <a:rPr sz="1200" b="0" i="0">
                <a:solidFill>
                  <a:srgbClr val="FFFFFF"/>
                </a:solidFill>
                <a:latin typeface="Alegreya Sans"/>
              </a:rPr>
              <a:t>Digitalisation &amp; optimisation des processus (RPA, IA)</a:t>
            </a:r>
          </a:p>
          <a:p>
            <a:pPr algn="l">
              <a:spcAft>
                <a:spcPts val="100"/>
              </a:spcAft>
            </a:pPr>
            <a:r>
              <a:rPr sz="1200" b="1" i="0">
                <a:solidFill>
                  <a:srgbClr val="3AEDE5"/>
                </a:solidFill>
                <a:latin typeface="Alegreya Sans"/>
              </a:rPr>
              <a:t>•  </a:t>
            </a:r>
            <a:r>
              <a:rPr sz="1200" b="0" i="0">
                <a:solidFill>
                  <a:srgbClr val="FFFFFF"/>
                </a:solidFill>
                <a:latin typeface="Alegreya Sans"/>
              </a:rPr>
              <a:t>KYC onboarding &amp; réglementaire (MiFID, EMIR, FATCA, AEOI)</a:t>
            </a:r>
          </a:p>
          <a:p>
            <a:pPr algn="l">
              <a:spcAft>
                <a:spcPts val="100"/>
              </a:spcAft>
            </a:pPr>
            <a:r>
              <a:rPr sz="1200" b="1" i="0">
                <a:solidFill>
                  <a:srgbClr val="3AEDE5"/>
                </a:solidFill>
                <a:latin typeface="Alegreya Sans"/>
              </a:rPr>
              <a:t>•  </a:t>
            </a:r>
            <a:r>
              <a:rPr sz="1200" b="0" i="0">
                <a:solidFill>
                  <a:srgbClr val="FFFFFF"/>
                </a:solidFill>
                <a:latin typeface="Alegreya Sans"/>
              </a:rPr>
              <a:t>Custody, clearing &amp; settlement ; Wealth Management</a:t>
            </a:r>
          </a:p>
          <a:p>
            <a:pPr algn="l">
              <a:spcAft>
                <a:spcPts val="100"/>
              </a:spcAft>
            </a:pPr>
            <a:r>
              <a:rPr sz="1200" b="1" i="0">
                <a:solidFill>
                  <a:srgbClr val="3AEDE5"/>
                </a:solidFill>
                <a:latin typeface="Alegreya Sans"/>
              </a:rPr>
              <a:t>•  </a:t>
            </a:r>
            <a:r>
              <a:rPr sz="1200" b="0" i="0">
                <a:solidFill>
                  <a:srgbClr val="FFFFFF"/>
                </a:solidFill>
                <a:latin typeface="Alegreya Sans"/>
              </a:rPr>
              <a:t>Agile / Scrum, Product Owner, conduite du changement</a:t>
            </a:r>
          </a:p>
          <a:p>
            <a:pPr algn="l">
              <a:spcBef>
                <a:spcPts val="600"/>
              </a:spcBef>
              <a:spcAft>
                <a:spcPts val="300"/>
              </a:spcAft>
            </a:pPr>
            <a:r>
              <a:rPr sz="1300" b="1" i="0">
                <a:solidFill>
                  <a:srgbClr val="3AEDE5"/>
                </a:solidFill>
                <a:latin typeface="Alegreya Sans"/>
              </a:rPr>
              <a:t>LANGUES</a:t>
            </a:r>
          </a:p>
          <a:p>
            <a:pPr algn="l">
              <a:spcAft>
                <a:spcPts val="100"/>
              </a:spcAft>
            </a:pPr>
            <a:r>
              <a:rPr sz="1200" b="1" i="0">
                <a:solidFill>
                  <a:srgbClr val="3AEDE5"/>
                </a:solidFill>
                <a:latin typeface="Alegreya Sans"/>
              </a:rPr>
              <a:t>•  </a:t>
            </a:r>
            <a:r>
              <a:rPr sz="1200" b="0" i="0">
                <a:solidFill>
                  <a:srgbClr val="FFFFFF"/>
                </a:solidFill>
                <a:latin typeface="Alegreya Sans"/>
              </a:rPr>
              <a:t>Français — Langue maternelle</a:t>
            </a:r>
          </a:p>
          <a:p>
            <a:pPr algn="l">
              <a:spcAft>
                <a:spcPts val="100"/>
              </a:spcAft>
            </a:pPr>
            <a:r>
              <a:rPr sz="1200" b="1" i="0">
                <a:solidFill>
                  <a:srgbClr val="3AEDE5"/>
                </a:solidFill>
                <a:latin typeface="Alegreya Sans"/>
              </a:rPr>
              <a:t>•  </a:t>
            </a:r>
            <a:r>
              <a:rPr sz="1200" b="0" i="0">
                <a:solidFill>
                  <a:srgbClr val="FFFFFF"/>
                </a:solidFill>
                <a:latin typeface="Alegreya Sans"/>
              </a:rPr>
              <a:t>Anglais — Bilingue</a:t>
            </a:r>
          </a:p>
          <a:p>
            <a:pPr algn="l">
              <a:spcAft>
                <a:spcPts val="100"/>
              </a:spcAft>
            </a:pPr>
            <a:r>
              <a:rPr sz="1200" b="1" i="0">
                <a:solidFill>
                  <a:srgbClr val="3AEDE5"/>
                </a:solidFill>
                <a:latin typeface="Alegreya Sans"/>
              </a:rPr>
              <a:t>•  </a:t>
            </a:r>
            <a:r>
              <a:rPr sz="1200" b="0" i="0">
                <a:solidFill>
                  <a:srgbClr val="FFFFFF"/>
                </a:solidFill>
                <a:latin typeface="Alegreya Sans"/>
              </a:rPr>
              <a:t>Espagnol — Bilingue</a:t>
            </a:r>
          </a:p>
          <a:p>
            <a:pPr algn="l">
              <a:spcAft>
                <a:spcPts val="100"/>
              </a:spcAft>
            </a:pPr>
            <a:r>
              <a:rPr sz="1200" b="1" i="0">
                <a:solidFill>
                  <a:srgbClr val="3AEDE5"/>
                </a:solidFill>
                <a:latin typeface="Alegreya Sans"/>
              </a:rPr>
              <a:t>•  </a:t>
            </a:r>
            <a:r>
              <a:rPr sz="1200" b="0" i="0">
                <a:solidFill>
                  <a:srgbClr val="FFFFFF"/>
                </a:solidFill>
                <a:latin typeface="Alegreya Sans"/>
              </a:rPr>
              <a:t>Italien — Notions</a:t>
            </a:r>
          </a:p>
          <a:p>
            <a:pPr algn="l">
              <a:spcBef>
                <a:spcPts val="600"/>
              </a:spcBef>
              <a:spcAft>
                <a:spcPts val="300"/>
              </a:spcAft>
            </a:pPr>
            <a:r>
              <a:rPr sz="1300" b="1" i="0">
                <a:solidFill>
                  <a:srgbClr val="3AEDE5"/>
                </a:solidFill>
                <a:latin typeface="Alegreya Sans"/>
              </a:rPr>
              <a:t>FORMATION &amp; CERTIFICATIONS</a:t>
            </a:r>
          </a:p>
          <a:p>
            <a:pPr algn="l">
              <a:spcAft>
                <a:spcPts val="100"/>
              </a:spcAft>
            </a:pPr>
            <a:r>
              <a:rPr sz="1200" b="1" i="0">
                <a:solidFill>
                  <a:srgbClr val="3AEDE5"/>
                </a:solidFill>
                <a:latin typeface="Alegreya Sans"/>
              </a:rPr>
              <a:t>2014  </a:t>
            </a:r>
            <a:r>
              <a:rPr sz="1200" b="1" i="0">
                <a:solidFill>
                  <a:srgbClr val="FFFFFF"/>
                </a:solidFill>
                <a:latin typeface="Alegreya Sans"/>
              </a:rPr>
              <a:t>NEOMA Business School</a:t>
            </a:r>
          </a:p>
          <a:p>
            <a:pPr algn="l">
              <a:spcAft>
                <a:spcPts val="300"/>
              </a:spcAft>
            </a:pPr>
            <a:r>
              <a:rPr sz="1200" b="0" i="1">
                <a:solidFill>
                  <a:srgbClr val="CCD6E8"/>
                </a:solidFill>
                <a:latin typeface="Alegreya Sans"/>
              </a:rPr>
              <a:t>Master in Finance (Programme Grande École)</a:t>
            </a:r>
          </a:p>
          <a:p>
            <a:pPr algn="l">
              <a:spcAft>
                <a:spcPts val="100"/>
              </a:spcAft>
            </a:pPr>
            <a:r>
              <a:rPr sz="1200" b="1" i="0">
                <a:solidFill>
                  <a:srgbClr val="3AEDE5"/>
                </a:solidFill>
                <a:latin typeface="Alegreya Sans"/>
              </a:rPr>
              <a:t>2010  </a:t>
            </a:r>
            <a:r>
              <a:rPr sz="1200" b="1" i="0">
                <a:solidFill>
                  <a:srgbClr val="FFFFFF"/>
                </a:solidFill>
                <a:latin typeface="Alegreya Sans"/>
              </a:rPr>
              <a:t>HEC Prépa</a:t>
            </a:r>
          </a:p>
          <a:p>
            <a:pPr algn="l">
              <a:spcAft>
                <a:spcPts val="300"/>
              </a:spcAft>
            </a:pPr>
            <a:r>
              <a:rPr sz="1200" b="0" i="1">
                <a:solidFill>
                  <a:srgbClr val="CCD6E8"/>
                </a:solidFill>
                <a:latin typeface="Alegreya Sans"/>
              </a:rPr>
              <a:t>Classes préparatoires — BAC S (mention)</a:t>
            </a:r>
          </a:p>
          <a:p>
            <a:pPr algn="l">
              <a:spcAft>
                <a:spcPts val="100"/>
              </a:spcAft>
            </a:pPr>
            <a:r>
              <a:rPr sz="1200" b="1" i="0">
                <a:solidFill>
                  <a:srgbClr val="3AEDE5"/>
                </a:solidFill>
                <a:latin typeface="Alegreya Sans"/>
              </a:rPr>
              <a:t>—  </a:t>
            </a:r>
            <a:r>
              <a:rPr sz="1200" b="1" i="0">
                <a:solidFill>
                  <a:srgbClr val="FFFFFF"/>
                </a:solidFill>
                <a:latin typeface="Alegreya Sans"/>
              </a:rPr>
              <a:t>Certifications</a:t>
            </a:r>
          </a:p>
          <a:p>
            <a:pPr algn="l">
              <a:spcAft>
                <a:spcPts val="300"/>
              </a:spcAft>
            </a:pPr>
            <a:r>
              <a:rPr sz="1200" b="0" i="1">
                <a:solidFill>
                  <a:srgbClr val="CCD6E8"/>
                </a:solidFill>
                <a:latin typeface="Alegreya Sans"/>
              </a:rPr>
              <a:t>AMF · Data Governance (Collibra) · Scrum · RPA UiPath</a:t>
            </a:r>
          </a:p>
          <a:p>
            <a:pPr algn="l">
              <a:spcBef>
                <a:spcPts val="600"/>
              </a:spcBef>
              <a:spcAft>
                <a:spcPts val="300"/>
              </a:spcAft>
            </a:pPr>
            <a:r>
              <a:rPr sz="1300" b="1" i="0">
                <a:solidFill>
                  <a:srgbClr val="3AEDE5"/>
                </a:solidFill>
                <a:latin typeface="Alegreya Sans"/>
              </a:rPr>
              <a:t>CENTRES D'INTÉRÊT</a:t>
            </a:r>
          </a:p>
          <a:p>
            <a:pPr algn="l">
              <a:spcAft>
                <a:spcPts val="100"/>
              </a:spcAft>
            </a:pPr>
            <a:r>
              <a:rPr sz="1200" b="1" i="0">
                <a:solidFill>
                  <a:srgbClr val="3AEDE5"/>
                </a:solidFill>
                <a:latin typeface="Alegreya Sans"/>
              </a:rPr>
              <a:t>•  </a:t>
            </a:r>
            <a:r>
              <a:rPr sz="1200" b="0" i="0">
                <a:solidFill>
                  <a:srgbClr val="FFFFFF"/>
                </a:solidFill>
                <a:latin typeface="Alegreya Sans"/>
              </a:rPr>
              <a:t>Voyage</a:t>
            </a:r>
          </a:p>
          <a:p>
            <a:pPr algn="l">
              <a:spcAft>
                <a:spcPts val="100"/>
              </a:spcAft>
            </a:pPr>
            <a:r>
              <a:rPr sz="1200" b="1" i="0">
                <a:solidFill>
                  <a:srgbClr val="3AEDE5"/>
                </a:solidFill>
                <a:latin typeface="Alegreya Sans"/>
              </a:rPr>
              <a:t>•  </a:t>
            </a:r>
            <a:r>
              <a:rPr sz="1200" b="0" i="0">
                <a:solidFill>
                  <a:srgbClr val="FFFFFF"/>
                </a:solidFill>
                <a:latin typeface="Alegreya Sans"/>
              </a:rPr>
              <a:t>Peinture</a:t>
            </a:r>
          </a:p>
          <a:p>
            <a:pPr algn="l">
              <a:spcAft>
                <a:spcPts val="100"/>
              </a:spcAft>
            </a:pPr>
            <a:r>
              <a:rPr sz="1200" b="1" i="0">
                <a:solidFill>
                  <a:srgbClr val="3AEDE5"/>
                </a:solidFill>
                <a:latin typeface="Alegreya Sans"/>
              </a:rPr>
              <a:t>•  </a:t>
            </a:r>
            <a:r>
              <a:rPr sz="1200" b="0" i="0">
                <a:solidFill>
                  <a:srgbClr val="FFFFFF"/>
                </a:solidFill>
                <a:latin typeface="Alegreya Sans"/>
              </a:rPr>
              <a:t>Sport</a:t>
            </a:r>
          </a:p>
        </p:txBody>
      </p:sp>
      <p:sp>
        <p:nvSpPr>
          <p:cNvPr id="8" name="TextBox 7"/>
          <p:cNvSpPr txBox="1"/>
          <p:nvPr/>
        </p:nvSpPr>
        <p:spPr>
          <a:xfrm>
            <a:off x="4528600" y="1180000"/>
            <a:ext cx="7434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RÉSUMÉ</a:t>
            </a:r>
          </a:p>
          <a:p>
            <a:pPr algn="l">
              <a:spcAft>
                <a:spcPts val="300"/>
              </a:spcAft>
            </a:pPr>
            <a:r>
              <a:rPr sz="1200" b="0" i="0">
                <a:solidFill>
                  <a:srgbClr val="FFFFFF"/>
                </a:solidFill>
                <a:latin typeface="Alegreya Sans"/>
              </a:rPr>
              <a:t>Consultante en management spécialisée en optimisation des processus et gouvernance des données. Pilote des équipes pour livrer des solutions scalables, conformes et créatrices de valeur métier. 12 ans en banque et marchés financiers.</a:t>
            </a:r>
          </a:p>
          <a:p>
            <a:pPr algn="l">
              <a:spcBef>
                <a:spcPts val="600"/>
              </a:spcBef>
              <a:spcAft>
                <a:spcPts val="300"/>
              </a:spcAft>
            </a:pPr>
            <a:r>
              <a:rPr sz="1300" b="1" i="0">
                <a:solidFill>
                  <a:srgbClr val="3AEDE5"/>
                </a:solidFill>
                <a:latin typeface="Alegreya Sans"/>
              </a:rPr>
              <a:t>EXPÉRIENCE PROFESSIONNELLE</a:t>
            </a:r>
          </a:p>
          <a:p>
            <a:pPr algn="l">
              <a:spcAft>
                <a:spcPts val="100"/>
              </a:spcAft>
            </a:pPr>
            <a:r>
              <a:rPr sz="1200" b="1" i="0">
                <a:solidFill>
                  <a:srgbClr val="3AEDE5"/>
                </a:solidFill>
                <a:latin typeface="Alegreya Sans"/>
              </a:rPr>
              <a:t>▸ </a:t>
            </a:r>
            <a:r>
              <a:rPr sz="1200" b="1" i="0">
                <a:solidFill>
                  <a:srgbClr val="FFFFFF"/>
                </a:solidFill>
                <a:latin typeface="Alegreya Sans"/>
              </a:rPr>
              <a:t>Protiviti @ BNP Paribas</a:t>
            </a:r>
            <a:r>
              <a:rPr sz="1200" b="0" i="0">
                <a:solidFill>
                  <a:srgbClr val="FFFFFF"/>
                </a:solidFill>
                <a:latin typeface="Alegreya Sans"/>
              </a:rPr>
              <a:t> — Manager Consultant — Data Governance (Paris)</a:t>
            </a:r>
            <a:r>
              <a:rPr sz="1200" b="0" i="1">
                <a:solidFill>
                  <a:srgbClr val="3AEDE5"/>
                </a:solidFill>
                <a:latin typeface="Alegreya Sans"/>
              </a:rPr>
              <a:t>  (Avr. 2026 — Présent)</a:t>
            </a:r>
          </a:p>
          <a:p>
            <a:pPr algn="l" lvl="1">
              <a:spcAft>
                <a:spcPts val="100"/>
              </a:spcAft>
            </a:pPr>
            <a:r>
              <a:rPr sz="1200" b="1" i="0">
                <a:solidFill>
                  <a:srgbClr val="3AEDE5"/>
                </a:solidFill>
                <a:latin typeface="Alegreya Sans"/>
              </a:rPr>
              <a:t>•  </a:t>
            </a:r>
            <a:r>
              <a:rPr sz="1200" b="0" i="0">
                <a:solidFill>
                  <a:srgbClr val="FFFFFF"/>
                </a:solidFill>
                <a:latin typeface="Alegreya Sans"/>
              </a:rPr>
              <a:t>Business Analyst sur le cadre des activités de marché Front-Office (lien IG) : structuration des données critiques de contrôle des traders.</a:t>
            </a:r>
          </a:p>
          <a:p>
            <a:pPr algn="l" lvl="1">
              <a:spcAft>
                <a:spcPts val="100"/>
              </a:spcAft>
            </a:pPr>
            <a:r>
              <a:rPr sz="1200" b="1" i="0">
                <a:solidFill>
                  <a:srgbClr val="3AEDE5"/>
                </a:solidFill>
                <a:latin typeface="Alegreya Sans"/>
              </a:rPr>
              <a:t>•  </a:t>
            </a:r>
            <a:r>
              <a:rPr sz="1200" b="0" i="0">
                <a:solidFill>
                  <a:srgbClr val="FFFFFF"/>
                </a:solidFill>
                <a:latin typeface="Alegreya Sans"/>
              </a:rPr>
              <a:t>Déploiement d'un outil de dashboards &amp; analytics (BRD avec IA, coordination IT) ; documentation et formation (data catalog, workflows).</a:t>
            </a:r>
          </a:p>
          <a:p>
            <a:pPr algn="l">
              <a:spcAft>
                <a:spcPts val="100"/>
              </a:spcAft>
            </a:pPr>
            <a:r>
              <a:rPr sz="1200" b="1" i="0">
                <a:solidFill>
                  <a:srgbClr val="3AEDE5"/>
                </a:solidFill>
                <a:latin typeface="Alegreya Sans"/>
              </a:rPr>
              <a:t>▸ </a:t>
            </a:r>
            <a:r>
              <a:rPr sz="1200" b="1" i="0">
                <a:solidFill>
                  <a:srgbClr val="FFFFFF"/>
                </a:solidFill>
                <a:latin typeface="Alegreya Sans"/>
              </a:rPr>
              <a:t>Custodian — Securities Services (Genève, Paris)</a:t>
            </a:r>
            <a:r>
              <a:rPr sz="1200" b="0" i="0">
                <a:solidFill>
                  <a:srgbClr val="FFFFFF"/>
                </a:solidFill>
                <a:latin typeface="Alegreya Sans"/>
              </a:rPr>
              <a:t> — Manager Consultant — Chef de Projet</a:t>
            </a:r>
            <a:r>
              <a:rPr sz="1200" b="0" i="1">
                <a:solidFill>
                  <a:srgbClr val="3AEDE5"/>
                </a:solidFill>
                <a:latin typeface="Alegreya Sans"/>
              </a:rPr>
              <a:t>  (Sept. 2022 — Déc. 2024)</a:t>
            </a:r>
          </a:p>
          <a:p>
            <a:pPr algn="l" lvl="1">
              <a:spcAft>
                <a:spcPts val="100"/>
              </a:spcAft>
            </a:pPr>
            <a:r>
              <a:rPr sz="1200" b="1" i="0">
                <a:solidFill>
                  <a:srgbClr val="3AEDE5"/>
                </a:solidFill>
                <a:latin typeface="Alegreya Sans"/>
              </a:rPr>
              <a:t>•  </a:t>
            </a:r>
            <a:r>
              <a:rPr sz="1200" b="0" i="0">
                <a:solidFill>
                  <a:srgbClr val="FFFFFF"/>
                </a:solidFill>
                <a:latin typeface="Alegreya Sans"/>
              </a:rPr>
              <a:t>Chef de projet — gouvernance des données pour l'offshoring des comptes-titres d'Italie vers le Portugal (TOM As-Is/To-Be, 3 Product Owners).</a:t>
            </a:r>
          </a:p>
          <a:p>
            <a:pPr algn="l" lvl="1">
              <a:spcAft>
                <a:spcPts val="100"/>
              </a:spcAft>
            </a:pPr>
            <a:r>
              <a:rPr sz="1200" b="1" i="0">
                <a:solidFill>
                  <a:srgbClr val="3AEDE5"/>
                </a:solidFill>
                <a:latin typeface="Alegreya Sans"/>
              </a:rPr>
              <a:t>•  </a:t>
            </a:r>
            <a:r>
              <a:rPr sz="1200" b="0" i="0">
                <a:solidFill>
                  <a:srgbClr val="FFFFFF"/>
                </a:solidFill>
                <a:latin typeface="Alegreya Sans"/>
              </a:rPr>
              <a:t>Solution IA de gestion des contrats (−90 % de manuel) ; adjointe d'un programme de fusion sur 18 sites (100+ clients, 10 streams).</a:t>
            </a:r>
          </a:p>
          <a:p>
            <a:pPr algn="l">
              <a:spcAft>
                <a:spcPts val="100"/>
              </a:spcAft>
            </a:pPr>
            <a:r>
              <a:rPr sz="1200" b="1" i="0">
                <a:solidFill>
                  <a:srgbClr val="3AEDE5"/>
                </a:solidFill>
                <a:latin typeface="Alegreya Sans"/>
              </a:rPr>
              <a:t>▸ </a:t>
            </a:r>
            <a:r>
              <a:rPr sz="1200" b="1" i="0">
                <a:solidFill>
                  <a:srgbClr val="FFFFFF"/>
                </a:solidFill>
                <a:latin typeface="Alegreya Sans"/>
              </a:rPr>
              <a:t>BNP Paribas — KYC Consulting / Capgemini Invent</a:t>
            </a:r>
            <a:r>
              <a:rPr sz="1200" b="0" i="0">
                <a:solidFill>
                  <a:srgbClr val="FFFFFF"/>
                </a:solidFill>
                <a:latin typeface="Alegreya Sans"/>
              </a:rPr>
              <a:t> — Business Analyst — KYC (Hong Kong)</a:t>
            </a:r>
            <a:r>
              <a:rPr sz="1200" b="0" i="1">
                <a:solidFill>
                  <a:srgbClr val="3AEDE5"/>
                </a:solidFill>
                <a:latin typeface="Alegreya Sans"/>
              </a:rPr>
              <a:t>  (Févr. 2018 — Août 2022)</a:t>
            </a:r>
          </a:p>
          <a:p>
            <a:pPr algn="l" lvl="1">
              <a:spcAft>
                <a:spcPts val="100"/>
              </a:spcAft>
            </a:pPr>
            <a:r>
              <a:rPr sz="1200" b="1" i="0">
                <a:solidFill>
                  <a:srgbClr val="3AEDE5"/>
                </a:solidFill>
                <a:latin typeface="Alegreya Sans"/>
              </a:rPr>
              <a:t>•  </a:t>
            </a:r>
            <a:r>
              <a:rPr sz="1200" b="0" i="0">
                <a:solidFill>
                  <a:srgbClr val="FFFFFF"/>
                </a:solidFill>
                <a:latin typeface="Alegreya Sans"/>
              </a:rPr>
              <a:t>Automatisation &amp; digitalisation du processus KYC Maker-Checker (FATCA, PEP, sanctions, adverse news, AML/CFT).</a:t>
            </a:r>
          </a:p>
          <a:p>
            <a:pPr algn="l" lvl="1">
              <a:spcAft>
                <a:spcPts val="100"/>
              </a:spcAft>
            </a:pPr>
            <a:r>
              <a:rPr sz="1200" b="1" i="0">
                <a:solidFill>
                  <a:srgbClr val="3AEDE5"/>
                </a:solidFill>
                <a:latin typeface="Alegreya Sans"/>
              </a:rPr>
              <a:t>•  </a:t>
            </a:r>
            <a:r>
              <a:rPr sz="1200" b="0" i="0">
                <a:solidFill>
                  <a:srgbClr val="FFFFFF"/>
                </a:solidFill>
                <a:latin typeface="Alegreya Sans"/>
              </a:rPr>
              <a:t>Rédaction de BRD/FRD divisant par 4 le temps de revue KYC ; dashboards avancement/risques et reporting (Kanban).</a:t>
            </a:r>
          </a:p>
          <a:p>
            <a:pPr algn="l">
              <a:spcBef>
                <a:spcPts val="600"/>
              </a:spcBef>
              <a:spcAft>
                <a:spcPts val="300"/>
              </a:spcAft>
            </a:pPr>
            <a:r>
              <a:rPr sz="1300" b="1" i="0">
                <a:solidFill>
                  <a:srgbClr val="3AEDE5"/>
                </a:solidFill>
                <a:latin typeface="Alegreya Sans"/>
              </a:rPr>
              <a:t>RÉFÉRENCES</a:t>
            </a:r>
          </a:p>
          <a:p>
            <a:pPr algn="l">
              <a:spcAft>
                <a:spcPts val="200"/>
              </a:spcAft>
            </a:pPr>
            <a:r>
              <a:rPr sz="1200" b="0" i="1">
                <a:solidFill>
                  <a:srgbClr val="FFFFFF"/>
                </a:solidFill>
                <a:latin typeface="Alegreya Sans"/>
              </a:rPr>
              <a:t>BNP Paribas, CA Indosuez Wealth Management, Protiviti, Capgemini Invent, Newedge SG</a:t>
            </a:r>
          </a:p>
        </p:txBody>
      </p:sp>
      <p:sp>
        <p:nvSpPr>
          <p:cNvPr id="9" name="Rectangle 8"/>
          <p:cNvSpPr/>
          <p:nvPr/>
        </p:nvSpPr>
        <p:spPr>
          <a:xfrm>
            <a:off x="0" y="6578000"/>
            <a:ext cx="12192000" cy="280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6578000"/>
            <a:ext cx="11734800" cy="280000"/>
          </a:xfrm>
          <a:prstGeom prst="rect">
            <a:avLst/>
          </a:prstGeom>
          <a:noFill/>
        </p:spPr>
        <p:txBody>
          <a:bodyPr wrap="square" lIns="0" rIns="0" tIns="0" bIns="0">
            <a:spAutoFit/>
          </a:bodyPr>
          <a:lstStyle/>
          <a:p>
            <a:pPr algn="ctr"/>
            <a:r>
              <a:rPr sz="1000" b="0" i="1">
                <a:solidFill>
                  <a:srgbClr val="CCD6E8"/>
                </a:solidFill>
                <a:latin typeface="Alegreya Sans"/>
              </a:rPr>
              <a:t>Les informations de ce document sont strictement confidentielles — Ce document ne peut être partagé qu'avec l'accord de son propriétaire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00000" y="0"/>
            <a:ext cx="15000" cy="6858000"/>
          </a:xfrm>
          <a:prstGeom prst="rect">
            <a:avLst/>
          </a:prstGeom>
          <a:solidFill>
            <a:srgbClr val="3A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nside_circle_logo.png"/>
          <p:cNvPicPr>
            <a:picLocks noChangeAspect="1"/>
          </p:cNvPicPr>
          <p:nvPr/>
        </p:nvPicPr>
        <p:blipFill>
          <a:blip r:embed="rId2"/>
          <a:stretch>
            <a:fillRect/>
          </a:stretch>
        </p:blipFill>
        <p:spPr>
          <a:xfrm>
            <a:off x="10660000" y="130000"/>
            <a:ext cx="1302000" cy="420000"/>
          </a:xfrm>
          <a:prstGeom prst="rect">
            <a:avLst/>
          </a:prstGeom>
        </p:spPr>
      </p:pic>
      <p:sp>
        <p:nvSpPr>
          <p:cNvPr id="5" name="TextBox 4"/>
          <p:cNvSpPr txBox="1"/>
          <p:nvPr/>
        </p:nvSpPr>
        <p:spPr>
          <a:xfrm>
            <a:off x="228600" y="240000"/>
            <a:ext cx="3842800" cy="1300000"/>
          </a:xfrm>
          <a:prstGeom prst="rect">
            <a:avLst/>
          </a:prstGeom>
          <a:noFill/>
        </p:spPr>
        <p:txBody>
          <a:bodyPr wrap="square" lIns="0" rIns="0" tIns="0" bIns="0">
            <a:spAutoFit/>
          </a:bodyPr>
          <a:lstStyle/>
          <a:p>
            <a:pPr algn="l"/>
            <a:r>
              <a:rPr sz="2800" b="0" i="0">
                <a:solidFill>
                  <a:srgbClr val="3AEDE5"/>
                </a:solidFill>
                <a:latin typeface="Alegreya Sans"/>
              </a:rPr>
              <a:t>Claire</a:t>
            </a:r>
          </a:p>
          <a:p>
            <a:pPr>
              <a:spcBef>
                <a:spcPts val="0"/>
              </a:spcBef>
            </a:pPr>
            <a:r>
              <a:rPr sz="3200" b="1" i="0">
                <a:solidFill>
                  <a:srgbClr val="3AEDE5"/>
                </a:solidFill>
                <a:latin typeface="Alegreya Sans"/>
              </a:rPr>
              <a:t>SAVOLDELLI</a:t>
            </a:r>
          </a:p>
        </p:txBody>
      </p:sp>
      <p:sp>
        <p:nvSpPr>
          <p:cNvPr id="6" name="TextBox 5"/>
          <p:cNvSpPr txBox="1"/>
          <p:nvPr/>
        </p:nvSpPr>
        <p:spPr>
          <a:xfrm>
            <a:off x="4528600" y="300000"/>
            <a:ext cx="5963400" cy="800000"/>
          </a:xfrm>
          <a:prstGeom prst="rect">
            <a:avLst/>
          </a:prstGeom>
          <a:noFill/>
        </p:spPr>
        <p:txBody>
          <a:bodyPr wrap="square" lIns="0" rIns="0" tIns="0" bIns="0">
            <a:spAutoFit/>
          </a:bodyPr>
          <a:lstStyle/>
          <a:p>
            <a:r>
              <a:rPr sz="2400" b="1" i="0">
                <a:solidFill>
                  <a:srgbClr val="FFFFFF"/>
                </a:solidFill>
                <a:latin typeface="Alegreya Sans"/>
              </a:rPr>
              <a:t>Data Governance Manager — Project Manager</a:t>
            </a:r>
          </a:p>
          <a:p>
            <a:pPr>
              <a:spcBef>
                <a:spcPts val="200"/>
              </a:spcBef>
            </a:pPr>
            <a:r>
              <a:rPr sz="1500" b="0" i="1">
                <a:solidFill>
                  <a:srgbClr val="3AEDE5"/>
                </a:solidFill>
                <a:latin typeface="Alegreya Sans"/>
              </a:rPr>
              <a:t>Process optimization &amp; data governance — Banking &amp; Financial Markets</a:t>
            </a:r>
          </a:p>
        </p:txBody>
      </p:sp>
      <p:sp>
        <p:nvSpPr>
          <p:cNvPr id="7" name="TextBox 6"/>
          <p:cNvSpPr txBox="1"/>
          <p:nvPr/>
        </p:nvSpPr>
        <p:spPr>
          <a:xfrm>
            <a:off x="228600" y="1180000"/>
            <a:ext cx="3842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MAIN AREAS OF EXPERTISE</a:t>
            </a:r>
          </a:p>
          <a:p>
            <a:pPr algn="l">
              <a:spcAft>
                <a:spcPts val="100"/>
              </a:spcAft>
            </a:pPr>
            <a:r>
              <a:rPr sz="1200" b="1" i="0">
                <a:solidFill>
                  <a:srgbClr val="3AEDE5"/>
                </a:solidFill>
                <a:latin typeface="Alegreya Sans"/>
              </a:rPr>
              <a:t>•  </a:t>
            </a:r>
            <a:r>
              <a:rPr sz="1200" b="0" i="0">
                <a:solidFill>
                  <a:srgbClr val="FFFFFF"/>
                </a:solidFill>
                <a:latin typeface="Alegreya Sans"/>
              </a:rPr>
              <a:t>Data governance &amp; data catalog (Collibra)</a:t>
            </a:r>
          </a:p>
          <a:p>
            <a:pPr algn="l">
              <a:spcAft>
                <a:spcPts val="100"/>
              </a:spcAft>
            </a:pPr>
            <a:r>
              <a:rPr sz="1200" b="1" i="0">
                <a:solidFill>
                  <a:srgbClr val="3AEDE5"/>
                </a:solidFill>
                <a:latin typeface="Alegreya Sans"/>
              </a:rPr>
              <a:t>•  </a:t>
            </a:r>
            <a:r>
              <a:rPr sz="1200" b="0" i="0">
                <a:solidFill>
                  <a:srgbClr val="FFFFFF"/>
                </a:solidFill>
                <a:latin typeface="Alegreya Sans"/>
              </a:rPr>
              <a:t>Process digitization &amp; optimization (RPA, AI)</a:t>
            </a:r>
          </a:p>
          <a:p>
            <a:pPr algn="l">
              <a:spcAft>
                <a:spcPts val="100"/>
              </a:spcAft>
            </a:pPr>
            <a:r>
              <a:rPr sz="1200" b="1" i="0">
                <a:solidFill>
                  <a:srgbClr val="3AEDE5"/>
                </a:solidFill>
                <a:latin typeface="Alegreya Sans"/>
              </a:rPr>
              <a:t>•  </a:t>
            </a:r>
            <a:r>
              <a:rPr sz="1200" b="0" i="0">
                <a:solidFill>
                  <a:srgbClr val="FFFFFF"/>
                </a:solidFill>
                <a:latin typeface="Alegreya Sans"/>
              </a:rPr>
              <a:t>KYC onboarding &amp; regulatory (MiFID, EMIR, FATCA, AEOI)</a:t>
            </a:r>
          </a:p>
          <a:p>
            <a:pPr algn="l">
              <a:spcAft>
                <a:spcPts val="100"/>
              </a:spcAft>
            </a:pPr>
            <a:r>
              <a:rPr sz="1200" b="1" i="0">
                <a:solidFill>
                  <a:srgbClr val="3AEDE5"/>
                </a:solidFill>
                <a:latin typeface="Alegreya Sans"/>
              </a:rPr>
              <a:t>•  </a:t>
            </a:r>
            <a:r>
              <a:rPr sz="1200" b="0" i="0">
                <a:solidFill>
                  <a:srgbClr val="FFFFFF"/>
                </a:solidFill>
                <a:latin typeface="Alegreya Sans"/>
              </a:rPr>
              <a:t>Custody, clearing &amp; settlement; Wealth Management</a:t>
            </a:r>
          </a:p>
          <a:p>
            <a:pPr algn="l">
              <a:spcAft>
                <a:spcPts val="100"/>
              </a:spcAft>
            </a:pPr>
            <a:r>
              <a:rPr sz="1200" b="1" i="0">
                <a:solidFill>
                  <a:srgbClr val="3AEDE5"/>
                </a:solidFill>
                <a:latin typeface="Alegreya Sans"/>
              </a:rPr>
              <a:t>•  </a:t>
            </a:r>
            <a:r>
              <a:rPr sz="1200" b="0" i="0">
                <a:solidFill>
                  <a:srgbClr val="FFFFFF"/>
                </a:solidFill>
                <a:latin typeface="Alegreya Sans"/>
              </a:rPr>
              <a:t>Agile / Scrum, Product Owner, change management</a:t>
            </a:r>
          </a:p>
          <a:p>
            <a:pPr algn="l">
              <a:spcBef>
                <a:spcPts val="600"/>
              </a:spcBef>
              <a:spcAft>
                <a:spcPts val="300"/>
              </a:spcAft>
            </a:pPr>
            <a:r>
              <a:rPr sz="1300" b="1" i="0">
                <a:solidFill>
                  <a:srgbClr val="3AEDE5"/>
                </a:solidFill>
                <a:latin typeface="Alegreya Sans"/>
              </a:rPr>
              <a:t>LANGUAGES</a:t>
            </a:r>
          </a:p>
          <a:p>
            <a:pPr algn="l">
              <a:spcAft>
                <a:spcPts val="100"/>
              </a:spcAft>
            </a:pPr>
            <a:r>
              <a:rPr sz="1200" b="1" i="0">
                <a:solidFill>
                  <a:srgbClr val="3AEDE5"/>
                </a:solidFill>
                <a:latin typeface="Alegreya Sans"/>
              </a:rPr>
              <a:t>•  </a:t>
            </a:r>
            <a:r>
              <a:rPr sz="1200" b="0" i="0">
                <a:solidFill>
                  <a:srgbClr val="FFFFFF"/>
                </a:solidFill>
                <a:latin typeface="Alegreya Sans"/>
              </a:rPr>
              <a:t>French — Native</a:t>
            </a:r>
          </a:p>
          <a:p>
            <a:pPr algn="l">
              <a:spcAft>
                <a:spcPts val="100"/>
              </a:spcAft>
            </a:pPr>
            <a:r>
              <a:rPr sz="1200" b="1" i="0">
                <a:solidFill>
                  <a:srgbClr val="3AEDE5"/>
                </a:solidFill>
                <a:latin typeface="Alegreya Sans"/>
              </a:rPr>
              <a:t>•  </a:t>
            </a:r>
            <a:r>
              <a:rPr sz="1200" b="0" i="0">
                <a:solidFill>
                  <a:srgbClr val="FFFFFF"/>
                </a:solidFill>
                <a:latin typeface="Alegreya Sans"/>
              </a:rPr>
              <a:t>English — Bilingual</a:t>
            </a:r>
          </a:p>
          <a:p>
            <a:pPr algn="l">
              <a:spcAft>
                <a:spcPts val="100"/>
              </a:spcAft>
            </a:pPr>
            <a:r>
              <a:rPr sz="1200" b="1" i="0">
                <a:solidFill>
                  <a:srgbClr val="3AEDE5"/>
                </a:solidFill>
                <a:latin typeface="Alegreya Sans"/>
              </a:rPr>
              <a:t>•  </a:t>
            </a:r>
            <a:r>
              <a:rPr sz="1200" b="0" i="0">
                <a:solidFill>
                  <a:srgbClr val="FFFFFF"/>
                </a:solidFill>
                <a:latin typeface="Alegreya Sans"/>
              </a:rPr>
              <a:t>Spanish — Bilingual</a:t>
            </a:r>
          </a:p>
          <a:p>
            <a:pPr algn="l">
              <a:spcAft>
                <a:spcPts val="100"/>
              </a:spcAft>
            </a:pPr>
            <a:r>
              <a:rPr sz="1200" b="1" i="0">
                <a:solidFill>
                  <a:srgbClr val="3AEDE5"/>
                </a:solidFill>
                <a:latin typeface="Alegreya Sans"/>
              </a:rPr>
              <a:t>•  </a:t>
            </a:r>
            <a:r>
              <a:rPr sz="1200" b="0" i="0">
                <a:solidFill>
                  <a:srgbClr val="FFFFFF"/>
                </a:solidFill>
                <a:latin typeface="Alegreya Sans"/>
              </a:rPr>
              <a:t>Italian — Basic</a:t>
            </a:r>
          </a:p>
          <a:p>
            <a:pPr algn="l">
              <a:spcBef>
                <a:spcPts val="600"/>
              </a:spcBef>
              <a:spcAft>
                <a:spcPts val="300"/>
              </a:spcAft>
            </a:pPr>
            <a:r>
              <a:rPr sz="1300" b="1" i="0">
                <a:solidFill>
                  <a:srgbClr val="3AEDE5"/>
                </a:solidFill>
                <a:latin typeface="Alegreya Sans"/>
              </a:rPr>
              <a:t>EDUCATION &amp; CERTIFICATIONS</a:t>
            </a:r>
          </a:p>
          <a:p>
            <a:pPr algn="l">
              <a:spcAft>
                <a:spcPts val="100"/>
              </a:spcAft>
            </a:pPr>
            <a:r>
              <a:rPr sz="1200" b="1" i="0">
                <a:solidFill>
                  <a:srgbClr val="3AEDE5"/>
                </a:solidFill>
                <a:latin typeface="Alegreya Sans"/>
              </a:rPr>
              <a:t>2014  </a:t>
            </a:r>
            <a:r>
              <a:rPr sz="1200" b="1" i="0">
                <a:solidFill>
                  <a:srgbClr val="FFFFFF"/>
                </a:solidFill>
                <a:latin typeface="Alegreya Sans"/>
              </a:rPr>
              <a:t>NEOMA Business School</a:t>
            </a:r>
          </a:p>
          <a:p>
            <a:pPr algn="l">
              <a:spcAft>
                <a:spcPts val="300"/>
              </a:spcAft>
            </a:pPr>
            <a:r>
              <a:rPr sz="1200" b="0" i="1">
                <a:solidFill>
                  <a:srgbClr val="CCD6E8"/>
                </a:solidFill>
                <a:latin typeface="Alegreya Sans"/>
              </a:rPr>
              <a:t>Master in Finance (Grande École Programme)</a:t>
            </a:r>
          </a:p>
          <a:p>
            <a:pPr algn="l">
              <a:spcAft>
                <a:spcPts val="100"/>
              </a:spcAft>
            </a:pPr>
            <a:r>
              <a:rPr sz="1200" b="1" i="0">
                <a:solidFill>
                  <a:srgbClr val="3AEDE5"/>
                </a:solidFill>
                <a:latin typeface="Alegreya Sans"/>
              </a:rPr>
              <a:t>2010  </a:t>
            </a:r>
            <a:r>
              <a:rPr sz="1200" b="1" i="0">
                <a:solidFill>
                  <a:srgbClr val="FFFFFF"/>
                </a:solidFill>
                <a:latin typeface="Alegreya Sans"/>
              </a:rPr>
              <a:t>HEC Prépa</a:t>
            </a:r>
          </a:p>
          <a:p>
            <a:pPr algn="l">
              <a:spcAft>
                <a:spcPts val="300"/>
              </a:spcAft>
            </a:pPr>
            <a:r>
              <a:rPr sz="1200" b="0" i="1">
                <a:solidFill>
                  <a:srgbClr val="CCD6E8"/>
                </a:solidFill>
                <a:latin typeface="Alegreya Sans"/>
              </a:rPr>
              <a:t>Preparatory classes — BAC S (Honors)</a:t>
            </a:r>
          </a:p>
          <a:p>
            <a:pPr algn="l">
              <a:spcAft>
                <a:spcPts val="100"/>
              </a:spcAft>
            </a:pPr>
            <a:r>
              <a:rPr sz="1200" b="1" i="0">
                <a:solidFill>
                  <a:srgbClr val="3AEDE5"/>
                </a:solidFill>
                <a:latin typeface="Alegreya Sans"/>
              </a:rPr>
              <a:t>—  </a:t>
            </a:r>
            <a:r>
              <a:rPr sz="1200" b="1" i="0">
                <a:solidFill>
                  <a:srgbClr val="FFFFFF"/>
                </a:solidFill>
                <a:latin typeface="Alegreya Sans"/>
              </a:rPr>
              <a:t>Certifications</a:t>
            </a:r>
          </a:p>
          <a:p>
            <a:pPr algn="l">
              <a:spcAft>
                <a:spcPts val="300"/>
              </a:spcAft>
            </a:pPr>
            <a:r>
              <a:rPr sz="1200" b="0" i="1">
                <a:solidFill>
                  <a:srgbClr val="CCD6E8"/>
                </a:solidFill>
                <a:latin typeface="Alegreya Sans"/>
              </a:rPr>
              <a:t>AMF · Data Governance (Collibra) · Scrum · RPA UiPath</a:t>
            </a:r>
          </a:p>
          <a:p>
            <a:pPr algn="l">
              <a:spcBef>
                <a:spcPts val="600"/>
              </a:spcBef>
              <a:spcAft>
                <a:spcPts val="300"/>
              </a:spcAft>
            </a:pPr>
            <a:r>
              <a:rPr sz="1300" b="1" i="0">
                <a:solidFill>
                  <a:srgbClr val="3AEDE5"/>
                </a:solidFill>
                <a:latin typeface="Alegreya Sans"/>
              </a:rPr>
              <a:t>INTERESTS</a:t>
            </a:r>
          </a:p>
          <a:p>
            <a:pPr algn="l">
              <a:spcAft>
                <a:spcPts val="100"/>
              </a:spcAft>
            </a:pPr>
            <a:r>
              <a:rPr sz="1200" b="1" i="0">
                <a:solidFill>
                  <a:srgbClr val="3AEDE5"/>
                </a:solidFill>
                <a:latin typeface="Alegreya Sans"/>
              </a:rPr>
              <a:t>•  </a:t>
            </a:r>
            <a:r>
              <a:rPr sz="1200" b="0" i="0">
                <a:solidFill>
                  <a:srgbClr val="FFFFFF"/>
                </a:solidFill>
                <a:latin typeface="Alegreya Sans"/>
              </a:rPr>
              <a:t>Travel</a:t>
            </a:r>
          </a:p>
          <a:p>
            <a:pPr algn="l">
              <a:spcAft>
                <a:spcPts val="100"/>
              </a:spcAft>
            </a:pPr>
            <a:r>
              <a:rPr sz="1200" b="1" i="0">
                <a:solidFill>
                  <a:srgbClr val="3AEDE5"/>
                </a:solidFill>
                <a:latin typeface="Alegreya Sans"/>
              </a:rPr>
              <a:t>•  </a:t>
            </a:r>
            <a:r>
              <a:rPr sz="1200" b="0" i="0">
                <a:solidFill>
                  <a:srgbClr val="FFFFFF"/>
                </a:solidFill>
                <a:latin typeface="Alegreya Sans"/>
              </a:rPr>
              <a:t>Painting</a:t>
            </a:r>
          </a:p>
          <a:p>
            <a:pPr algn="l">
              <a:spcAft>
                <a:spcPts val="100"/>
              </a:spcAft>
            </a:pPr>
            <a:r>
              <a:rPr sz="1200" b="1" i="0">
                <a:solidFill>
                  <a:srgbClr val="3AEDE5"/>
                </a:solidFill>
                <a:latin typeface="Alegreya Sans"/>
              </a:rPr>
              <a:t>•  </a:t>
            </a:r>
            <a:r>
              <a:rPr sz="1200" b="0" i="0">
                <a:solidFill>
                  <a:srgbClr val="FFFFFF"/>
                </a:solidFill>
                <a:latin typeface="Alegreya Sans"/>
              </a:rPr>
              <a:t>Sport</a:t>
            </a:r>
          </a:p>
        </p:txBody>
      </p:sp>
      <p:sp>
        <p:nvSpPr>
          <p:cNvPr id="8" name="TextBox 7"/>
          <p:cNvSpPr txBox="1"/>
          <p:nvPr/>
        </p:nvSpPr>
        <p:spPr>
          <a:xfrm>
            <a:off x="4528600" y="1180000"/>
            <a:ext cx="7434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SUMMARY</a:t>
            </a:r>
          </a:p>
          <a:p>
            <a:pPr algn="l">
              <a:spcAft>
                <a:spcPts val="300"/>
              </a:spcAft>
            </a:pPr>
            <a:r>
              <a:rPr sz="1200" b="0" i="0">
                <a:solidFill>
                  <a:srgbClr val="FFFFFF"/>
                </a:solidFill>
                <a:latin typeface="Alegreya Sans"/>
              </a:rPr>
              <a:t>Management consultant specialized in process optimization and data governance. Leads teams to deliver scalable, business-enabling and compliant solutions. 12 years of experience across banking and financial markets.</a:t>
            </a:r>
          </a:p>
          <a:p>
            <a:pPr algn="l">
              <a:spcBef>
                <a:spcPts val="600"/>
              </a:spcBef>
              <a:spcAft>
                <a:spcPts val="300"/>
              </a:spcAft>
            </a:pPr>
            <a:r>
              <a:rPr sz="1300" b="1" i="0">
                <a:solidFill>
                  <a:srgbClr val="3AEDE5"/>
                </a:solidFill>
                <a:latin typeface="Alegreya Sans"/>
              </a:rPr>
              <a:t>PROFESSIONAL EXPERIENCE</a:t>
            </a:r>
          </a:p>
          <a:p>
            <a:pPr algn="l">
              <a:spcAft>
                <a:spcPts val="100"/>
              </a:spcAft>
            </a:pPr>
            <a:r>
              <a:rPr sz="1200" b="1" i="0">
                <a:solidFill>
                  <a:srgbClr val="3AEDE5"/>
                </a:solidFill>
                <a:latin typeface="Alegreya Sans"/>
              </a:rPr>
              <a:t>▸ </a:t>
            </a:r>
            <a:r>
              <a:rPr sz="1200" b="1" i="0">
                <a:solidFill>
                  <a:srgbClr val="FFFFFF"/>
                </a:solidFill>
                <a:latin typeface="Alegreya Sans"/>
              </a:rPr>
              <a:t>Protiviti @ BNP Paribas</a:t>
            </a:r>
            <a:r>
              <a:rPr sz="1200" b="0" i="0">
                <a:solidFill>
                  <a:srgbClr val="FFFFFF"/>
                </a:solidFill>
                <a:latin typeface="Alegreya Sans"/>
              </a:rPr>
              <a:t> — Manager Consultant — Data Governance (Paris)</a:t>
            </a:r>
            <a:r>
              <a:rPr sz="1200" b="0" i="1">
                <a:solidFill>
                  <a:srgbClr val="3AEDE5"/>
                </a:solidFill>
                <a:latin typeface="Alegreya Sans"/>
              </a:rPr>
              <a:t>  (Apr. 2026 — Present)</a:t>
            </a:r>
          </a:p>
          <a:p>
            <a:pPr algn="l" lvl="1">
              <a:spcAft>
                <a:spcPts val="100"/>
              </a:spcAft>
            </a:pPr>
            <a:r>
              <a:rPr sz="1200" b="1" i="0">
                <a:solidFill>
                  <a:srgbClr val="3AEDE5"/>
                </a:solidFill>
                <a:latin typeface="Alegreya Sans"/>
              </a:rPr>
              <a:t>•  </a:t>
            </a:r>
            <a:r>
              <a:rPr sz="1200" b="0" i="0">
                <a:solidFill>
                  <a:srgbClr val="FFFFFF"/>
                </a:solidFill>
                <a:latin typeface="Alegreya Sans"/>
              </a:rPr>
              <a:t>Business Analyst on the Front-Office market activities framework (liaising with the IG): structured Traders' controls critical data.</a:t>
            </a:r>
          </a:p>
          <a:p>
            <a:pPr algn="l" lvl="1">
              <a:spcAft>
                <a:spcPts val="100"/>
              </a:spcAft>
            </a:pPr>
            <a:r>
              <a:rPr sz="1200" b="1" i="0">
                <a:solidFill>
                  <a:srgbClr val="3AEDE5"/>
                </a:solidFill>
                <a:latin typeface="Alegreya Sans"/>
              </a:rPr>
              <a:t>•  </a:t>
            </a:r>
            <a:r>
              <a:rPr sz="1200" b="0" i="0">
                <a:solidFill>
                  <a:srgbClr val="FFFFFF"/>
                </a:solidFill>
                <a:latin typeface="Alegreya Sans"/>
              </a:rPr>
              <a:t>Rolled out a KPI dashboards &amp; analytics tool (BRDs leveraging AI, IT coordination); documented and trained users (data catalog, workflows).</a:t>
            </a:r>
          </a:p>
          <a:p>
            <a:pPr algn="l">
              <a:spcAft>
                <a:spcPts val="100"/>
              </a:spcAft>
            </a:pPr>
            <a:r>
              <a:rPr sz="1200" b="1" i="0">
                <a:solidFill>
                  <a:srgbClr val="3AEDE5"/>
                </a:solidFill>
                <a:latin typeface="Alegreya Sans"/>
              </a:rPr>
              <a:t>▸ </a:t>
            </a:r>
            <a:r>
              <a:rPr sz="1200" b="1" i="0">
                <a:solidFill>
                  <a:srgbClr val="FFFFFF"/>
                </a:solidFill>
                <a:latin typeface="Alegreya Sans"/>
              </a:rPr>
              <a:t>Custodian — Securities Services (Geneva, Paris)</a:t>
            </a:r>
            <a:r>
              <a:rPr sz="1200" b="0" i="0">
                <a:solidFill>
                  <a:srgbClr val="FFFFFF"/>
                </a:solidFill>
                <a:latin typeface="Alegreya Sans"/>
              </a:rPr>
              <a:t> — Manager Consultant — Project Manager</a:t>
            </a:r>
            <a:r>
              <a:rPr sz="1200" b="0" i="1">
                <a:solidFill>
                  <a:srgbClr val="3AEDE5"/>
                </a:solidFill>
                <a:latin typeface="Alegreya Sans"/>
              </a:rPr>
              <a:t>  (Sept. 2022 — Dec. 2024)</a:t>
            </a:r>
          </a:p>
          <a:p>
            <a:pPr algn="l" lvl="1">
              <a:spcAft>
                <a:spcPts val="100"/>
              </a:spcAft>
            </a:pPr>
            <a:r>
              <a:rPr sz="1200" b="1" i="0">
                <a:solidFill>
                  <a:srgbClr val="3AEDE5"/>
                </a:solidFill>
                <a:latin typeface="Alegreya Sans"/>
              </a:rPr>
              <a:t>•  </a:t>
            </a:r>
            <a:r>
              <a:rPr sz="1200" b="0" i="0">
                <a:solidFill>
                  <a:srgbClr val="FFFFFF"/>
                </a:solidFill>
                <a:latin typeface="Alegreya Sans"/>
              </a:rPr>
              <a:t>Project manager — data governance for the offshoring of clients' securities accounts from Italy to Portugal (As-Is/To-Be TOM, 3 Product Owners).</a:t>
            </a:r>
          </a:p>
          <a:p>
            <a:pPr algn="l" lvl="1">
              <a:spcAft>
                <a:spcPts val="100"/>
              </a:spcAft>
            </a:pPr>
            <a:r>
              <a:rPr sz="1200" b="1" i="0">
                <a:solidFill>
                  <a:srgbClr val="3AEDE5"/>
                </a:solidFill>
                <a:latin typeface="Alegreya Sans"/>
              </a:rPr>
              <a:t>•  </a:t>
            </a:r>
            <a:r>
              <a:rPr sz="1200" b="0" i="0">
                <a:solidFill>
                  <a:srgbClr val="FFFFFF"/>
                </a:solidFill>
                <a:latin typeface="Alegreya Sans"/>
              </a:rPr>
              <a:t>AI-powered contracts management solution (−90% manual process); deputy of a custodian's merger program across 18 locations (100+ clients, 10 streams).</a:t>
            </a:r>
          </a:p>
          <a:p>
            <a:pPr algn="l">
              <a:spcAft>
                <a:spcPts val="100"/>
              </a:spcAft>
            </a:pPr>
            <a:r>
              <a:rPr sz="1200" b="1" i="0">
                <a:solidFill>
                  <a:srgbClr val="3AEDE5"/>
                </a:solidFill>
                <a:latin typeface="Alegreya Sans"/>
              </a:rPr>
              <a:t>▸ </a:t>
            </a:r>
            <a:r>
              <a:rPr sz="1200" b="1" i="0">
                <a:solidFill>
                  <a:srgbClr val="FFFFFF"/>
                </a:solidFill>
                <a:latin typeface="Alegreya Sans"/>
              </a:rPr>
              <a:t>BNP Paribas — KYC Consulting / Capgemini Invent</a:t>
            </a:r>
            <a:r>
              <a:rPr sz="1200" b="0" i="0">
                <a:solidFill>
                  <a:srgbClr val="FFFFFF"/>
                </a:solidFill>
                <a:latin typeface="Alegreya Sans"/>
              </a:rPr>
              <a:t> — Business Analyst — KYC (Hong Kong)</a:t>
            </a:r>
            <a:r>
              <a:rPr sz="1200" b="0" i="1">
                <a:solidFill>
                  <a:srgbClr val="3AEDE5"/>
                </a:solidFill>
                <a:latin typeface="Alegreya Sans"/>
              </a:rPr>
              <a:t>  (Feb. 2018 — Aug. 2022)</a:t>
            </a:r>
          </a:p>
          <a:p>
            <a:pPr algn="l" lvl="1">
              <a:spcAft>
                <a:spcPts val="100"/>
              </a:spcAft>
            </a:pPr>
            <a:r>
              <a:rPr sz="1200" b="1" i="0">
                <a:solidFill>
                  <a:srgbClr val="3AEDE5"/>
                </a:solidFill>
                <a:latin typeface="Alegreya Sans"/>
              </a:rPr>
              <a:t>•  </a:t>
            </a:r>
            <a:r>
              <a:rPr sz="1200" b="0" i="0">
                <a:solidFill>
                  <a:srgbClr val="FFFFFF"/>
                </a:solidFill>
                <a:latin typeface="Alegreya Sans"/>
              </a:rPr>
              <a:t>KYC Maker-Checker process automation &amp; digitization (FATCA, PEP, Sanctions, adverse news, AML/CFT).</a:t>
            </a:r>
          </a:p>
          <a:p>
            <a:pPr algn="l" lvl="1">
              <a:spcAft>
                <a:spcPts val="100"/>
              </a:spcAft>
            </a:pPr>
            <a:r>
              <a:rPr sz="1200" b="1" i="0">
                <a:solidFill>
                  <a:srgbClr val="3AEDE5"/>
                </a:solidFill>
                <a:latin typeface="Alegreya Sans"/>
              </a:rPr>
              <a:t>•  </a:t>
            </a:r>
            <a:r>
              <a:rPr sz="1200" b="0" i="0">
                <a:solidFill>
                  <a:srgbClr val="FFFFFF"/>
                </a:solidFill>
                <a:latin typeface="Alegreya Sans"/>
              </a:rPr>
              <a:t>BRD/FRD cutting the KYC review time by 4; automated progress/risk dashboards &amp; reports (Kanban).</a:t>
            </a:r>
          </a:p>
          <a:p>
            <a:pPr algn="l">
              <a:spcBef>
                <a:spcPts val="600"/>
              </a:spcBef>
              <a:spcAft>
                <a:spcPts val="300"/>
              </a:spcAft>
            </a:pPr>
            <a:r>
              <a:rPr sz="1300" b="1" i="0">
                <a:solidFill>
                  <a:srgbClr val="3AEDE5"/>
                </a:solidFill>
                <a:latin typeface="Alegreya Sans"/>
              </a:rPr>
              <a:t>MAIN REFERENCES</a:t>
            </a:r>
          </a:p>
          <a:p>
            <a:pPr algn="l">
              <a:spcAft>
                <a:spcPts val="200"/>
              </a:spcAft>
            </a:pPr>
            <a:r>
              <a:rPr sz="1200" b="0" i="1">
                <a:solidFill>
                  <a:srgbClr val="FFFFFF"/>
                </a:solidFill>
                <a:latin typeface="Alegreya Sans"/>
              </a:rPr>
              <a:t>BNP Paribas, CA Indosuez Wealth Management, Protiviti, Capgemini Invent, Newedge SG</a:t>
            </a:r>
          </a:p>
        </p:txBody>
      </p:sp>
      <p:sp>
        <p:nvSpPr>
          <p:cNvPr id="9" name="Rectangle 8"/>
          <p:cNvSpPr/>
          <p:nvPr/>
        </p:nvSpPr>
        <p:spPr>
          <a:xfrm>
            <a:off x="0" y="6578000"/>
            <a:ext cx="12192000" cy="280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6578000"/>
            <a:ext cx="11734800" cy="280000"/>
          </a:xfrm>
          <a:prstGeom prst="rect">
            <a:avLst/>
          </a:prstGeom>
          <a:noFill/>
        </p:spPr>
        <p:txBody>
          <a:bodyPr wrap="square" lIns="0" rIns="0" tIns="0" bIns="0">
            <a:spAutoFit/>
          </a:bodyPr>
          <a:lstStyle/>
          <a:p>
            <a:pPr algn="ctr"/>
            <a:r>
              <a:rPr sz="1000" b="0" i="1">
                <a:solidFill>
                  <a:srgbClr val="CCD6E8"/>
                </a:solidFill>
                <a:latin typeface="Alegreya Sans"/>
              </a:rPr>
              <a:t>The information in this document is strictly confidential — This document may only be shared with the owner's consent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