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61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00000" y="0"/>
            <a:ext cx="15000" cy="6858000"/>
          </a:xfrm>
          <a:prstGeom prst="rect">
            <a:avLst/>
          </a:prstGeom>
          <a:solidFill>
            <a:srgbClr val="3AE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nside_circle_logo.png"/>
          <p:cNvPicPr>
            <a:picLocks noChangeAspect="1"/>
          </p:cNvPicPr>
          <p:nvPr/>
        </p:nvPicPr>
        <p:blipFill>
          <a:blip r:embed="rId2"/>
          <a:stretch>
            <a:fillRect/>
          </a:stretch>
        </p:blipFill>
        <p:spPr>
          <a:xfrm>
            <a:off x="10660000" y="130000"/>
            <a:ext cx="1302000" cy="420000"/>
          </a:xfrm>
          <a:prstGeom prst="rect">
            <a:avLst/>
          </a:prstGeom>
        </p:spPr>
      </p:pic>
      <p:sp>
        <p:nvSpPr>
          <p:cNvPr id="5" name="TextBox 4"/>
          <p:cNvSpPr txBox="1"/>
          <p:nvPr/>
        </p:nvSpPr>
        <p:spPr>
          <a:xfrm>
            <a:off x="228600" y="240000"/>
            <a:ext cx="3842800" cy="1300000"/>
          </a:xfrm>
          <a:prstGeom prst="rect">
            <a:avLst/>
          </a:prstGeom>
          <a:noFill/>
        </p:spPr>
        <p:txBody>
          <a:bodyPr wrap="square" lIns="0" rIns="0" tIns="0" bIns="0">
            <a:spAutoFit/>
          </a:bodyPr>
          <a:lstStyle/>
          <a:p>
            <a:pPr algn="l"/>
            <a:r>
              <a:rPr sz="2800" b="0" i="0">
                <a:solidFill>
                  <a:srgbClr val="3AEDE5"/>
                </a:solidFill>
                <a:latin typeface="Alegreya Sans"/>
              </a:rPr>
              <a:t>Manuella</a:t>
            </a:r>
          </a:p>
          <a:p>
            <a:pPr>
              <a:spcBef>
                <a:spcPts val="0"/>
              </a:spcBef>
            </a:pPr>
            <a:r>
              <a:rPr sz="3200" b="1" i="0">
                <a:solidFill>
                  <a:srgbClr val="3AEDE5"/>
                </a:solidFill>
                <a:latin typeface="Alegreya Sans"/>
              </a:rPr>
              <a:t>CHOUAGA LAWSON</a:t>
            </a:r>
          </a:p>
        </p:txBody>
      </p:sp>
      <p:sp>
        <p:nvSpPr>
          <p:cNvPr id="6" name="TextBox 5"/>
          <p:cNvSpPr txBox="1"/>
          <p:nvPr/>
        </p:nvSpPr>
        <p:spPr>
          <a:xfrm>
            <a:off x="4528600" y="300000"/>
            <a:ext cx="5963400" cy="800000"/>
          </a:xfrm>
          <a:prstGeom prst="rect">
            <a:avLst/>
          </a:prstGeom>
          <a:noFill/>
        </p:spPr>
        <p:txBody>
          <a:bodyPr wrap="square" lIns="0" rIns="0" tIns="0" bIns="0">
            <a:spAutoFit/>
          </a:bodyPr>
          <a:lstStyle/>
          <a:p>
            <a:r>
              <a:rPr sz="2400" b="1" i="0">
                <a:solidFill>
                  <a:srgbClr val="FFFFFF"/>
                </a:solidFill>
                <a:latin typeface="Alegreya Sans"/>
              </a:rPr>
              <a:t>Manager — Stratégie &amp; Risques Bancaires</a:t>
            </a:r>
          </a:p>
          <a:p>
            <a:pPr>
              <a:spcBef>
                <a:spcPts val="200"/>
              </a:spcBef>
            </a:pPr>
            <a:r>
              <a:rPr sz="1500" b="0" i="1">
                <a:solidFill>
                  <a:srgbClr val="3AEDE5"/>
                </a:solidFill>
                <a:latin typeface="Alegreya Sans"/>
              </a:rPr>
              <a:t>Risque de crédit, Model Risk &amp; Transformation — Banque &amp; Assurance</a:t>
            </a:r>
          </a:p>
        </p:txBody>
      </p:sp>
      <p:sp>
        <p:nvSpPr>
          <p:cNvPr id="7" name="TextBox 6"/>
          <p:cNvSpPr txBox="1"/>
          <p:nvPr/>
        </p:nvSpPr>
        <p:spPr>
          <a:xfrm>
            <a:off x="228600" y="1180000"/>
            <a:ext cx="3842800" cy="5318000"/>
          </a:xfrm>
          <a:prstGeom prst="rect">
            <a:avLst/>
          </a:prstGeom>
          <a:noFill/>
        </p:spPr>
        <p:txBody>
          <a:bodyPr wrap="square" lIns="0" rIns="0" tIns="0" bIns="0">
            <a:spAutoFit/>
          </a:bodyPr>
          <a:lstStyle/>
          <a:p>
            <a:pPr algn="l">
              <a:spcAft>
                <a:spcPts val="300"/>
              </a:spcAft>
            </a:pPr>
            <a:r>
              <a:rPr sz="1300" b="1" i="0">
                <a:solidFill>
                  <a:srgbClr val="3AEDE5"/>
                </a:solidFill>
                <a:latin typeface="Alegreya Sans"/>
              </a:rPr>
              <a:t>DOMAINES D'EXPERTISE</a:t>
            </a:r>
          </a:p>
          <a:p>
            <a:pPr algn="l">
              <a:spcAft>
                <a:spcPts val="100"/>
              </a:spcAft>
            </a:pPr>
            <a:r>
              <a:rPr sz="1200" b="1" i="0">
                <a:solidFill>
                  <a:srgbClr val="3AEDE5"/>
                </a:solidFill>
                <a:latin typeface="Alegreya Sans"/>
              </a:rPr>
              <a:t>•  </a:t>
            </a:r>
            <a:r>
              <a:rPr sz="1200" b="0" i="0">
                <a:solidFill>
                  <a:srgbClr val="FFFFFF"/>
                </a:solidFill>
                <a:latin typeface="Alegreya Sans"/>
              </a:rPr>
              <a:t>Gouvernance des risques de crédit</a:t>
            </a:r>
          </a:p>
          <a:p>
            <a:pPr algn="l">
              <a:spcAft>
                <a:spcPts val="100"/>
              </a:spcAft>
            </a:pPr>
            <a:r>
              <a:rPr sz="1200" b="1" i="0">
                <a:solidFill>
                  <a:srgbClr val="3AEDE5"/>
                </a:solidFill>
                <a:latin typeface="Alegreya Sans"/>
              </a:rPr>
              <a:t>•  </a:t>
            </a:r>
            <a:r>
              <a:rPr sz="1200" b="0" i="0">
                <a:solidFill>
                  <a:srgbClr val="FFFFFF"/>
                </a:solidFill>
                <a:latin typeface="Alegreya Sans"/>
              </a:rPr>
              <a:t>Model Risk Management (PD/LGD, IFRS 9)</a:t>
            </a:r>
          </a:p>
          <a:p>
            <a:pPr algn="l">
              <a:spcAft>
                <a:spcPts val="100"/>
              </a:spcAft>
            </a:pPr>
            <a:r>
              <a:rPr sz="1200" b="1" i="0">
                <a:solidFill>
                  <a:srgbClr val="3AEDE5"/>
                </a:solidFill>
                <a:latin typeface="Alegreya Sans"/>
              </a:rPr>
              <a:t>•  </a:t>
            </a:r>
            <a:r>
              <a:rPr sz="1200" b="0" i="0">
                <a:solidFill>
                  <a:srgbClr val="FFFFFF"/>
                </a:solidFill>
                <a:latin typeface="Alegreya Sans"/>
              </a:rPr>
              <a:t>Pilotage du capital &amp; RWA</a:t>
            </a:r>
          </a:p>
          <a:p>
            <a:pPr algn="l">
              <a:spcAft>
                <a:spcPts val="100"/>
              </a:spcAft>
            </a:pPr>
            <a:r>
              <a:rPr sz="1200" b="1" i="0">
                <a:solidFill>
                  <a:srgbClr val="3AEDE5"/>
                </a:solidFill>
                <a:latin typeface="Alegreya Sans"/>
              </a:rPr>
              <a:t>•  </a:t>
            </a:r>
            <a:r>
              <a:rPr sz="1200" b="0" i="0">
                <a:solidFill>
                  <a:srgbClr val="FFFFFF"/>
                </a:solidFill>
                <a:latin typeface="Alegreya Sans"/>
              </a:rPr>
              <a:t>Stratégie &amp; transformation (Data / IA)</a:t>
            </a:r>
          </a:p>
          <a:p>
            <a:pPr algn="l">
              <a:spcAft>
                <a:spcPts val="100"/>
              </a:spcAft>
            </a:pPr>
            <a:r>
              <a:rPr sz="1200" b="1" i="0">
                <a:solidFill>
                  <a:srgbClr val="3AEDE5"/>
                </a:solidFill>
                <a:latin typeface="Alegreya Sans"/>
              </a:rPr>
              <a:t>•  </a:t>
            </a:r>
            <a:r>
              <a:rPr sz="1200" b="0" i="0">
                <a:solidFill>
                  <a:srgbClr val="FFFFFF"/>
                </a:solidFill>
                <a:latin typeface="Alegreya Sans"/>
              </a:rPr>
              <a:t>Outils : SAS, SQL, Python, R, VBA</a:t>
            </a:r>
          </a:p>
          <a:p>
            <a:pPr algn="l">
              <a:spcBef>
                <a:spcPts val="600"/>
              </a:spcBef>
              <a:spcAft>
                <a:spcPts val="300"/>
              </a:spcAft>
            </a:pPr>
            <a:r>
              <a:rPr sz="1300" b="1" i="0">
                <a:solidFill>
                  <a:srgbClr val="3AEDE5"/>
                </a:solidFill>
                <a:latin typeface="Alegreya Sans"/>
              </a:rPr>
              <a:t>LANGUES</a:t>
            </a:r>
          </a:p>
          <a:p>
            <a:pPr algn="l">
              <a:spcAft>
                <a:spcPts val="100"/>
              </a:spcAft>
            </a:pPr>
            <a:r>
              <a:rPr sz="1200" b="1" i="0">
                <a:solidFill>
                  <a:srgbClr val="3AEDE5"/>
                </a:solidFill>
                <a:latin typeface="Alegreya Sans"/>
              </a:rPr>
              <a:t>•  </a:t>
            </a:r>
            <a:r>
              <a:rPr sz="1200" b="0" i="0">
                <a:solidFill>
                  <a:srgbClr val="FFFFFF"/>
                </a:solidFill>
                <a:latin typeface="Alegreya Sans"/>
              </a:rPr>
              <a:t>Français — Langue maternelle</a:t>
            </a:r>
          </a:p>
          <a:p>
            <a:pPr algn="l">
              <a:spcAft>
                <a:spcPts val="100"/>
              </a:spcAft>
            </a:pPr>
            <a:r>
              <a:rPr sz="1200" b="1" i="0">
                <a:solidFill>
                  <a:srgbClr val="3AEDE5"/>
                </a:solidFill>
                <a:latin typeface="Alegreya Sans"/>
              </a:rPr>
              <a:t>•  </a:t>
            </a:r>
            <a:r>
              <a:rPr sz="1200" b="0" i="0">
                <a:solidFill>
                  <a:srgbClr val="FFFFFF"/>
                </a:solidFill>
                <a:latin typeface="Alegreya Sans"/>
              </a:rPr>
              <a:t>Anglais — Courant (C2)</a:t>
            </a:r>
          </a:p>
          <a:p>
            <a:pPr algn="l">
              <a:spcBef>
                <a:spcPts val="600"/>
              </a:spcBef>
              <a:spcAft>
                <a:spcPts val="300"/>
              </a:spcAft>
            </a:pPr>
            <a:r>
              <a:rPr sz="1300" b="1" i="0">
                <a:solidFill>
                  <a:srgbClr val="3AEDE5"/>
                </a:solidFill>
                <a:latin typeface="Alegreya Sans"/>
              </a:rPr>
              <a:t>FORMATION &amp; CERTIFICATIONS</a:t>
            </a:r>
          </a:p>
          <a:p>
            <a:pPr algn="l">
              <a:spcAft>
                <a:spcPts val="100"/>
              </a:spcAft>
            </a:pPr>
            <a:r>
              <a:rPr sz="1200" b="1" i="0">
                <a:solidFill>
                  <a:srgbClr val="3AEDE5"/>
                </a:solidFill>
                <a:latin typeface="Alegreya Sans"/>
              </a:rPr>
              <a:t>2016  </a:t>
            </a:r>
            <a:r>
              <a:rPr sz="1200" b="1" i="0">
                <a:solidFill>
                  <a:srgbClr val="FFFFFF"/>
                </a:solidFill>
                <a:latin typeface="Alegreya Sans"/>
              </a:rPr>
              <a:t>Université Paris-Dauphine</a:t>
            </a:r>
          </a:p>
          <a:p>
            <a:pPr algn="l">
              <a:spcAft>
                <a:spcPts val="300"/>
              </a:spcAft>
            </a:pPr>
            <a:r>
              <a:rPr sz="1200" b="0" i="1">
                <a:solidFill>
                  <a:srgbClr val="CCD6E8"/>
                </a:solidFill>
                <a:latin typeface="Alegreya Sans"/>
              </a:rPr>
              <a:t>Master Financial Engineering</a:t>
            </a:r>
          </a:p>
          <a:p>
            <a:pPr algn="l">
              <a:spcAft>
                <a:spcPts val="100"/>
              </a:spcAft>
            </a:pPr>
            <a:r>
              <a:rPr sz="1200" b="1" i="0">
                <a:solidFill>
                  <a:srgbClr val="3AEDE5"/>
                </a:solidFill>
                <a:latin typeface="Alegreya Sans"/>
              </a:rPr>
              <a:t>2013  </a:t>
            </a:r>
            <a:r>
              <a:rPr sz="1200" b="1" i="0">
                <a:solidFill>
                  <a:srgbClr val="FFFFFF"/>
                </a:solidFill>
                <a:latin typeface="Alegreya Sans"/>
              </a:rPr>
              <a:t>Paris-Dauphine &amp; Montréal</a:t>
            </a:r>
          </a:p>
          <a:p>
            <a:pPr algn="l">
              <a:spcAft>
                <a:spcPts val="300"/>
              </a:spcAft>
            </a:pPr>
            <a:r>
              <a:rPr sz="1200" b="0" i="1">
                <a:solidFill>
                  <a:srgbClr val="CCD6E8"/>
                </a:solidFill>
                <a:latin typeface="Alegreya Sans"/>
              </a:rPr>
              <a:t>Bachelor Financial Economics</a:t>
            </a:r>
          </a:p>
          <a:p>
            <a:pPr algn="l">
              <a:spcAft>
                <a:spcPts val="100"/>
              </a:spcAft>
            </a:pPr>
            <a:r>
              <a:rPr sz="1200" b="1" i="0">
                <a:solidFill>
                  <a:srgbClr val="3AEDE5"/>
                </a:solidFill>
                <a:latin typeface="Alegreya Sans"/>
              </a:rPr>
              <a:t>—  </a:t>
            </a:r>
            <a:r>
              <a:rPr sz="1200" b="1" i="0">
                <a:solidFill>
                  <a:srgbClr val="FFFFFF"/>
                </a:solidFill>
                <a:latin typeface="Alegreya Sans"/>
              </a:rPr>
              <a:t>Certification</a:t>
            </a:r>
          </a:p>
          <a:p>
            <a:pPr algn="l">
              <a:spcAft>
                <a:spcPts val="300"/>
              </a:spcAft>
            </a:pPr>
            <a:r>
              <a:rPr sz="1200" b="0" i="1">
                <a:solidFill>
                  <a:srgbClr val="CCD6E8"/>
                </a:solidFill>
                <a:latin typeface="Alegreya Sans"/>
              </a:rPr>
              <a:t>Financial Risk Manager (FRM) — Part I (GARP)</a:t>
            </a:r>
          </a:p>
          <a:p>
            <a:pPr algn="l">
              <a:spcBef>
                <a:spcPts val="600"/>
              </a:spcBef>
              <a:spcAft>
                <a:spcPts val="300"/>
              </a:spcAft>
            </a:pPr>
            <a:r>
              <a:rPr sz="1300" b="1" i="0">
                <a:solidFill>
                  <a:srgbClr val="3AEDE5"/>
                </a:solidFill>
                <a:latin typeface="Alegreya Sans"/>
              </a:rPr>
              <a:t>ENGAGEMENTS &amp; RÉALISATIONS</a:t>
            </a:r>
          </a:p>
          <a:p>
            <a:pPr algn="l">
              <a:spcAft>
                <a:spcPts val="200"/>
              </a:spcAft>
            </a:pPr>
            <a:r>
              <a:rPr sz="1200" b="1" i="0">
                <a:solidFill>
                  <a:srgbClr val="3AEDE5"/>
                </a:solidFill>
                <a:latin typeface="Alegreya Sans"/>
              </a:rPr>
              <a:t>• </a:t>
            </a:r>
            <a:r>
              <a:rPr sz="1200" b="1" i="0">
                <a:solidFill>
                  <a:srgbClr val="FFFFFF"/>
                </a:solidFill>
                <a:latin typeface="Alegreya Sans"/>
              </a:rPr>
              <a:t>Membre fondatrice — Cléduc</a:t>
            </a:r>
            <a:r>
              <a:rPr sz="1200" b="0" i="1">
                <a:solidFill>
                  <a:srgbClr val="CCD6E8"/>
                </a:solidFill>
                <a:latin typeface="Alegreya Sans"/>
              </a:rPr>
              <a:t> — Éducation &amp; entrepreneuriat en Côte d'Ivoire</a:t>
            </a:r>
          </a:p>
        </p:txBody>
      </p:sp>
      <p:sp>
        <p:nvSpPr>
          <p:cNvPr id="8" name="TextBox 7"/>
          <p:cNvSpPr txBox="1"/>
          <p:nvPr/>
        </p:nvSpPr>
        <p:spPr>
          <a:xfrm>
            <a:off x="4528600" y="1180000"/>
            <a:ext cx="7434800" cy="5318000"/>
          </a:xfrm>
          <a:prstGeom prst="rect">
            <a:avLst/>
          </a:prstGeom>
          <a:noFill/>
        </p:spPr>
        <p:txBody>
          <a:bodyPr wrap="square" lIns="0" rIns="0" tIns="0" bIns="0">
            <a:spAutoFit/>
          </a:bodyPr>
          <a:lstStyle/>
          <a:p>
            <a:pPr algn="l">
              <a:spcAft>
                <a:spcPts val="300"/>
              </a:spcAft>
            </a:pPr>
            <a:r>
              <a:rPr sz="1300" b="1" i="0">
                <a:solidFill>
                  <a:srgbClr val="3AEDE5"/>
                </a:solidFill>
                <a:latin typeface="Alegreya Sans"/>
              </a:rPr>
              <a:t>RÉSUMÉ</a:t>
            </a:r>
          </a:p>
          <a:p>
            <a:pPr algn="l">
              <a:spcAft>
                <a:spcPts val="300"/>
              </a:spcAft>
            </a:pPr>
            <a:r>
              <a:rPr sz="1200" b="0" i="0">
                <a:solidFill>
                  <a:srgbClr val="FFFFFF"/>
                </a:solidFill>
                <a:latin typeface="Alegreya Sans"/>
              </a:rPr>
              <a:t>Professionnelle des risques bancaires, plus de 9 ans d'expérience en cabinet de conseil, banque internationale et conseil en stratégie. Accompagnement des institutions financières sur la gouvernance des risques de crédit, le pilotage du capital et la transformation stratégique, avec un focus sur les marchés africains.</a:t>
            </a:r>
          </a:p>
          <a:p>
            <a:pPr algn="l">
              <a:spcBef>
                <a:spcPts val="600"/>
              </a:spcBef>
              <a:spcAft>
                <a:spcPts val="300"/>
              </a:spcAft>
            </a:pPr>
            <a:r>
              <a:rPr sz="1300" b="1" i="0">
                <a:solidFill>
                  <a:srgbClr val="3AEDE5"/>
                </a:solidFill>
                <a:latin typeface="Alegreya Sans"/>
              </a:rPr>
              <a:t>EXPÉRIENCE PROFESSIONNELLE</a:t>
            </a:r>
          </a:p>
          <a:p>
            <a:pPr algn="l">
              <a:spcAft>
                <a:spcPts val="100"/>
              </a:spcAft>
            </a:pPr>
            <a:r>
              <a:rPr sz="1200" b="1" i="0">
                <a:solidFill>
                  <a:srgbClr val="3AEDE5"/>
                </a:solidFill>
                <a:latin typeface="Alegreya Sans"/>
              </a:rPr>
              <a:t>▸ </a:t>
            </a:r>
            <a:r>
              <a:rPr sz="1200" b="1" i="0">
                <a:solidFill>
                  <a:srgbClr val="FFFFFF"/>
                </a:solidFill>
                <a:latin typeface="Alegreya Sans"/>
              </a:rPr>
              <a:t>Freelance</a:t>
            </a:r>
            <a:r>
              <a:rPr sz="1200" b="0" i="0">
                <a:solidFill>
                  <a:srgbClr val="FFFFFF"/>
                </a:solidFill>
                <a:latin typeface="Alegreya Sans"/>
              </a:rPr>
              <a:t> — Manager — Financial Services</a:t>
            </a:r>
            <a:r>
              <a:rPr sz="1200" b="0" i="1">
                <a:solidFill>
                  <a:srgbClr val="3AEDE5"/>
                </a:solidFill>
                <a:latin typeface="Alegreya Sans"/>
              </a:rPr>
              <a:t>  (Depuis Jan. 2026)</a:t>
            </a:r>
          </a:p>
          <a:p>
            <a:pPr algn="l" lvl="1">
              <a:spcAft>
                <a:spcPts val="100"/>
              </a:spcAft>
            </a:pPr>
            <a:r>
              <a:rPr sz="1200" b="1" i="0">
                <a:solidFill>
                  <a:srgbClr val="3AEDE5"/>
                </a:solidFill>
                <a:latin typeface="Alegreya Sans"/>
              </a:rPr>
              <a:t>•  </a:t>
            </a:r>
            <a:r>
              <a:rPr sz="1200" b="0" i="0">
                <a:solidFill>
                  <a:srgbClr val="FFFFFF"/>
                </a:solidFill>
                <a:latin typeface="Alegreya Sans"/>
              </a:rPr>
              <a:t>Accompagnement de banques et assureurs sur leurs enjeux de stratégie, transformation, risque, data et IA ; développement d'offres et présentation des recommandations aux dirigeants (CEO, CFO, Comités de Direction).</a:t>
            </a:r>
          </a:p>
          <a:p>
            <a:pPr algn="l" lvl="1">
              <a:spcAft>
                <a:spcPts val="100"/>
              </a:spcAft>
            </a:pPr>
            <a:r>
              <a:rPr sz="1200" b="1" i="0">
                <a:solidFill>
                  <a:srgbClr val="3AEDE5"/>
                </a:solidFill>
                <a:latin typeface="Alegreya Sans"/>
              </a:rPr>
              <a:t>•  </a:t>
            </a:r>
            <a:r>
              <a:rPr sz="1200" b="0" i="0">
                <a:solidFill>
                  <a:srgbClr val="FFFFFF"/>
                </a:solidFill>
                <a:latin typeface="Alegreya Sans"/>
              </a:rPr>
              <a:t>Missions : stratégie de ciblage clients pour un acteur bancaire ivoirien ; stratégie Data &amp; IA et feuille de route de transformation pour un assureur au Ghana.</a:t>
            </a:r>
          </a:p>
          <a:p>
            <a:pPr algn="l">
              <a:spcAft>
                <a:spcPts val="100"/>
              </a:spcAft>
            </a:pPr>
            <a:r>
              <a:rPr sz="1200" b="1" i="0">
                <a:solidFill>
                  <a:srgbClr val="3AEDE5"/>
                </a:solidFill>
                <a:latin typeface="Alegreya Sans"/>
              </a:rPr>
              <a:t>▸ </a:t>
            </a:r>
            <a:r>
              <a:rPr sz="1200" b="1" i="0">
                <a:solidFill>
                  <a:srgbClr val="FFFFFF"/>
                </a:solidFill>
                <a:latin typeface="Alegreya Sans"/>
              </a:rPr>
              <a:t>Société Générale</a:t>
            </a:r>
            <a:r>
              <a:rPr sz="1200" b="0" i="0">
                <a:solidFill>
                  <a:srgbClr val="FFFFFF"/>
                </a:solidFill>
                <a:latin typeface="Alegreya Sans"/>
              </a:rPr>
              <a:t> — Senior → Assistant Manager — Model Risk Management</a:t>
            </a:r>
            <a:r>
              <a:rPr sz="1200" b="0" i="1">
                <a:solidFill>
                  <a:srgbClr val="3AEDE5"/>
                </a:solidFill>
                <a:latin typeface="Alegreya Sans"/>
              </a:rPr>
              <a:t>  (2021 — 2025)</a:t>
            </a:r>
          </a:p>
          <a:p>
            <a:pPr algn="l" lvl="1">
              <a:spcAft>
                <a:spcPts val="100"/>
              </a:spcAft>
            </a:pPr>
            <a:r>
              <a:rPr sz="1200" b="1" i="0">
                <a:solidFill>
                  <a:srgbClr val="3AEDE5"/>
                </a:solidFill>
                <a:latin typeface="Alegreya Sans"/>
              </a:rPr>
              <a:t>•  </a:t>
            </a:r>
            <a:r>
              <a:rPr sz="1200" b="0" i="0">
                <a:solidFill>
                  <a:srgbClr val="FFFFFF"/>
                </a:solidFill>
                <a:latin typeface="Alegreya Sans"/>
              </a:rPr>
              <a:t>Coordination d'une équipe de 8 spécialistes quantitatifs et consultants externes sur un programme de remédiation réglementaire estimé à près de 2 M€ par an.</a:t>
            </a:r>
          </a:p>
          <a:p>
            <a:pPr algn="l" lvl="1">
              <a:spcAft>
                <a:spcPts val="100"/>
              </a:spcAft>
            </a:pPr>
            <a:r>
              <a:rPr sz="1200" b="1" i="0">
                <a:solidFill>
                  <a:srgbClr val="3AEDE5"/>
                </a:solidFill>
                <a:latin typeface="Alegreya Sans"/>
              </a:rPr>
              <a:t>•  </a:t>
            </a:r>
            <a:r>
              <a:rPr sz="1200" b="0" i="0">
                <a:solidFill>
                  <a:srgbClr val="FFFFFF"/>
                </a:solidFill>
                <a:latin typeface="Alegreya Sans"/>
              </a:rPr>
              <a:t>Validation indépendante de plus de 20 modèles Retail (PD/LGD) pour la conformité réglementaire et l'optimisation du capital ; contribution à l'évaluation des RWA dans des projets de cession d'entités.</a:t>
            </a:r>
          </a:p>
          <a:p>
            <a:pPr algn="l">
              <a:spcAft>
                <a:spcPts val="100"/>
              </a:spcAft>
            </a:pPr>
            <a:r>
              <a:rPr sz="1200" b="1" i="0">
                <a:solidFill>
                  <a:srgbClr val="3AEDE5"/>
                </a:solidFill>
                <a:latin typeface="Alegreya Sans"/>
              </a:rPr>
              <a:t>▸ </a:t>
            </a:r>
            <a:r>
              <a:rPr sz="1200" b="1" i="0">
                <a:solidFill>
                  <a:srgbClr val="FFFFFF"/>
                </a:solidFill>
                <a:latin typeface="Alegreya Sans"/>
              </a:rPr>
              <a:t>EY — Paris</a:t>
            </a:r>
            <a:r>
              <a:rPr sz="1200" b="0" i="0">
                <a:solidFill>
                  <a:srgbClr val="FFFFFF"/>
                </a:solidFill>
                <a:latin typeface="Alegreya Sans"/>
              </a:rPr>
              <a:t> — Consultant Senior — Financial Risk Advisory</a:t>
            </a:r>
            <a:r>
              <a:rPr sz="1200" b="0" i="1">
                <a:solidFill>
                  <a:srgbClr val="3AEDE5"/>
                </a:solidFill>
                <a:latin typeface="Alegreya Sans"/>
              </a:rPr>
              <a:t>  (2016 — 2020)</a:t>
            </a:r>
          </a:p>
          <a:p>
            <a:pPr algn="l" lvl="1">
              <a:spcAft>
                <a:spcPts val="100"/>
              </a:spcAft>
            </a:pPr>
            <a:r>
              <a:rPr sz="1200" b="1" i="0">
                <a:solidFill>
                  <a:srgbClr val="3AEDE5"/>
                </a:solidFill>
                <a:latin typeface="Alegreya Sans"/>
              </a:rPr>
              <a:t>•  </a:t>
            </a:r>
            <a:r>
              <a:rPr sz="1200" b="0" i="0">
                <a:solidFill>
                  <a:srgbClr val="FFFFFF"/>
                </a:solidFill>
                <a:latin typeface="Alegreya Sans"/>
              </a:rPr>
              <a:t>Accompagnement des banques sur le risque de crédit, la gouvernance et la transformation réglementaire : +10 missions de conseil et contribution à +20 appels d'offres.</a:t>
            </a:r>
          </a:p>
          <a:p>
            <a:pPr algn="l" lvl="1">
              <a:spcAft>
                <a:spcPts val="100"/>
              </a:spcAft>
            </a:pPr>
            <a:r>
              <a:rPr sz="1200" b="1" i="0">
                <a:solidFill>
                  <a:srgbClr val="3AEDE5"/>
                </a:solidFill>
                <a:latin typeface="Alegreya Sans"/>
              </a:rPr>
              <a:t>•  </a:t>
            </a:r>
            <a:r>
              <a:rPr sz="1200" b="0" i="0">
                <a:solidFill>
                  <a:srgbClr val="FFFFFF"/>
                </a:solidFill>
                <a:latin typeface="Alegreya Sans"/>
              </a:rPr>
              <a:t>BNP Paribas Personal Finance (évaluation IFRS 9), AFD (cadre IFRS 9 banque de développement), HSBC France (outil Groupe de décision crédit : -20 % de délais, +200 collaborateurs formés).</a:t>
            </a:r>
          </a:p>
        </p:txBody>
      </p:sp>
      <p:sp>
        <p:nvSpPr>
          <p:cNvPr id="9" name="Rectangle 8"/>
          <p:cNvSpPr/>
          <p:nvPr/>
        </p:nvSpPr>
        <p:spPr>
          <a:xfrm>
            <a:off x="0" y="6578000"/>
            <a:ext cx="12192000" cy="280000"/>
          </a:xfrm>
          <a:prstGeom prst="rect">
            <a:avLst/>
          </a:prstGeom>
          <a:solidFill>
            <a:srgbClr val="061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 y="6578000"/>
            <a:ext cx="11734800" cy="280000"/>
          </a:xfrm>
          <a:prstGeom prst="rect">
            <a:avLst/>
          </a:prstGeom>
          <a:noFill/>
        </p:spPr>
        <p:txBody>
          <a:bodyPr wrap="square" lIns="0" rIns="0" tIns="0" bIns="0">
            <a:spAutoFit/>
          </a:bodyPr>
          <a:lstStyle/>
          <a:p>
            <a:pPr algn="ctr"/>
            <a:r>
              <a:rPr sz="1000" b="0" i="1">
                <a:solidFill>
                  <a:srgbClr val="CCD6E8"/>
                </a:solidFill>
                <a:latin typeface="Alegreya Sans"/>
              </a:rPr>
              <a:t>Les informations de ce document sont strictement confidentielles — Ce document ne peut être partagé qu'avec l'accord de son propriétaire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61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00000" y="0"/>
            <a:ext cx="15000" cy="6858000"/>
          </a:xfrm>
          <a:prstGeom prst="rect">
            <a:avLst/>
          </a:prstGeom>
          <a:solidFill>
            <a:srgbClr val="3AE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nside_circle_logo.png"/>
          <p:cNvPicPr>
            <a:picLocks noChangeAspect="1"/>
          </p:cNvPicPr>
          <p:nvPr/>
        </p:nvPicPr>
        <p:blipFill>
          <a:blip r:embed="rId2"/>
          <a:stretch>
            <a:fillRect/>
          </a:stretch>
        </p:blipFill>
        <p:spPr>
          <a:xfrm>
            <a:off x="10660000" y="130000"/>
            <a:ext cx="1302000" cy="420000"/>
          </a:xfrm>
          <a:prstGeom prst="rect">
            <a:avLst/>
          </a:prstGeom>
        </p:spPr>
      </p:pic>
      <p:sp>
        <p:nvSpPr>
          <p:cNvPr id="5" name="TextBox 4"/>
          <p:cNvSpPr txBox="1"/>
          <p:nvPr/>
        </p:nvSpPr>
        <p:spPr>
          <a:xfrm>
            <a:off x="228600" y="240000"/>
            <a:ext cx="3842800" cy="1300000"/>
          </a:xfrm>
          <a:prstGeom prst="rect">
            <a:avLst/>
          </a:prstGeom>
          <a:noFill/>
        </p:spPr>
        <p:txBody>
          <a:bodyPr wrap="square" lIns="0" rIns="0" tIns="0" bIns="0">
            <a:spAutoFit/>
          </a:bodyPr>
          <a:lstStyle/>
          <a:p>
            <a:pPr algn="l"/>
            <a:r>
              <a:rPr sz="2800" b="0" i="0">
                <a:solidFill>
                  <a:srgbClr val="3AEDE5"/>
                </a:solidFill>
                <a:latin typeface="Alegreya Sans"/>
              </a:rPr>
              <a:t>Manuella</a:t>
            </a:r>
          </a:p>
          <a:p>
            <a:pPr>
              <a:spcBef>
                <a:spcPts val="0"/>
              </a:spcBef>
            </a:pPr>
            <a:r>
              <a:rPr sz="3200" b="1" i="0">
                <a:solidFill>
                  <a:srgbClr val="3AEDE5"/>
                </a:solidFill>
                <a:latin typeface="Alegreya Sans"/>
              </a:rPr>
              <a:t>CHOUAGA LAWSON</a:t>
            </a:r>
          </a:p>
        </p:txBody>
      </p:sp>
      <p:sp>
        <p:nvSpPr>
          <p:cNvPr id="6" name="TextBox 5"/>
          <p:cNvSpPr txBox="1"/>
          <p:nvPr/>
        </p:nvSpPr>
        <p:spPr>
          <a:xfrm>
            <a:off x="4528600" y="300000"/>
            <a:ext cx="5963400" cy="800000"/>
          </a:xfrm>
          <a:prstGeom prst="rect">
            <a:avLst/>
          </a:prstGeom>
          <a:noFill/>
        </p:spPr>
        <p:txBody>
          <a:bodyPr wrap="square" lIns="0" rIns="0" tIns="0" bIns="0">
            <a:spAutoFit/>
          </a:bodyPr>
          <a:lstStyle/>
          <a:p>
            <a:r>
              <a:rPr sz="2400" b="1" i="0">
                <a:solidFill>
                  <a:srgbClr val="FFFFFF"/>
                </a:solidFill>
                <a:latin typeface="Alegreya Sans"/>
              </a:rPr>
              <a:t>Manager — Banking Strategy &amp; Risk</a:t>
            </a:r>
          </a:p>
          <a:p>
            <a:pPr>
              <a:spcBef>
                <a:spcPts val="200"/>
              </a:spcBef>
            </a:pPr>
            <a:r>
              <a:rPr sz="1500" b="0" i="1">
                <a:solidFill>
                  <a:srgbClr val="3AEDE5"/>
                </a:solidFill>
                <a:latin typeface="Alegreya Sans"/>
              </a:rPr>
              <a:t>Credit Risk, Model Risk &amp; Transformation — Banking &amp; Insurance</a:t>
            </a:r>
          </a:p>
        </p:txBody>
      </p:sp>
      <p:sp>
        <p:nvSpPr>
          <p:cNvPr id="7" name="TextBox 6"/>
          <p:cNvSpPr txBox="1"/>
          <p:nvPr/>
        </p:nvSpPr>
        <p:spPr>
          <a:xfrm>
            <a:off x="228600" y="1180000"/>
            <a:ext cx="3842800" cy="5318000"/>
          </a:xfrm>
          <a:prstGeom prst="rect">
            <a:avLst/>
          </a:prstGeom>
          <a:noFill/>
        </p:spPr>
        <p:txBody>
          <a:bodyPr wrap="square" lIns="0" rIns="0" tIns="0" bIns="0">
            <a:spAutoFit/>
          </a:bodyPr>
          <a:lstStyle/>
          <a:p>
            <a:pPr algn="l">
              <a:spcAft>
                <a:spcPts val="300"/>
              </a:spcAft>
            </a:pPr>
            <a:r>
              <a:rPr sz="1300" b="1" i="0">
                <a:solidFill>
                  <a:srgbClr val="3AEDE5"/>
                </a:solidFill>
                <a:latin typeface="Alegreya Sans"/>
              </a:rPr>
              <a:t>MAIN AREAS OF EXPERTISE</a:t>
            </a:r>
          </a:p>
          <a:p>
            <a:pPr algn="l">
              <a:spcAft>
                <a:spcPts val="100"/>
              </a:spcAft>
            </a:pPr>
            <a:r>
              <a:rPr sz="1200" b="1" i="0">
                <a:solidFill>
                  <a:srgbClr val="3AEDE5"/>
                </a:solidFill>
                <a:latin typeface="Alegreya Sans"/>
              </a:rPr>
              <a:t>•  </a:t>
            </a:r>
            <a:r>
              <a:rPr sz="1200" b="0" i="0">
                <a:solidFill>
                  <a:srgbClr val="FFFFFF"/>
                </a:solidFill>
                <a:latin typeface="Alegreya Sans"/>
              </a:rPr>
              <a:t>Credit-risk governance</a:t>
            </a:r>
          </a:p>
          <a:p>
            <a:pPr algn="l">
              <a:spcAft>
                <a:spcPts val="100"/>
              </a:spcAft>
            </a:pPr>
            <a:r>
              <a:rPr sz="1200" b="1" i="0">
                <a:solidFill>
                  <a:srgbClr val="3AEDE5"/>
                </a:solidFill>
                <a:latin typeface="Alegreya Sans"/>
              </a:rPr>
              <a:t>•  </a:t>
            </a:r>
            <a:r>
              <a:rPr sz="1200" b="0" i="0">
                <a:solidFill>
                  <a:srgbClr val="FFFFFF"/>
                </a:solidFill>
                <a:latin typeface="Alegreya Sans"/>
              </a:rPr>
              <a:t>Model Risk Management (PD/LGD, IFRS 9)</a:t>
            </a:r>
          </a:p>
          <a:p>
            <a:pPr algn="l">
              <a:spcAft>
                <a:spcPts val="100"/>
              </a:spcAft>
            </a:pPr>
            <a:r>
              <a:rPr sz="1200" b="1" i="0">
                <a:solidFill>
                  <a:srgbClr val="3AEDE5"/>
                </a:solidFill>
                <a:latin typeface="Alegreya Sans"/>
              </a:rPr>
              <a:t>•  </a:t>
            </a:r>
            <a:r>
              <a:rPr sz="1200" b="0" i="0">
                <a:solidFill>
                  <a:srgbClr val="FFFFFF"/>
                </a:solidFill>
                <a:latin typeface="Alegreya Sans"/>
              </a:rPr>
              <a:t>Capital steering &amp; RWA</a:t>
            </a:r>
          </a:p>
          <a:p>
            <a:pPr algn="l">
              <a:spcAft>
                <a:spcPts val="100"/>
              </a:spcAft>
            </a:pPr>
            <a:r>
              <a:rPr sz="1200" b="1" i="0">
                <a:solidFill>
                  <a:srgbClr val="3AEDE5"/>
                </a:solidFill>
                <a:latin typeface="Alegreya Sans"/>
              </a:rPr>
              <a:t>•  </a:t>
            </a:r>
            <a:r>
              <a:rPr sz="1200" b="0" i="0">
                <a:solidFill>
                  <a:srgbClr val="FFFFFF"/>
                </a:solidFill>
                <a:latin typeface="Alegreya Sans"/>
              </a:rPr>
              <a:t>Strategy &amp; transformation (Data / AI)</a:t>
            </a:r>
          </a:p>
          <a:p>
            <a:pPr algn="l">
              <a:spcAft>
                <a:spcPts val="100"/>
              </a:spcAft>
            </a:pPr>
            <a:r>
              <a:rPr sz="1200" b="1" i="0">
                <a:solidFill>
                  <a:srgbClr val="3AEDE5"/>
                </a:solidFill>
                <a:latin typeface="Alegreya Sans"/>
              </a:rPr>
              <a:t>•  </a:t>
            </a:r>
            <a:r>
              <a:rPr sz="1200" b="0" i="0">
                <a:solidFill>
                  <a:srgbClr val="FFFFFF"/>
                </a:solidFill>
                <a:latin typeface="Alegreya Sans"/>
              </a:rPr>
              <a:t>Tools: SAS, SQL, Python, R, VBA</a:t>
            </a:r>
          </a:p>
          <a:p>
            <a:pPr algn="l">
              <a:spcBef>
                <a:spcPts val="600"/>
              </a:spcBef>
              <a:spcAft>
                <a:spcPts val="300"/>
              </a:spcAft>
            </a:pPr>
            <a:r>
              <a:rPr sz="1300" b="1" i="0">
                <a:solidFill>
                  <a:srgbClr val="3AEDE5"/>
                </a:solidFill>
                <a:latin typeface="Alegreya Sans"/>
              </a:rPr>
              <a:t>LANGUAGES</a:t>
            </a:r>
          </a:p>
          <a:p>
            <a:pPr algn="l">
              <a:spcAft>
                <a:spcPts val="100"/>
              </a:spcAft>
            </a:pPr>
            <a:r>
              <a:rPr sz="1200" b="1" i="0">
                <a:solidFill>
                  <a:srgbClr val="3AEDE5"/>
                </a:solidFill>
                <a:latin typeface="Alegreya Sans"/>
              </a:rPr>
              <a:t>•  </a:t>
            </a:r>
            <a:r>
              <a:rPr sz="1200" b="0" i="0">
                <a:solidFill>
                  <a:srgbClr val="FFFFFF"/>
                </a:solidFill>
                <a:latin typeface="Alegreya Sans"/>
              </a:rPr>
              <a:t>French — Native</a:t>
            </a:r>
          </a:p>
          <a:p>
            <a:pPr algn="l">
              <a:spcAft>
                <a:spcPts val="100"/>
              </a:spcAft>
            </a:pPr>
            <a:r>
              <a:rPr sz="1200" b="1" i="0">
                <a:solidFill>
                  <a:srgbClr val="3AEDE5"/>
                </a:solidFill>
                <a:latin typeface="Alegreya Sans"/>
              </a:rPr>
              <a:t>•  </a:t>
            </a:r>
            <a:r>
              <a:rPr sz="1200" b="0" i="0">
                <a:solidFill>
                  <a:srgbClr val="FFFFFF"/>
                </a:solidFill>
                <a:latin typeface="Alegreya Sans"/>
              </a:rPr>
              <a:t>English — Fluent (C2)</a:t>
            </a:r>
          </a:p>
          <a:p>
            <a:pPr algn="l">
              <a:spcBef>
                <a:spcPts val="600"/>
              </a:spcBef>
              <a:spcAft>
                <a:spcPts val="300"/>
              </a:spcAft>
            </a:pPr>
            <a:r>
              <a:rPr sz="1300" b="1" i="0">
                <a:solidFill>
                  <a:srgbClr val="3AEDE5"/>
                </a:solidFill>
                <a:latin typeface="Alegreya Sans"/>
              </a:rPr>
              <a:t>EDUCATION &amp; CERTIFICATIONS</a:t>
            </a:r>
          </a:p>
          <a:p>
            <a:pPr algn="l">
              <a:spcAft>
                <a:spcPts val="100"/>
              </a:spcAft>
            </a:pPr>
            <a:r>
              <a:rPr sz="1200" b="1" i="0">
                <a:solidFill>
                  <a:srgbClr val="3AEDE5"/>
                </a:solidFill>
                <a:latin typeface="Alegreya Sans"/>
              </a:rPr>
              <a:t>2016  </a:t>
            </a:r>
            <a:r>
              <a:rPr sz="1200" b="1" i="0">
                <a:solidFill>
                  <a:srgbClr val="FFFFFF"/>
                </a:solidFill>
                <a:latin typeface="Alegreya Sans"/>
              </a:rPr>
              <a:t>Université Paris-Dauphine</a:t>
            </a:r>
          </a:p>
          <a:p>
            <a:pPr algn="l">
              <a:spcAft>
                <a:spcPts val="300"/>
              </a:spcAft>
            </a:pPr>
            <a:r>
              <a:rPr sz="1200" b="0" i="1">
                <a:solidFill>
                  <a:srgbClr val="CCD6E8"/>
                </a:solidFill>
                <a:latin typeface="Alegreya Sans"/>
              </a:rPr>
              <a:t>Master's in Financial Engineering</a:t>
            </a:r>
          </a:p>
          <a:p>
            <a:pPr algn="l">
              <a:spcAft>
                <a:spcPts val="100"/>
              </a:spcAft>
            </a:pPr>
            <a:r>
              <a:rPr sz="1200" b="1" i="0">
                <a:solidFill>
                  <a:srgbClr val="3AEDE5"/>
                </a:solidFill>
                <a:latin typeface="Alegreya Sans"/>
              </a:rPr>
              <a:t>2013  </a:t>
            </a:r>
            <a:r>
              <a:rPr sz="1200" b="1" i="0">
                <a:solidFill>
                  <a:srgbClr val="FFFFFF"/>
                </a:solidFill>
                <a:latin typeface="Alegreya Sans"/>
              </a:rPr>
              <a:t>Paris-Dauphine &amp; Montréal</a:t>
            </a:r>
          </a:p>
          <a:p>
            <a:pPr algn="l">
              <a:spcAft>
                <a:spcPts val="300"/>
              </a:spcAft>
            </a:pPr>
            <a:r>
              <a:rPr sz="1200" b="0" i="1">
                <a:solidFill>
                  <a:srgbClr val="CCD6E8"/>
                </a:solidFill>
                <a:latin typeface="Alegreya Sans"/>
              </a:rPr>
              <a:t>Bachelor's in Financial Economics</a:t>
            </a:r>
          </a:p>
          <a:p>
            <a:pPr algn="l">
              <a:spcAft>
                <a:spcPts val="100"/>
              </a:spcAft>
            </a:pPr>
            <a:r>
              <a:rPr sz="1200" b="1" i="0">
                <a:solidFill>
                  <a:srgbClr val="3AEDE5"/>
                </a:solidFill>
                <a:latin typeface="Alegreya Sans"/>
              </a:rPr>
              <a:t>—  </a:t>
            </a:r>
            <a:r>
              <a:rPr sz="1200" b="1" i="0">
                <a:solidFill>
                  <a:srgbClr val="FFFFFF"/>
                </a:solidFill>
                <a:latin typeface="Alegreya Sans"/>
              </a:rPr>
              <a:t>Certification</a:t>
            </a:r>
          </a:p>
          <a:p>
            <a:pPr algn="l">
              <a:spcAft>
                <a:spcPts val="300"/>
              </a:spcAft>
            </a:pPr>
            <a:r>
              <a:rPr sz="1200" b="0" i="1">
                <a:solidFill>
                  <a:srgbClr val="CCD6E8"/>
                </a:solidFill>
                <a:latin typeface="Alegreya Sans"/>
              </a:rPr>
              <a:t>Financial Risk Manager (FRM) — Part I (GARP)</a:t>
            </a:r>
          </a:p>
          <a:p>
            <a:pPr algn="l">
              <a:spcBef>
                <a:spcPts val="600"/>
              </a:spcBef>
              <a:spcAft>
                <a:spcPts val="300"/>
              </a:spcAft>
            </a:pPr>
            <a:r>
              <a:rPr sz="1300" b="1" i="0">
                <a:solidFill>
                  <a:srgbClr val="3AEDE5"/>
                </a:solidFill>
                <a:latin typeface="Alegreya Sans"/>
              </a:rPr>
              <a:t>ENGAGEMENTS &amp; ACHIEVEMENTS</a:t>
            </a:r>
          </a:p>
          <a:p>
            <a:pPr algn="l">
              <a:spcAft>
                <a:spcPts val="200"/>
              </a:spcAft>
            </a:pPr>
            <a:r>
              <a:rPr sz="1200" b="1" i="0">
                <a:solidFill>
                  <a:srgbClr val="3AEDE5"/>
                </a:solidFill>
                <a:latin typeface="Alegreya Sans"/>
              </a:rPr>
              <a:t>• </a:t>
            </a:r>
            <a:r>
              <a:rPr sz="1200" b="1" i="0">
                <a:solidFill>
                  <a:srgbClr val="FFFFFF"/>
                </a:solidFill>
                <a:latin typeface="Alegreya Sans"/>
              </a:rPr>
              <a:t>Founding member — Cléduc</a:t>
            </a:r>
            <a:r>
              <a:rPr sz="1200" b="0" i="1">
                <a:solidFill>
                  <a:srgbClr val="CCD6E8"/>
                </a:solidFill>
                <a:latin typeface="Alegreya Sans"/>
              </a:rPr>
              <a:t> — Education &amp; entrepreneurship in Côte d'Ivoire</a:t>
            </a:r>
          </a:p>
        </p:txBody>
      </p:sp>
      <p:sp>
        <p:nvSpPr>
          <p:cNvPr id="8" name="TextBox 7"/>
          <p:cNvSpPr txBox="1"/>
          <p:nvPr/>
        </p:nvSpPr>
        <p:spPr>
          <a:xfrm>
            <a:off x="4528600" y="1180000"/>
            <a:ext cx="7434800" cy="5318000"/>
          </a:xfrm>
          <a:prstGeom prst="rect">
            <a:avLst/>
          </a:prstGeom>
          <a:noFill/>
        </p:spPr>
        <p:txBody>
          <a:bodyPr wrap="square" lIns="0" rIns="0" tIns="0" bIns="0">
            <a:spAutoFit/>
          </a:bodyPr>
          <a:lstStyle/>
          <a:p>
            <a:pPr algn="l">
              <a:spcAft>
                <a:spcPts val="300"/>
              </a:spcAft>
            </a:pPr>
            <a:r>
              <a:rPr sz="1300" b="1" i="0">
                <a:solidFill>
                  <a:srgbClr val="3AEDE5"/>
                </a:solidFill>
                <a:latin typeface="Alegreya Sans"/>
              </a:rPr>
              <a:t>SUMMARY</a:t>
            </a:r>
          </a:p>
          <a:p>
            <a:pPr algn="l">
              <a:spcAft>
                <a:spcPts val="300"/>
              </a:spcAft>
            </a:pPr>
            <a:r>
              <a:rPr sz="1200" b="0" i="0">
                <a:solidFill>
                  <a:srgbClr val="FFFFFF"/>
                </a:solidFill>
                <a:latin typeface="Alegreya Sans"/>
              </a:rPr>
              <a:t>Banking risk professional with over 9 years of experience across consulting, international banking and strategy advisory. Supporting financial institutions on credit-risk governance, capital steering and strategic transformation, with a focus on African markets.</a:t>
            </a:r>
          </a:p>
          <a:p>
            <a:pPr algn="l">
              <a:spcBef>
                <a:spcPts val="600"/>
              </a:spcBef>
              <a:spcAft>
                <a:spcPts val="300"/>
              </a:spcAft>
            </a:pPr>
            <a:r>
              <a:rPr sz="1300" b="1" i="0">
                <a:solidFill>
                  <a:srgbClr val="3AEDE5"/>
                </a:solidFill>
                <a:latin typeface="Alegreya Sans"/>
              </a:rPr>
              <a:t>PROFESSIONAL EXPERIENCE</a:t>
            </a:r>
          </a:p>
          <a:p>
            <a:pPr algn="l">
              <a:spcAft>
                <a:spcPts val="100"/>
              </a:spcAft>
            </a:pPr>
            <a:r>
              <a:rPr sz="1200" b="1" i="0">
                <a:solidFill>
                  <a:srgbClr val="3AEDE5"/>
                </a:solidFill>
                <a:latin typeface="Alegreya Sans"/>
              </a:rPr>
              <a:t>▸ </a:t>
            </a:r>
            <a:r>
              <a:rPr sz="1200" b="1" i="0">
                <a:solidFill>
                  <a:srgbClr val="FFFFFF"/>
                </a:solidFill>
                <a:latin typeface="Alegreya Sans"/>
              </a:rPr>
              <a:t>Freelance</a:t>
            </a:r>
            <a:r>
              <a:rPr sz="1200" b="0" i="0">
                <a:solidFill>
                  <a:srgbClr val="FFFFFF"/>
                </a:solidFill>
                <a:latin typeface="Alegreya Sans"/>
              </a:rPr>
              <a:t> — Manager — Financial Services</a:t>
            </a:r>
            <a:r>
              <a:rPr sz="1200" b="0" i="1">
                <a:solidFill>
                  <a:srgbClr val="3AEDE5"/>
                </a:solidFill>
                <a:latin typeface="Alegreya Sans"/>
              </a:rPr>
              <a:t>  (Since Jan. 2026)</a:t>
            </a:r>
          </a:p>
          <a:p>
            <a:pPr algn="l" lvl="1">
              <a:spcAft>
                <a:spcPts val="100"/>
              </a:spcAft>
            </a:pPr>
            <a:r>
              <a:rPr sz="1200" b="1" i="0">
                <a:solidFill>
                  <a:srgbClr val="3AEDE5"/>
                </a:solidFill>
                <a:latin typeface="Alegreya Sans"/>
              </a:rPr>
              <a:t>•  </a:t>
            </a:r>
            <a:r>
              <a:rPr sz="1200" b="0" i="0">
                <a:solidFill>
                  <a:srgbClr val="FFFFFF"/>
                </a:solidFill>
                <a:latin typeface="Alegreya Sans"/>
              </a:rPr>
              <a:t>Advising banks and insurers on strategy, transformation, risk, data and AI; offering development and presentation of recommendations to executives (CEO, CFO, Executive Committees).</a:t>
            </a:r>
          </a:p>
          <a:p>
            <a:pPr algn="l" lvl="1">
              <a:spcAft>
                <a:spcPts val="100"/>
              </a:spcAft>
            </a:pPr>
            <a:r>
              <a:rPr sz="1200" b="1" i="0">
                <a:solidFill>
                  <a:srgbClr val="3AEDE5"/>
                </a:solidFill>
                <a:latin typeface="Alegreya Sans"/>
              </a:rPr>
              <a:t>•  </a:t>
            </a:r>
            <a:r>
              <a:rPr sz="1200" b="0" i="0">
                <a:solidFill>
                  <a:srgbClr val="FFFFFF"/>
                </a:solidFill>
                <a:latin typeface="Alegreya Sans"/>
              </a:rPr>
              <a:t>Missions: client-targeting growth strategy for an Ivorian bank; Data &amp; AI strategy and transformation roadmap for a Ghanaian insurer.</a:t>
            </a:r>
          </a:p>
          <a:p>
            <a:pPr algn="l">
              <a:spcAft>
                <a:spcPts val="100"/>
              </a:spcAft>
            </a:pPr>
            <a:r>
              <a:rPr sz="1200" b="1" i="0">
                <a:solidFill>
                  <a:srgbClr val="3AEDE5"/>
                </a:solidFill>
                <a:latin typeface="Alegreya Sans"/>
              </a:rPr>
              <a:t>▸ </a:t>
            </a:r>
            <a:r>
              <a:rPr sz="1200" b="1" i="0">
                <a:solidFill>
                  <a:srgbClr val="FFFFFF"/>
                </a:solidFill>
                <a:latin typeface="Alegreya Sans"/>
              </a:rPr>
              <a:t>Société Générale</a:t>
            </a:r>
            <a:r>
              <a:rPr sz="1200" b="0" i="0">
                <a:solidFill>
                  <a:srgbClr val="FFFFFF"/>
                </a:solidFill>
                <a:latin typeface="Alegreya Sans"/>
              </a:rPr>
              <a:t> — Senior → Assistant Manager — Model Risk Management</a:t>
            </a:r>
            <a:r>
              <a:rPr sz="1200" b="0" i="1">
                <a:solidFill>
                  <a:srgbClr val="3AEDE5"/>
                </a:solidFill>
                <a:latin typeface="Alegreya Sans"/>
              </a:rPr>
              <a:t>  (2021 — 2025)</a:t>
            </a:r>
          </a:p>
          <a:p>
            <a:pPr algn="l" lvl="1">
              <a:spcAft>
                <a:spcPts val="100"/>
              </a:spcAft>
            </a:pPr>
            <a:r>
              <a:rPr sz="1200" b="1" i="0">
                <a:solidFill>
                  <a:srgbClr val="3AEDE5"/>
                </a:solidFill>
                <a:latin typeface="Alegreya Sans"/>
              </a:rPr>
              <a:t>•  </a:t>
            </a:r>
            <a:r>
              <a:rPr sz="1200" b="0" i="0">
                <a:solidFill>
                  <a:srgbClr val="FFFFFF"/>
                </a:solidFill>
                <a:latin typeface="Alegreya Sans"/>
              </a:rPr>
              <a:t>Coordinated a team of 8 quantitative specialists and external consultants on a regulatory remediation program estimated at nearly €2M per year.</a:t>
            </a:r>
          </a:p>
          <a:p>
            <a:pPr algn="l" lvl="1">
              <a:spcAft>
                <a:spcPts val="100"/>
              </a:spcAft>
            </a:pPr>
            <a:r>
              <a:rPr sz="1200" b="1" i="0">
                <a:solidFill>
                  <a:srgbClr val="3AEDE5"/>
                </a:solidFill>
                <a:latin typeface="Alegreya Sans"/>
              </a:rPr>
              <a:t>•  </a:t>
            </a:r>
            <a:r>
              <a:rPr sz="1200" b="0" i="0">
                <a:solidFill>
                  <a:srgbClr val="FFFFFF"/>
                </a:solidFill>
                <a:latin typeface="Alegreya Sans"/>
              </a:rPr>
              <a:t>Independent validation of 20+ Retail models (PD/LGD) for regulatory compliance and capital optimization; contribution to RWA assessment in entity-disposal projects.</a:t>
            </a:r>
          </a:p>
          <a:p>
            <a:pPr algn="l">
              <a:spcAft>
                <a:spcPts val="100"/>
              </a:spcAft>
            </a:pPr>
            <a:r>
              <a:rPr sz="1200" b="1" i="0">
                <a:solidFill>
                  <a:srgbClr val="3AEDE5"/>
                </a:solidFill>
                <a:latin typeface="Alegreya Sans"/>
              </a:rPr>
              <a:t>▸ </a:t>
            </a:r>
            <a:r>
              <a:rPr sz="1200" b="1" i="0">
                <a:solidFill>
                  <a:srgbClr val="FFFFFF"/>
                </a:solidFill>
                <a:latin typeface="Alegreya Sans"/>
              </a:rPr>
              <a:t>EY — Paris</a:t>
            </a:r>
            <a:r>
              <a:rPr sz="1200" b="0" i="0">
                <a:solidFill>
                  <a:srgbClr val="FFFFFF"/>
                </a:solidFill>
                <a:latin typeface="Alegreya Sans"/>
              </a:rPr>
              <a:t> — Senior Consultant — Financial Risk Advisory</a:t>
            </a:r>
            <a:r>
              <a:rPr sz="1200" b="0" i="1">
                <a:solidFill>
                  <a:srgbClr val="3AEDE5"/>
                </a:solidFill>
                <a:latin typeface="Alegreya Sans"/>
              </a:rPr>
              <a:t>  (2016 — 2020)</a:t>
            </a:r>
          </a:p>
          <a:p>
            <a:pPr algn="l" lvl="1">
              <a:spcAft>
                <a:spcPts val="100"/>
              </a:spcAft>
            </a:pPr>
            <a:r>
              <a:rPr sz="1200" b="1" i="0">
                <a:solidFill>
                  <a:srgbClr val="3AEDE5"/>
                </a:solidFill>
                <a:latin typeface="Alegreya Sans"/>
              </a:rPr>
              <a:t>•  </a:t>
            </a:r>
            <a:r>
              <a:rPr sz="1200" b="0" i="0">
                <a:solidFill>
                  <a:srgbClr val="FFFFFF"/>
                </a:solidFill>
                <a:latin typeface="Alegreya Sans"/>
              </a:rPr>
              <a:t>Advised banks on credit risk, governance and regulatory transformation: 10+ consulting missions and contributions to 20+ RFPs.</a:t>
            </a:r>
          </a:p>
          <a:p>
            <a:pPr algn="l" lvl="1">
              <a:spcAft>
                <a:spcPts val="100"/>
              </a:spcAft>
            </a:pPr>
            <a:r>
              <a:rPr sz="1200" b="1" i="0">
                <a:solidFill>
                  <a:srgbClr val="3AEDE5"/>
                </a:solidFill>
                <a:latin typeface="Alegreya Sans"/>
              </a:rPr>
              <a:t>•  </a:t>
            </a:r>
            <a:r>
              <a:rPr sz="1200" b="0" i="0">
                <a:solidFill>
                  <a:srgbClr val="FFFFFF"/>
                </a:solidFill>
                <a:latin typeface="Alegreya Sans"/>
              </a:rPr>
              <a:t>BNP Paribas Personal Finance (IFRS 9 assessment), AFD (IFRS 9 framework for a development bank), HSBC France (Group credit-decision tool: -20% processing time, 200+ staff trained).</a:t>
            </a:r>
          </a:p>
          <a:p>
            <a:pPr algn="l">
              <a:spcBef>
                <a:spcPts val="600"/>
              </a:spcBef>
              <a:spcAft>
                <a:spcPts val="300"/>
              </a:spcAft>
            </a:pPr>
            <a:r>
              <a:rPr sz="1300" b="1" i="0">
                <a:solidFill>
                  <a:srgbClr val="3AEDE5"/>
                </a:solidFill>
                <a:latin typeface="Alegreya Sans"/>
              </a:rPr>
              <a:t>MAIN REFERENCES</a:t>
            </a:r>
          </a:p>
          <a:p>
            <a:pPr algn="l">
              <a:spcAft>
                <a:spcPts val="200"/>
              </a:spcAft>
            </a:pPr>
            <a:r>
              <a:rPr sz="1200" b="0" i="1">
                <a:solidFill>
                  <a:srgbClr val="FFFFFF"/>
                </a:solidFill>
                <a:latin typeface="Alegreya Sans"/>
              </a:rPr>
              <a:t>Société Générale, EY, BNP Paribas, HSBC France, AFD</a:t>
            </a:r>
          </a:p>
        </p:txBody>
      </p:sp>
      <p:sp>
        <p:nvSpPr>
          <p:cNvPr id="9" name="Rectangle 8"/>
          <p:cNvSpPr/>
          <p:nvPr/>
        </p:nvSpPr>
        <p:spPr>
          <a:xfrm>
            <a:off x="0" y="6578000"/>
            <a:ext cx="12192000" cy="280000"/>
          </a:xfrm>
          <a:prstGeom prst="rect">
            <a:avLst/>
          </a:prstGeom>
          <a:solidFill>
            <a:srgbClr val="061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 y="6578000"/>
            <a:ext cx="11734800" cy="280000"/>
          </a:xfrm>
          <a:prstGeom prst="rect">
            <a:avLst/>
          </a:prstGeom>
          <a:noFill/>
        </p:spPr>
        <p:txBody>
          <a:bodyPr wrap="square" lIns="0" rIns="0" tIns="0" bIns="0">
            <a:spAutoFit/>
          </a:bodyPr>
          <a:lstStyle/>
          <a:p>
            <a:pPr algn="ctr"/>
            <a:r>
              <a:rPr sz="1000" b="0" i="1">
                <a:solidFill>
                  <a:srgbClr val="CCD6E8"/>
                </a:solidFill>
                <a:latin typeface="Alegreya Sans"/>
              </a:rPr>
              <a:t>The information in this document is strictly confidential — This document may only be shared with the owner's consent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