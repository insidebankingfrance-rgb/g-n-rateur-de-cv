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00000" y="0"/>
            <a:ext cx="15000" cy="6858000"/>
          </a:xfrm>
          <a:prstGeom prst="rect">
            <a:avLst/>
          </a:prstGeom>
          <a:solidFill>
            <a:srgbClr val="3AE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nside_circl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0000" y="130000"/>
            <a:ext cx="1302000" cy="42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240000"/>
            <a:ext cx="3842800" cy="1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3AEDE5"/>
                </a:solidFill>
                <a:latin typeface="Alegreya Sans"/>
              </a:rPr>
              <a:t>Christophe</a:t>
            </a:r>
          </a:p>
          <a:p>
            <a:pPr>
              <a:spcBef>
                <a:spcPts val="0"/>
              </a:spcBef>
            </a:pPr>
            <a:r>
              <a:rPr sz="3200" b="1" i="0">
                <a:solidFill>
                  <a:srgbClr val="3AEDE5"/>
                </a:solidFill>
                <a:latin typeface="Alegreya Sans"/>
              </a:rPr>
              <a:t>POBEREJSKY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8600" y="300000"/>
            <a:ext cx="59634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Alegreya Sans"/>
              </a:rPr>
              <a:t>Manager de Transition — Direction de Programme IT &amp; Finance</a:t>
            </a:r>
          </a:p>
          <a:p>
            <a:pPr>
              <a:spcBef>
                <a:spcPts val="200"/>
              </a:spcBef>
            </a:pPr>
            <a:r>
              <a:rPr sz="1500" b="0" i="1">
                <a:solidFill>
                  <a:srgbClr val="3AEDE5"/>
                </a:solidFill>
                <a:latin typeface="Alegreya Sans"/>
              </a:rPr>
              <a:t>Transformation IT &amp; Finance — Banque, Secteur Public, Mobilités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180000"/>
            <a:ext cx="3842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DOMAINES D'EXPERTISE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Pilotage programmes IT (cadrage, PMO)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Paiements, Cash Management, ERP, CRM, KYC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Schéma directeur IT &amp; cybersécurité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Management &amp; conduite du changement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Trilingue FR / EN / ES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LANGUES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Français — Langue maternelle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Anglais — Courant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Espagnol — Courant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FORMATION &amp; CERTIFICATIONS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1996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EDHEC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Master en Management + certifs (PRINCE2, ACAMS, RGPD)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2024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Google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AI Professional Certificate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CENTRES D'INTÉRÊT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Guitare électrique &amp; chant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Plongée sous-marine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ENGAGEMENTS &amp; RÉALISATIONS</a:t>
            </a:r>
          </a:p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Cercles pros</a:t>
            </a:r>
            <a:r>
              <a:rPr sz="1200" b="0" i="1">
                <a:solidFill>
                  <a:srgbClr val="CCD6E8"/>
                </a:solidFill>
                <a:latin typeface="Alegreya Sans"/>
              </a:rPr>
              <a:t> — Membre UMBREX / VERITUX</a:t>
            </a:r>
          </a:p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Intervenant</a:t>
            </a:r>
            <a:r>
              <a:rPr sz="1200" b="0" i="1">
                <a:solidFill>
                  <a:srgbClr val="CCD6E8"/>
                </a:solidFill>
                <a:latin typeface="Alegreya Sans"/>
              </a:rPr>
              <a:t> — AlphaSights, XpertsCouncil, Les BigBoss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8600" y="1180000"/>
            <a:ext cx="7434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RÉSUMÉ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FFFFFF"/>
                </a:solidFill>
                <a:latin typeface="Alegreya Sans"/>
              </a:rPr>
              <a:t>Ex-VP Société Générale (20 ans) | Expert Management de Transition &amp; Transformation Critique. Relais opérationnel en contexte de vide managérial, fusion ou post-cybercrise. Dimensions C-Level (budgets &gt; 10 M€, reporting COMEX).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EXPÉRIENCE PROFESSIONNELLE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Delubac &amp; Cie (via Ailancy)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Manager de Transition — COO Middle-Office Corporate &amp; Privé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(Mai — Juin 2026)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Transition flash post-fusion des middle-offices : relais managérial d'urgence, stabilisation des équipes.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Sécurisation opérationnelle et déploiement de la cible ; feuille de route à 1,5 mois, dashboards KPI quotidiens.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Groupe Indigo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Pilotage stratégique COMEX — Refonte gouvernance IT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(2025 (S2))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Diagnostic global du SI en contexte post-cyber ; vision cible du numérique et futur rôle de la DSI Groupe.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Plan d'investissement IT pluriannuel et cadre de gouvernance ; roadmap, cartographies, organigrammes cibles.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CGI Business Consulting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Senior Manager — Banque Assurance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(2022 — 2025)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BPCE (projet SIGMA) : gestion IAM, pilote pour la standardisation des habilitations du socle commun Groupe ; formation et déploiement Groupe.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Crédit Agricole CIB : supervision d'une taskforce Cash Management / Correspondent Banking (20+ consultants) ; développement Banque-Assurance (PNB &gt; 200 K€).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Société Générale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20 ans — Resp. KYC, VP Marketing B2B, Cash Management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(2002 — 2022)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KYC (2019-22) : TOM digitalisation, Blockchain/IA — fiabilisation à +90 % sur 3 CSP.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VP B2B &amp; Digital (2007-19) : CRM MS Dynamics international (1 000 users) ; +30 % de PNB Cash Management.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78000"/>
            <a:ext cx="12192000" cy="280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6578000"/>
            <a:ext cx="117348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CCD6E8"/>
                </a:solidFill>
                <a:latin typeface="Alegreya Sans"/>
              </a:rPr>
              <a:t>Les informations de ce document sont strictement confidentielles — Ce document ne peut être partagé qu'avec l'accord de son propriétaire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00000" y="0"/>
            <a:ext cx="15000" cy="6858000"/>
          </a:xfrm>
          <a:prstGeom prst="rect">
            <a:avLst/>
          </a:prstGeom>
          <a:solidFill>
            <a:srgbClr val="3AE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nside_circl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0000" y="130000"/>
            <a:ext cx="1302000" cy="42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240000"/>
            <a:ext cx="3842800" cy="1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3AEDE5"/>
                </a:solidFill>
                <a:latin typeface="Alegreya Sans"/>
              </a:rPr>
              <a:t>Christophe</a:t>
            </a:r>
          </a:p>
          <a:p>
            <a:pPr>
              <a:spcBef>
                <a:spcPts val="0"/>
              </a:spcBef>
            </a:pPr>
            <a:r>
              <a:rPr sz="3200" b="1" i="0">
                <a:solidFill>
                  <a:srgbClr val="3AEDE5"/>
                </a:solidFill>
                <a:latin typeface="Alegreya Sans"/>
              </a:rPr>
              <a:t>POBEREJSKY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8600" y="300000"/>
            <a:ext cx="59634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Alegreya Sans"/>
              </a:rPr>
              <a:t>Transition Manager — IT &amp; Finance Program Management</a:t>
            </a:r>
          </a:p>
          <a:p>
            <a:pPr>
              <a:spcBef>
                <a:spcPts val="200"/>
              </a:spcBef>
            </a:pPr>
            <a:r>
              <a:rPr sz="1500" b="0" i="1">
                <a:solidFill>
                  <a:srgbClr val="3AEDE5"/>
                </a:solidFill>
                <a:latin typeface="Alegreya Sans"/>
              </a:rPr>
              <a:t>IT &amp; Finance Transformation — Banking, Public Sector, Mobility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180000"/>
            <a:ext cx="3842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MAIN AREAS OF EXPERTISE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IT Program &amp; Project Governance (scoping, PMO)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Payments, Cash Management, ERP, CRM, KYC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IT Master Plan &amp; Cybersecurity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Management &amp; Change Leadership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Trilingual FR / EN / ES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LANGUAGES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French — Native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English — Fluent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Spanish — Fluent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EDUCATION &amp; CERTIFICATIONS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1996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EDHEC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Master in Management + certs (PRINCE2, ACAMS, GDPR)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2024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Google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AI Professional Certificate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INTERESTS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Electric guitar &amp; singing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Scuba diving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ENGAGEMENTS &amp; ACHIEVEMENTS</a:t>
            </a:r>
          </a:p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Professional circles</a:t>
            </a:r>
            <a:r>
              <a:rPr sz="1200" b="0" i="1">
                <a:solidFill>
                  <a:srgbClr val="CCD6E8"/>
                </a:solidFill>
                <a:latin typeface="Alegreya Sans"/>
              </a:rPr>
              <a:t> — Member UMBREX / VERITUX</a:t>
            </a:r>
          </a:p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Speaker</a:t>
            </a:r>
            <a:r>
              <a:rPr sz="1200" b="0" i="1">
                <a:solidFill>
                  <a:srgbClr val="CCD6E8"/>
                </a:solidFill>
                <a:latin typeface="Alegreya Sans"/>
              </a:rPr>
              <a:t> — AlphaSights, XpertsCouncil, Les BigBoss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8600" y="1180000"/>
            <a:ext cx="7434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SUMMARY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FFFFFF"/>
                </a:solidFill>
                <a:latin typeface="Alegreya Sans"/>
              </a:rPr>
              <a:t>Ex-VP Société Générale (20 years) | Expert Transition Management &amp; Critical Transformation. Operational relay in management vacuum, merger or post-cyberattack contexts. C-Level dimensions (budgets &gt; €10M, COMEX reporting).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PROFESSIONAL EXPERIENCE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Delubac &amp; Cie (via Ailancy)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Transition Manager — COO Middle-Office Corporate &amp; Private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(May — June 2026)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Flash post-merger transition of middle-offices: emergency management relay, team stabilization.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Operational security and target deployment; 1.5-month roadmap, daily KPI dashboards.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Groupe Indigo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Strategic piloting COMEX — IT governance overhaul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(2025 (H2))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Global IT diagnosis in a post-cyber context; target digital vision and future Group CIO role.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Multi-year IT investment plan and governance framework; roadmap, mappings, target org charts.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CGI Business Consulting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Senior Manager — Banking &amp; Insurance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(2022 — 2025)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BPCE (SIGMA project): IAM management, pilot for the standardization of authorizations on the Group common foundation; training and Group-level deployment.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Crédit Agricole CIB: supervision of a Cash Management / Correspondent Banking taskforce (20+ consultants); Banking-Insurance development (PNB &gt; €200K).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Société Générale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20 years — KYC Lead, VP B2B Marketing, Cash Management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(2002 — 2022)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KYC (2019-22): TOM for KYC digitalization, Blockchain/AI — reliability to 90%+ across 3 SSCs.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VP B2B &amp; Digital (2007-19): international MS Dynamics CRM (1,000 users); +30% PNB in Cash Management.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78000"/>
            <a:ext cx="12192000" cy="280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6578000"/>
            <a:ext cx="117348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CCD6E8"/>
                </a:solidFill>
                <a:latin typeface="Alegreya Sans"/>
              </a:rPr>
              <a:t>The information in this document is strictly confidential — This document may only be shared with the owner's consent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00000" y="0"/>
            <a:ext cx="15000" cy="6858000"/>
          </a:xfrm>
          <a:prstGeom prst="rect">
            <a:avLst/>
          </a:prstGeom>
          <a:solidFill>
            <a:srgbClr val="3AE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nside_circl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0000" y="130000"/>
            <a:ext cx="1302000" cy="42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240000"/>
            <a:ext cx="3842800" cy="1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3AEDE5"/>
                </a:solidFill>
                <a:latin typeface="Alegreya Sans"/>
              </a:rPr>
              <a:t>Gaspard</a:t>
            </a:r>
          </a:p>
          <a:p>
            <a:pPr>
              <a:spcBef>
                <a:spcPts val="0"/>
              </a:spcBef>
            </a:pPr>
            <a:r>
              <a:rPr sz="3200" b="1" i="0">
                <a:solidFill>
                  <a:srgbClr val="3AEDE5"/>
                </a:solidFill>
                <a:latin typeface="Alegreya Sans"/>
              </a:rPr>
              <a:t>DE LASSUS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8600" y="300000"/>
            <a:ext cx="59634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Alegreya Sans"/>
              </a:rPr>
              <a:t>Consultant Freelance en Finance &amp; Stratégie</a:t>
            </a:r>
          </a:p>
          <a:p>
            <a:pPr>
              <a:spcBef>
                <a:spcPts val="200"/>
              </a:spcBef>
            </a:pPr>
            <a:r>
              <a:rPr sz="1500" b="0" i="1">
                <a:solidFill>
                  <a:srgbClr val="3AEDE5"/>
                </a:solidFill>
                <a:latin typeface="Alegreya Sans"/>
              </a:rPr>
              <a:t>Pilotage financier, stratégique &amp; IA — Chief of Staff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180000"/>
            <a:ext cx="3842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DOMAINES D'EXPERTISE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Pilotage financier (budget, BP, lead-to-cash)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Pilotage commercial (sales ops, go-to-market)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Pilotage opérationnel (PMO, Target Operating Model)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Pilotage stratégique (retournement, PMI, due diligence)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Pilotage d'agents IA (Codex)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LANGUES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Français — Langue maternelle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Anglais — Courant (C1/C2)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Espagnol — Conversationnel (B2)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FORMATION &amp; CERTIFICATIONS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2012 — 2018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Sciences Po Paris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Bachelor of Arts puis Master Finance &amp; Stratégie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2014 — 2015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Chulalongkorn University (Bangkok)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Bachelor of Business Administration (échange)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CENTRES D'INTÉRÊT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Natation, tennis, randonnée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Échecs (5 ans en club)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ENGAGEMENTS &amp; RÉALISATIONS</a:t>
            </a:r>
          </a:p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Mécénat de compétences</a:t>
            </a:r>
            <a:r>
              <a:rPr sz="1200" b="0" i="1">
                <a:solidFill>
                  <a:srgbClr val="CCD6E8"/>
                </a:solidFill>
                <a:latin typeface="Alegreya Sans"/>
              </a:rPr>
              <a:t> — My Job Glasses, Les Cercles de Parents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8600" y="1180000"/>
            <a:ext cx="7434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RÉSUMÉ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FFFFFF"/>
                </a:solidFill>
                <a:latin typeface="Alegreya Sans"/>
              </a:rPr>
              <a:t>Depuis 2016, postes de conseil (Capgemini, LexisNexis) et Chief of Staff (Fujitsu, La Banque Postale, BPCE). Pilotage du cadrage et de la mise en œuvre de projets stratégiques d'envergure (carve-out, plan de retournement). Fortes compétences en finance, stratégie et IA.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EXPÉRIENCE PROFESSIONNELLE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Groupe BPCE (freelance)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Chief of Staff « data &amp; IA »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(Sept. 2025 — aujourd'hui)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Pilotage de la direction data &amp; IA en lien avec le CODIR : modélisation et suivi mensuel du budget 2026, définition et suivi des KPI des projets d'IA.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Pilotage réglementaire (comités stratégiques, audit BCE sur l'IA Gen) et études ad hoc ; revente trimestrielle de la mission et fluidification du process budgétaire.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Freelance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Consultant en finance &amp; stratégie commerciale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(Janv. 2024 — aujourd'hui)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Accompagnement de +10 clients sur des études d'opportunités financières &amp; business : due diligences France 2030 (BPI France), roadmap opérationnelle et business plan à 3 ans, analyse P&amp;L.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Revente régulière des missions (+50 %).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LexisNexis CEMEA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Strategic Project Manager (Europe, Moyen-Orient, Afrique)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(Sept. 2022 — Déc. 2023)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Définition et mise en œuvre des initiatives stratégiques : audit 360° d'une filiale déficitaire, stratégie de go-to-market d'une nouvelle offre, cas d'usage d'IA.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Relance réussie de la filiale déficitaire (CA +30 %, pertes -50 % en 2023) ; stratégie GTM validée par le CEO.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Capgemini Invent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Consultant (senior)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(Sept. 2018 — Févr. 2022)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Contribution à +10 projets stratégiques (pilotage financier et GTM) : carve-out d'une joint-venture Valeo x Capgemini, stratégie et budget de la Procédure Pénale Numérique.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Encadrement de consultants, gestion des clients, missions clés du cabinet.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78000"/>
            <a:ext cx="12192000" cy="280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6578000"/>
            <a:ext cx="117348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CCD6E8"/>
                </a:solidFill>
                <a:latin typeface="Alegreya Sans"/>
              </a:rPr>
              <a:t>Les informations de ce document sont strictement confidentielles — Ce document ne peut être partagé qu'avec l'accord de son propriétaire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00000" y="0"/>
            <a:ext cx="15000" cy="6858000"/>
          </a:xfrm>
          <a:prstGeom prst="rect">
            <a:avLst/>
          </a:prstGeom>
          <a:solidFill>
            <a:srgbClr val="3AE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nside_circl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0000" y="130000"/>
            <a:ext cx="1302000" cy="42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240000"/>
            <a:ext cx="3842800" cy="1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3AEDE5"/>
                </a:solidFill>
                <a:latin typeface="Alegreya Sans"/>
              </a:rPr>
              <a:t>Gaspard</a:t>
            </a:r>
          </a:p>
          <a:p>
            <a:pPr>
              <a:spcBef>
                <a:spcPts val="0"/>
              </a:spcBef>
            </a:pPr>
            <a:r>
              <a:rPr sz="3200" b="1" i="0">
                <a:solidFill>
                  <a:srgbClr val="3AEDE5"/>
                </a:solidFill>
                <a:latin typeface="Alegreya Sans"/>
              </a:rPr>
              <a:t>DE LASSUS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8600" y="300000"/>
            <a:ext cx="59634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Alegreya Sans"/>
              </a:rPr>
              <a:t>Freelance Finance &amp; Strategy Consultant</a:t>
            </a:r>
          </a:p>
          <a:p>
            <a:pPr>
              <a:spcBef>
                <a:spcPts val="200"/>
              </a:spcBef>
            </a:pPr>
            <a:r>
              <a:rPr sz="1500" b="0" i="1">
                <a:solidFill>
                  <a:srgbClr val="3AEDE5"/>
                </a:solidFill>
                <a:latin typeface="Alegreya Sans"/>
              </a:rPr>
              <a:t>Financial, Strategic &amp; AI Steering — Chief of Staff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180000"/>
            <a:ext cx="3842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MAIN AREAS OF EXPERTISE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Financial steering (budget, business plan, lead-to-cash)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Commercial steering (sales ops, go-to-market)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Operational steering (PMO, Target Operating Model)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Strategic steering (turnaround, PMI, due diligence)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AI agent steering (Codex)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LANGUAGES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French — Native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English — Fluent (C1/C2)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Spanish — Conversational (B2)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EDUCATION &amp; CERTIFICATIONS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2012 — 2018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Sciences Po Paris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Bachelor of Arts then Master's in Finance &amp; Strategy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2014 — 2015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Chulalongkorn University (Bangkok)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Bachelor of Business Administration (exchange)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INTERESTS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Swimming, tennis, hiking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Chess (5 years in a club)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ENGAGEMENTS &amp; ACHIEVEMENTS</a:t>
            </a:r>
          </a:p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Skills-based volunteering</a:t>
            </a:r>
            <a:r>
              <a:rPr sz="1200" b="0" i="1">
                <a:solidFill>
                  <a:srgbClr val="CCD6E8"/>
                </a:solidFill>
                <a:latin typeface="Alegreya Sans"/>
              </a:rPr>
              <a:t> — My Job Glasses, Les Cercles de Parents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8600" y="1180000"/>
            <a:ext cx="7434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SUMMARY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FFFFFF"/>
                </a:solidFill>
                <a:latin typeface="Alegreya Sans"/>
              </a:rPr>
              <a:t>Since 2016, consulting roles (Capgemini, LexisNexis) and Chief of Staff positions (Fujitsu, La Banque Postale, BPCE). Led the scoping and implementation of large-scale strategic projects (carve-outs, turnaround plans). Strong finance, strategy and AI skills.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PROFESSIONAL EXPERIENCE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BPCE Group (freelance)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Chief of Staff, Data &amp; AI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(Sept. 2025 — Present)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Steering the Data &amp; AI department with the Executive Committee: modeling and monthly monitoring of the 2026 budget, definition and monitoring of AI-project KPIs.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Regulatory steering (strategic committees, ECB audit on GenAI) and ad hoc studies; quarterly mission renewal and smoother budget process.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Freelance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Finance &amp; Commercial Strategy Consultant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(Jan. 2024 — Present)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Supported 10+ clients on financial and business opportunity assessments: France 2030 due diligences (BPI France), operational roadmap and 3-year business plan, P&amp;L analysis.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Regular mission upselling (+50%).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LexisNexis CEMEA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Strategic Project Manager (Europe, Middle East, Africa)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(Sept. 2022 — Dec. 2023)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Defined and implemented the group's strategic initiatives: 360° audit of a loss-making subsidiary, go-to-market strategy for a new offering, AI use cases.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Successfully relaunched the loss-making subsidiary (revenue +30%, losses -50% in 2023); GTM strategy approved by the CEO.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Capgemini Invent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Consultant (senior)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(Sept. 2018 — Feb. 2022)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Contributed to 10+ strategic projects (financial steering and GTM): carve-out of a Valeo x Capgemini joint venture, strategy and budget for the Digital Criminal Procedure program.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Consultant supervision, client management, key firm assignments.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78000"/>
            <a:ext cx="12192000" cy="280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6578000"/>
            <a:ext cx="117348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CCD6E8"/>
                </a:solidFill>
                <a:latin typeface="Alegreya Sans"/>
              </a:rPr>
              <a:t>The information in this document is strictly confidential — This document may only be shared with the owner's consent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