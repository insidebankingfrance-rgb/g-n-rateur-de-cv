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61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300000" y="0"/>
            <a:ext cx="15000" cy="6858000"/>
          </a:xfrm>
          <a:prstGeom prst="rect">
            <a:avLst/>
          </a:prstGeom>
          <a:solidFill>
            <a:srgbClr val="3AED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inside_circle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60000" y="130000"/>
            <a:ext cx="1302000" cy="420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28600" y="240000"/>
            <a:ext cx="3842800" cy="13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0" i="0">
                <a:solidFill>
                  <a:srgbClr val="3AEDE5"/>
                </a:solidFill>
                <a:latin typeface="Alegreya Sans"/>
              </a:rPr>
              <a:t>Livia</a:t>
            </a:r>
          </a:p>
          <a:p>
            <a:pPr>
              <a:spcBef>
                <a:spcPts val="0"/>
              </a:spcBef>
            </a:pPr>
            <a:r>
              <a:rPr sz="3200" b="1" i="0">
                <a:solidFill>
                  <a:srgbClr val="3AEDE5"/>
                </a:solidFill>
                <a:latin typeface="Alegreya Sans"/>
              </a:rPr>
              <a:t>BONHOURE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28600" y="300000"/>
            <a:ext cx="5963400" cy="8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400" b="1" i="0">
                <a:solidFill>
                  <a:srgbClr val="FFFFFF"/>
                </a:solidFill>
                <a:latin typeface="Alegreya Sans"/>
              </a:rPr>
              <a:t>Consultante Stratégie &amp; Innovation</a:t>
            </a:r>
          </a:p>
          <a:p>
            <a:pPr>
              <a:spcBef>
                <a:spcPts val="200"/>
              </a:spcBef>
            </a:pPr>
            <a:r>
              <a:rPr sz="1500" b="0" i="1">
                <a:solidFill>
                  <a:srgbClr val="3AEDE5"/>
                </a:solidFill>
                <a:latin typeface="Alegreya Sans"/>
              </a:rPr>
              <a:t>Stratégie, transformation &amp; intelligence collective — Retail, Luxe, Santé, FMCG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28600" y="1180000"/>
            <a:ext cx="3842800" cy="5318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 i="0">
                <a:solidFill>
                  <a:srgbClr val="3AEDE5"/>
                </a:solidFill>
                <a:latin typeface="Alegreya Sans"/>
              </a:rPr>
              <a:t>DOMAINES D'EXPERTISE</a:t>
            </a:r>
          </a:p>
          <a:p>
            <a:pPr algn="l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•  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Stratégie &amp; plans stratégiques à 3 ans</a:t>
            </a:r>
          </a:p>
          <a:p>
            <a:pPr algn="l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•  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Gestion de projet &amp; PMO</a:t>
            </a:r>
          </a:p>
          <a:p>
            <a:pPr algn="l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•  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Innovation &amp; facilitation (design thinking, double diamant)</a:t>
            </a:r>
          </a:p>
          <a:p>
            <a:pPr algn="l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•  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Business développement &amp; partenariats</a:t>
            </a:r>
          </a:p>
          <a:p>
            <a:pPr algn="l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•  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Études de marché &amp; due diligences</a:t>
            </a:r>
          </a:p>
          <a:p>
            <a:pPr algn="l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•  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Coaching, créativité &amp; neurodiversité</a:t>
            </a:r>
          </a:p>
          <a:p>
            <a:pPr algn="l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•  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Marketing digital</a:t>
            </a:r>
          </a:p>
          <a:p>
            <a:pPr algn="l">
              <a:spcBef>
                <a:spcPts val="600"/>
              </a:spcBef>
              <a:spcAft>
                <a:spcPts val="300"/>
              </a:spcAft>
            </a:pPr>
            <a:r>
              <a:rPr sz="1300" b="1" i="0">
                <a:solidFill>
                  <a:srgbClr val="3AEDE5"/>
                </a:solidFill>
                <a:latin typeface="Alegreya Sans"/>
              </a:rPr>
              <a:t>FORMATION &amp; CERTIFICATIONS</a:t>
            </a:r>
          </a:p>
          <a:p>
            <a:pPr algn="l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2015  </a:t>
            </a:r>
            <a:r>
              <a:rPr sz="1200" b="1" i="0">
                <a:solidFill>
                  <a:srgbClr val="FFFFFF"/>
                </a:solidFill>
                <a:latin typeface="Alegreya Sans"/>
              </a:rPr>
              <a:t>EMLYON Business School</a:t>
            </a:r>
          </a:p>
          <a:p>
            <a:pPr algn="l">
              <a:spcAft>
                <a:spcPts val="300"/>
              </a:spcAft>
            </a:pPr>
            <a:r>
              <a:rPr sz="1200" b="0" i="1">
                <a:solidFill>
                  <a:srgbClr val="CCD6E8"/>
                </a:solidFill>
                <a:latin typeface="Alegreya Sans"/>
              </a:rPr>
              <a:t>Programme Grande École</a:t>
            </a:r>
          </a:p>
          <a:p>
            <a:pPr algn="l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2023  </a:t>
            </a:r>
            <a:r>
              <a:rPr sz="1200" b="1" i="0">
                <a:solidFill>
                  <a:srgbClr val="FFFFFF"/>
                </a:solidFill>
                <a:latin typeface="Alegreya Sans"/>
              </a:rPr>
              <a:t>Coaching Ways</a:t>
            </a:r>
          </a:p>
          <a:p>
            <a:pPr algn="l">
              <a:spcAft>
                <a:spcPts val="300"/>
              </a:spcAft>
            </a:pPr>
            <a:r>
              <a:rPr sz="1200" b="0" i="1">
                <a:solidFill>
                  <a:srgbClr val="CCD6E8"/>
                </a:solidFill>
                <a:latin typeface="Alegreya Sans"/>
              </a:rPr>
              <a:t>Coach certifiée</a:t>
            </a:r>
          </a:p>
          <a:p>
            <a:pPr algn="l">
              <a:spcBef>
                <a:spcPts val="600"/>
              </a:spcBef>
              <a:spcAft>
                <a:spcPts val="300"/>
              </a:spcAft>
            </a:pPr>
            <a:r>
              <a:rPr sz="1300" b="1" i="0">
                <a:solidFill>
                  <a:srgbClr val="3AEDE5"/>
                </a:solidFill>
                <a:latin typeface="Alegreya Sans"/>
              </a:rPr>
              <a:t>ENGAGEMENTS &amp; RÉALISATIONS</a:t>
            </a:r>
          </a:p>
          <a:p>
            <a:pPr algn="l">
              <a:spcAft>
                <a:spcPts val="2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• </a:t>
            </a:r>
            <a:r>
              <a:rPr sz="1200" b="1" i="0">
                <a:solidFill>
                  <a:srgbClr val="FFFFFF"/>
                </a:solidFill>
                <a:latin typeface="Alegreya Sans"/>
              </a:rPr>
              <a:t>Autrice — « À la poursuite du Phaos »</a:t>
            </a:r>
            <a:r>
              <a:rPr sz="1200" b="0" i="1">
                <a:solidFill>
                  <a:srgbClr val="CCD6E8"/>
                </a:solidFill>
                <a:latin typeface="Alegreya Sans"/>
              </a:rPr>
              <a:t> — Libérez le pouvoir créatif en entreprise (Amazon KDP)</a:t>
            </a:r>
          </a:p>
          <a:p>
            <a:pPr algn="l">
              <a:spcAft>
                <a:spcPts val="2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• </a:t>
            </a:r>
            <a:r>
              <a:rPr sz="1200" b="1" i="0">
                <a:solidFill>
                  <a:srgbClr val="FFFFFF"/>
                </a:solidFill>
                <a:latin typeface="Alegreya Sans"/>
              </a:rPr>
              <a:t>Créatrice d'un talk show</a:t>
            </a:r>
            <a:r>
              <a:rPr sz="1200" b="0" i="1">
                <a:solidFill>
                  <a:srgbClr val="CCD6E8"/>
                </a:solidFill>
                <a:latin typeface="Alegreya Sans"/>
              </a:rPr>
              <a:t> — Transformation des organisations, leadership et innovation — 23 talks tournés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28600" y="1180000"/>
            <a:ext cx="7434800" cy="5318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 i="0">
                <a:solidFill>
                  <a:srgbClr val="3AEDE5"/>
                </a:solidFill>
                <a:latin typeface="Alegreya Sans"/>
              </a:rPr>
              <a:t>RÉSUMÉ</a:t>
            </a:r>
          </a:p>
          <a:p>
            <a:pPr algn="l">
              <a:spcAft>
                <a:spcPts val="300"/>
              </a:spcAft>
            </a:pPr>
            <a:r>
              <a:rPr sz="1200" b="0" i="0">
                <a:solidFill>
                  <a:srgbClr val="FFFFFF"/>
                </a:solidFill>
                <a:latin typeface="Alegreya Sans"/>
              </a:rPr>
              <a:t>10 ans d'expérience en conseil en stratégie (L.E.K., EY-Parthenon) et en développement, aujourd'hui fondatrice et experte en créativité, intelligence collective et neurodiversité. Intervient sur la stratégie, la transformation, l'innovation et la facilitation, du cadrage à la mise en œuvre, pour des grands groupes comme pour des fonds de Private Equity.</a:t>
            </a:r>
          </a:p>
          <a:p>
            <a:pPr algn="l">
              <a:spcBef>
                <a:spcPts val="600"/>
              </a:spcBef>
              <a:spcAft>
                <a:spcPts val="300"/>
              </a:spcAft>
            </a:pPr>
            <a:r>
              <a:rPr sz="1300" b="1" i="0">
                <a:solidFill>
                  <a:srgbClr val="3AEDE5"/>
                </a:solidFill>
                <a:latin typeface="Alegreya Sans"/>
              </a:rPr>
              <a:t>PRINCIPALES EXPÉRIENCES PROFESSIONNELLES</a:t>
            </a:r>
          </a:p>
          <a:p>
            <a:pPr algn="l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▸ </a:t>
            </a:r>
            <a:r>
              <a:rPr sz="1200" b="1" i="0">
                <a:solidFill>
                  <a:srgbClr val="FFFFFF"/>
                </a:solidFill>
                <a:latin typeface="Alegreya Sans"/>
              </a:rPr>
              <a:t>On the Move / École du Potentiel Humain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 — Fondatrice — Experte créativité, intelligence collective &amp; neurodiversité</a:t>
            </a:r>
            <a:r>
              <a:rPr sz="1200" b="0" i="1">
                <a:solidFill>
                  <a:srgbClr val="3AEDE5"/>
                </a:solidFill>
                <a:latin typeface="Alegreya Sans"/>
              </a:rPr>
              <a:t>  (Depuis 2024)</a:t>
            </a:r>
          </a:p>
          <a:p>
            <a:pPr algn="l" lvl="1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•  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Conférences et ateliers autour de la créativité et de l'innovation : préparation du contenu et animation pour des indépendants, réseaux d'alumni et d'entrepreneurs.</a:t>
            </a:r>
          </a:p>
          <a:p>
            <a:pPr algn="l" lvl="1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•  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Rédaction et édition d'un livre sur la créativité en entreprise : 20+ entretiens qualitatifs, conception mêlant conte, introspection, ateliers d'intelligence collective et analyses business (co-création avec IA génératives), publication et promotion.</a:t>
            </a:r>
          </a:p>
          <a:p>
            <a:pPr algn="l" lvl="1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•  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Création et animation d'un talk show sur la transformation des organisations, le leadership et l'innovation — 23 talks tournés à date.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578000"/>
            <a:ext cx="12192000" cy="280000"/>
          </a:xfrm>
          <a:prstGeom prst="rect">
            <a:avLst/>
          </a:prstGeom>
          <a:solidFill>
            <a:srgbClr val="061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28600" y="6578000"/>
            <a:ext cx="11734800" cy="28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00" b="0" i="1">
                <a:solidFill>
                  <a:srgbClr val="CCD6E8"/>
                </a:solidFill>
                <a:latin typeface="Alegreya Sans"/>
              </a:rPr>
              <a:t>Les informations de ce document sont strictement confidentielles — Ce document ne peut être partagé qu'avec l'accord de son propriétaire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61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300000" y="0"/>
            <a:ext cx="15000" cy="6858000"/>
          </a:xfrm>
          <a:prstGeom prst="rect">
            <a:avLst/>
          </a:prstGeom>
          <a:solidFill>
            <a:srgbClr val="3AED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inside_circle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60000" y="130000"/>
            <a:ext cx="1302000" cy="420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28600" y="240000"/>
            <a:ext cx="3842800" cy="13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0" i="0">
                <a:solidFill>
                  <a:srgbClr val="3AEDE5"/>
                </a:solidFill>
                <a:latin typeface="Alegreya Sans"/>
              </a:rPr>
              <a:t>Livia</a:t>
            </a:r>
          </a:p>
          <a:p>
            <a:pPr>
              <a:spcBef>
                <a:spcPts val="0"/>
              </a:spcBef>
            </a:pPr>
            <a:r>
              <a:rPr sz="3200" b="1" i="0">
                <a:solidFill>
                  <a:srgbClr val="3AEDE5"/>
                </a:solidFill>
                <a:latin typeface="Alegreya Sans"/>
              </a:rPr>
              <a:t>BONHOURE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28600" y="300000"/>
            <a:ext cx="5963400" cy="8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400" b="1" i="0">
                <a:solidFill>
                  <a:srgbClr val="FFFFFF"/>
                </a:solidFill>
                <a:latin typeface="Alegreya Sans"/>
              </a:rPr>
              <a:t>Consultante Stratégie &amp; Innovation (suite)</a:t>
            </a:r>
          </a:p>
          <a:p>
            <a:pPr>
              <a:spcBef>
                <a:spcPts val="200"/>
              </a:spcBef>
            </a:pPr>
            <a:r>
              <a:rPr sz="1500" b="0" i="1">
                <a:solidFill>
                  <a:srgbClr val="3AEDE5"/>
                </a:solidFill>
                <a:latin typeface="Alegreya Sans"/>
              </a:rPr>
              <a:t>Stratégie, transformation &amp; intelligence collective — Retail, Luxe, Santé, FMCG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28600" y="1180000"/>
            <a:ext cx="3842800" cy="5318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 i="0">
                <a:solidFill>
                  <a:srgbClr val="3AEDE5"/>
                </a:solidFill>
                <a:latin typeface="Alegreya Sans"/>
              </a:rPr>
              <a:t>DOMAINES D'EXPERTISE</a:t>
            </a:r>
          </a:p>
          <a:p>
            <a:pPr algn="l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•  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Stratégie &amp; plans stratégiques à 3 ans</a:t>
            </a:r>
          </a:p>
          <a:p>
            <a:pPr algn="l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•  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Gestion de projet &amp; PMO</a:t>
            </a:r>
          </a:p>
          <a:p>
            <a:pPr algn="l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•  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Innovation &amp; facilitation (design thinking, double diamant)</a:t>
            </a:r>
          </a:p>
          <a:p>
            <a:pPr algn="l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•  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Business développement &amp; partenariats</a:t>
            </a:r>
          </a:p>
          <a:p>
            <a:pPr algn="l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•  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Études de marché &amp; due diligences</a:t>
            </a:r>
          </a:p>
          <a:p>
            <a:pPr algn="l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•  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Coaching, créativité &amp; neurodiversité</a:t>
            </a:r>
          </a:p>
          <a:p>
            <a:pPr algn="l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•  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Marketing digital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28600" y="1180000"/>
            <a:ext cx="7434800" cy="5318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 i="0">
                <a:solidFill>
                  <a:srgbClr val="3AEDE5"/>
                </a:solidFill>
                <a:latin typeface="Alegreya Sans"/>
              </a:rPr>
              <a:t>PRINCIPALES EXPÉRIENCES PROFESSIONNELLES (suite)</a:t>
            </a:r>
          </a:p>
          <a:p>
            <a:pPr algn="l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▸ </a:t>
            </a:r>
            <a:r>
              <a:rPr sz="1200" b="1" i="0">
                <a:solidFill>
                  <a:srgbClr val="FFFFFF"/>
                </a:solidFill>
                <a:latin typeface="Alegreya Sans"/>
              </a:rPr>
              <a:t>Othentik — Conseil en innovation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 — Head of Strategy and Operations (freelance)</a:t>
            </a:r>
            <a:r>
              <a:rPr sz="1200" b="0" i="1">
                <a:solidFill>
                  <a:srgbClr val="3AEDE5"/>
                </a:solidFill>
                <a:latin typeface="Alegreya Sans"/>
              </a:rPr>
              <a:t>  (2023 — 2024 · 1 an)</a:t>
            </a:r>
          </a:p>
          <a:p>
            <a:pPr algn="l" lvl="1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•  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Définition de la roadmap 2024 et du business plan, de la stratégie commerciale, du positionnement et de la proposition de valeur, structuration des offres.</a:t>
            </a:r>
          </a:p>
          <a:p>
            <a:pPr algn="l" lvl="1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•  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Participation à la création de la méthode d'innovation « The Othentik Way » et définition de la politique RH.</a:t>
            </a:r>
          </a:p>
          <a:p>
            <a:pPr algn="l" lvl="1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•  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Facilitation d'ateliers d'innovation : préparation (objectifs, supports, livrables) et animation d'ateliers et de conférences autour de la neurodiversité et de l'innovation pour Orange, Renault Alpine, EDF et des initiatives internes.</a:t>
            </a:r>
          </a:p>
          <a:p>
            <a:pPr algn="l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▸ </a:t>
            </a:r>
            <a:r>
              <a:rPr sz="1200" b="1" i="0">
                <a:solidFill>
                  <a:srgbClr val="FFFFFF"/>
                </a:solidFill>
                <a:latin typeface="Alegreya Sans"/>
              </a:rPr>
              <a:t>Pluxee (Sodexo BRS) — Retail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 — Bras-droit de la SVP Strategy, Product and Customer Experience</a:t>
            </a:r>
            <a:r>
              <a:rPr sz="1200" b="0" i="1">
                <a:solidFill>
                  <a:srgbClr val="3AEDE5"/>
                </a:solidFill>
                <a:latin typeface="Alegreya Sans"/>
              </a:rPr>
              <a:t>  (4 mois)</a:t>
            </a:r>
          </a:p>
          <a:p>
            <a:pPr algn="l" lvl="1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•  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Accompagnement du processus de planification stratégique pour 31 pays : plans de travail, coordination des parties prenantes, consolidation des plans, préparation des retours Comex aux pays.</a:t>
            </a:r>
          </a:p>
          <a:p>
            <a:pPr algn="l" lvl="1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•  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Revue des budgets globaux et pays, suivi de l'exécution de la stratégie pour le Comex Sodexo BRS et le Board Groupe ; définition de deux appels d'offres et onboarding du nouveau Strategy Manager.</a:t>
            </a:r>
          </a:p>
          <a:p>
            <a:pPr algn="l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▸ </a:t>
            </a:r>
            <a:r>
              <a:rPr sz="1200" b="1" i="0">
                <a:solidFill>
                  <a:srgbClr val="FFFFFF"/>
                </a:solidFill>
                <a:latin typeface="Alegreya Sans"/>
              </a:rPr>
              <a:t>LVMH — Luxe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 — Strategic Insights Program Manager</a:t>
            </a:r>
            <a:r>
              <a:rPr sz="1200" b="0" i="1">
                <a:solidFill>
                  <a:srgbClr val="3AEDE5"/>
                </a:solidFill>
                <a:latin typeface="Alegreya Sans"/>
              </a:rPr>
              <a:t>  (4 mois)</a:t>
            </a:r>
          </a:p>
          <a:p>
            <a:pPr algn="l" lvl="1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•  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Cadrage de deux études stratégiques : impact de l'IA générative dans le secteur du luxe et marché de la seconde main.</a:t>
            </a:r>
          </a:p>
          <a:p>
            <a:pPr algn="l" lvl="1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•  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Recherches, interviews des parties prenantes au sein de la Holding et des Maisons, rédaction des briefs et sélection du partenaire.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578000"/>
            <a:ext cx="12192000" cy="280000"/>
          </a:xfrm>
          <a:prstGeom prst="rect">
            <a:avLst/>
          </a:prstGeom>
          <a:solidFill>
            <a:srgbClr val="061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28600" y="6578000"/>
            <a:ext cx="11734800" cy="28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00" b="0" i="1">
                <a:solidFill>
                  <a:srgbClr val="CCD6E8"/>
                </a:solidFill>
                <a:latin typeface="Alegreya Sans"/>
              </a:rPr>
              <a:t>Les informations de ce document sont strictement confidentielles — Ce document ne peut être partagé qu'avec l'accord de son propriétaire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61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300000" y="0"/>
            <a:ext cx="15000" cy="6858000"/>
          </a:xfrm>
          <a:prstGeom prst="rect">
            <a:avLst/>
          </a:prstGeom>
          <a:solidFill>
            <a:srgbClr val="3AED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inside_circle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60000" y="130000"/>
            <a:ext cx="1302000" cy="420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28600" y="240000"/>
            <a:ext cx="3842800" cy="13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0" i="0">
                <a:solidFill>
                  <a:srgbClr val="3AEDE5"/>
                </a:solidFill>
                <a:latin typeface="Alegreya Sans"/>
              </a:rPr>
              <a:t>Livia</a:t>
            </a:r>
          </a:p>
          <a:p>
            <a:pPr>
              <a:spcBef>
                <a:spcPts val="0"/>
              </a:spcBef>
            </a:pPr>
            <a:r>
              <a:rPr sz="3200" b="1" i="0">
                <a:solidFill>
                  <a:srgbClr val="3AEDE5"/>
                </a:solidFill>
                <a:latin typeface="Alegreya Sans"/>
              </a:rPr>
              <a:t>BONHOURE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28600" y="300000"/>
            <a:ext cx="5963400" cy="8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400" b="1" i="0">
                <a:solidFill>
                  <a:srgbClr val="FFFFFF"/>
                </a:solidFill>
                <a:latin typeface="Alegreya Sans"/>
              </a:rPr>
              <a:t>Consultante Stratégie &amp; Innovation (suite)</a:t>
            </a:r>
          </a:p>
          <a:p>
            <a:pPr>
              <a:spcBef>
                <a:spcPts val="200"/>
              </a:spcBef>
            </a:pPr>
            <a:r>
              <a:rPr sz="1500" b="0" i="1">
                <a:solidFill>
                  <a:srgbClr val="3AEDE5"/>
                </a:solidFill>
                <a:latin typeface="Alegreya Sans"/>
              </a:rPr>
              <a:t>Stratégie, transformation &amp; intelligence collective — Retail, Luxe, Santé, FMCG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28600" y="1180000"/>
            <a:ext cx="3842800" cy="5318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 i="0">
                <a:solidFill>
                  <a:srgbClr val="3AEDE5"/>
                </a:solidFill>
                <a:latin typeface="Alegreya Sans"/>
              </a:rPr>
              <a:t>DOMAINES D'EXPERTISE</a:t>
            </a:r>
          </a:p>
          <a:p>
            <a:pPr algn="l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•  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Stratégie &amp; plans stratégiques à 3 ans</a:t>
            </a:r>
          </a:p>
          <a:p>
            <a:pPr algn="l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•  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Gestion de projet &amp; PMO</a:t>
            </a:r>
          </a:p>
          <a:p>
            <a:pPr algn="l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•  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Innovation &amp; facilitation (design thinking, double diamant)</a:t>
            </a:r>
          </a:p>
          <a:p>
            <a:pPr algn="l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•  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Business développement &amp; partenariats</a:t>
            </a:r>
          </a:p>
          <a:p>
            <a:pPr algn="l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•  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Études de marché &amp; due diligences</a:t>
            </a:r>
          </a:p>
          <a:p>
            <a:pPr algn="l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•  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Coaching, créativité &amp; neurodiversité</a:t>
            </a:r>
          </a:p>
          <a:p>
            <a:pPr algn="l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•  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Marketing digital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28600" y="1180000"/>
            <a:ext cx="7434800" cy="5318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 i="0">
                <a:solidFill>
                  <a:srgbClr val="3AEDE5"/>
                </a:solidFill>
                <a:latin typeface="Alegreya Sans"/>
              </a:rPr>
              <a:t>PRINCIPALES EXPÉRIENCES PROFESSIONNELLES (suite)</a:t>
            </a:r>
          </a:p>
          <a:p>
            <a:pPr algn="l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▸ </a:t>
            </a:r>
            <a:r>
              <a:rPr sz="1200" b="1" i="0">
                <a:solidFill>
                  <a:srgbClr val="FFFFFF"/>
                </a:solidFill>
                <a:latin typeface="Alegreya Sans"/>
              </a:rPr>
              <a:t>Fermiers du Sud-Ouest — FMCG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 — Redéfinition de la stratégie de marques et de distribution</a:t>
            </a:r>
            <a:r>
              <a:rPr sz="1200" b="0" i="1">
                <a:solidFill>
                  <a:srgbClr val="3AEDE5"/>
                </a:solidFill>
                <a:latin typeface="Alegreya Sans"/>
              </a:rPr>
              <a:t>  (5 mois)</a:t>
            </a:r>
          </a:p>
          <a:p>
            <a:pPr algn="l" lvl="1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•  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Interviews des membres du Comex, analyses de marché et benchmark externe, analyse de la performance marketing, commerciale et financière.</a:t>
            </a:r>
          </a:p>
          <a:p>
            <a:pPr algn="l" lvl="1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•  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Définition, scoring et modélisation de scénarios d'optimisation de la performance, revue de la gouvernance ; animation des comités de pilotage et management de 2 consultants.</a:t>
            </a:r>
          </a:p>
          <a:p>
            <a:pPr algn="l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▸ </a:t>
            </a:r>
            <a:r>
              <a:rPr sz="1200" b="1" i="0">
                <a:solidFill>
                  <a:srgbClr val="FFFFFF"/>
                </a:solidFill>
                <a:latin typeface="Alegreya Sans"/>
              </a:rPr>
              <a:t>Groupe Novoferm France — Retail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 — Plan stratégique à 3 ans</a:t>
            </a:r>
            <a:r>
              <a:rPr sz="1200" b="0" i="1">
                <a:solidFill>
                  <a:srgbClr val="3AEDE5"/>
                </a:solidFill>
                <a:latin typeface="Alegreya Sans"/>
              </a:rPr>
              <a:t>  (3 mois)</a:t>
            </a:r>
          </a:p>
          <a:p>
            <a:pPr algn="l" lvl="1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•  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Interviews du Comex, entretiens experts, enquête client, benchmark externe et analyses de marché ; identification d'opportunités de croissance.</a:t>
            </a:r>
          </a:p>
          <a:p>
            <a:pPr algn="l" lvl="1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•  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Définition de la vision cible et des projets prioritaires, structuration de la roadmap à 3 ans, animation de workshops avec le Comex.</a:t>
            </a:r>
          </a:p>
          <a:p>
            <a:pPr algn="l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▸ </a:t>
            </a:r>
            <a:r>
              <a:rPr sz="1200" b="1" i="0">
                <a:solidFill>
                  <a:srgbClr val="FFFFFF"/>
                </a:solidFill>
                <a:latin typeface="Alegreya Sans"/>
              </a:rPr>
              <a:t>Sodexo France — Retail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 — Projet de réorganisation</a:t>
            </a:r>
            <a:r>
              <a:rPr sz="1200" b="0" i="1">
                <a:solidFill>
                  <a:srgbClr val="3AEDE5"/>
                </a:solidFill>
                <a:latin typeface="Alegreya Sans"/>
              </a:rPr>
              <a:t>  (2 mois)</a:t>
            </a:r>
          </a:p>
          <a:p>
            <a:pPr algn="l" lvl="1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•  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Interviews des membres du Comex, analyses de marché par segment client (besoins clients, roads to market, go to market) et revue de la stratégie de portefeuille de marques.</a:t>
            </a:r>
          </a:p>
          <a:p>
            <a:pPr algn="l" lvl="1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•  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Participation à la définition des priorités stratégiques, de la nouvelle organisation et des feuilles de route associées ; PMO du projet et animation d'ateliers avec le Comex.</a:t>
            </a:r>
          </a:p>
          <a:p>
            <a:pPr algn="l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▸ </a:t>
            </a:r>
            <a:r>
              <a:rPr sz="1200" b="1" i="0">
                <a:solidFill>
                  <a:srgbClr val="FFFFFF"/>
                </a:solidFill>
                <a:latin typeface="Alegreya Sans"/>
              </a:rPr>
              <a:t>Carrefour France — Retail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 — Préparation du plan stratégique</a:t>
            </a:r>
            <a:r>
              <a:rPr sz="1200" b="0" i="1">
                <a:solidFill>
                  <a:srgbClr val="3AEDE5"/>
                </a:solidFill>
                <a:latin typeface="Alegreya Sans"/>
              </a:rPr>
              <a:t>  (1 mois)</a:t>
            </a:r>
          </a:p>
          <a:p>
            <a:pPr algn="l" lvl="1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•  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Analyses de marché et des tendances de consommation, revue de la performance de Carrefour et de ses principaux concurrents.</a:t>
            </a:r>
          </a:p>
          <a:p>
            <a:pPr algn="l" lvl="1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•  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Définition d'une stratégie à 3 ans : storytelling, compilation de documents internes, interviews des directeurs de BU.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578000"/>
            <a:ext cx="12192000" cy="280000"/>
          </a:xfrm>
          <a:prstGeom prst="rect">
            <a:avLst/>
          </a:prstGeom>
          <a:solidFill>
            <a:srgbClr val="061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28600" y="6578000"/>
            <a:ext cx="11734800" cy="28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00" b="0" i="1">
                <a:solidFill>
                  <a:srgbClr val="CCD6E8"/>
                </a:solidFill>
                <a:latin typeface="Alegreya Sans"/>
              </a:rPr>
              <a:t>Les informations de ce document sont strictement confidentielles — Ce document ne peut être partagé qu'avec l'accord de son propriétaire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61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300000" y="0"/>
            <a:ext cx="15000" cy="6858000"/>
          </a:xfrm>
          <a:prstGeom prst="rect">
            <a:avLst/>
          </a:prstGeom>
          <a:solidFill>
            <a:srgbClr val="3AED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inside_circle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60000" y="130000"/>
            <a:ext cx="1302000" cy="420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28600" y="240000"/>
            <a:ext cx="3842800" cy="13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0" i="0">
                <a:solidFill>
                  <a:srgbClr val="3AEDE5"/>
                </a:solidFill>
                <a:latin typeface="Alegreya Sans"/>
              </a:rPr>
              <a:t>Livia</a:t>
            </a:r>
          </a:p>
          <a:p>
            <a:pPr>
              <a:spcBef>
                <a:spcPts val="0"/>
              </a:spcBef>
            </a:pPr>
            <a:r>
              <a:rPr sz="3200" b="1" i="0">
                <a:solidFill>
                  <a:srgbClr val="3AEDE5"/>
                </a:solidFill>
                <a:latin typeface="Alegreya Sans"/>
              </a:rPr>
              <a:t>BONHOURE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28600" y="300000"/>
            <a:ext cx="5963400" cy="8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400" b="1" i="0">
                <a:solidFill>
                  <a:srgbClr val="FFFFFF"/>
                </a:solidFill>
                <a:latin typeface="Alegreya Sans"/>
              </a:rPr>
              <a:t>Consultante Stratégie &amp; Innovation (suite)</a:t>
            </a:r>
          </a:p>
          <a:p>
            <a:pPr>
              <a:spcBef>
                <a:spcPts val="200"/>
              </a:spcBef>
            </a:pPr>
            <a:r>
              <a:rPr sz="1500" b="0" i="1">
                <a:solidFill>
                  <a:srgbClr val="3AEDE5"/>
                </a:solidFill>
                <a:latin typeface="Alegreya Sans"/>
              </a:rPr>
              <a:t>Stratégie, transformation &amp; intelligence collective — Retail, Luxe, Santé, FMCG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28600" y="1180000"/>
            <a:ext cx="3842800" cy="5318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 i="0">
                <a:solidFill>
                  <a:srgbClr val="3AEDE5"/>
                </a:solidFill>
                <a:latin typeface="Alegreya Sans"/>
              </a:rPr>
              <a:t>DOMAINES D'EXPERTISE</a:t>
            </a:r>
          </a:p>
          <a:p>
            <a:pPr algn="l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•  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Stratégie &amp; plans stratégiques à 3 ans</a:t>
            </a:r>
          </a:p>
          <a:p>
            <a:pPr algn="l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•  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Gestion de projet &amp; PMO</a:t>
            </a:r>
          </a:p>
          <a:p>
            <a:pPr algn="l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•  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Innovation &amp; facilitation (design thinking, double diamant)</a:t>
            </a:r>
          </a:p>
          <a:p>
            <a:pPr algn="l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•  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Business développement &amp; partenariats</a:t>
            </a:r>
          </a:p>
          <a:p>
            <a:pPr algn="l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•  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Études de marché &amp; due diligences</a:t>
            </a:r>
          </a:p>
          <a:p>
            <a:pPr algn="l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•  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Coaching, créativité &amp; neurodiversité</a:t>
            </a:r>
          </a:p>
          <a:p>
            <a:pPr algn="l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•  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Marketing digital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28600" y="1180000"/>
            <a:ext cx="7434800" cy="5318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 i="0">
                <a:solidFill>
                  <a:srgbClr val="3AEDE5"/>
                </a:solidFill>
                <a:latin typeface="Alegreya Sans"/>
              </a:rPr>
              <a:t>PRINCIPALES EXPÉRIENCES PROFESSIONNELLES (suite)</a:t>
            </a:r>
          </a:p>
          <a:p>
            <a:pPr algn="l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▸ </a:t>
            </a:r>
            <a:r>
              <a:rPr sz="1200" b="1" i="0">
                <a:solidFill>
                  <a:srgbClr val="FFFFFF"/>
                </a:solidFill>
                <a:latin typeface="Alegreya Sans"/>
              </a:rPr>
              <a:t>Renovation Man — Proptech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 — Head of Strategic Partnerships</a:t>
            </a:r>
            <a:r>
              <a:rPr sz="1200" b="0" i="1">
                <a:solidFill>
                  <a:srgbClr val="3AEDE5"/>
                </a:solidFill>
                <a:latin typeface="Alegreya Sans"/>
              </a:rPr>
              <a:t>  (2019 — 2022 · 2,5 ans)</a:t>
            </a:r>
          </a:p>
          <a:p>
            <a:pPr algn="l" lvl="1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•  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Structuration du pôle partenariat : définition du rôle et du périmètre, process de traitement et de suivi des demandes clients partenaires, outils, reporting auprès du CEO.</a:t>
            </a:r>
          </a:p>
          <a:p>
            <a:pPr algn="l" lvl="1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•  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Stratégie de développement des partenariats : ciblage, approche, négociation, animation et suivi — nombre de partenaires ×6 et nombre de demandes clients ×10.</a:t>
            </a:r>
          </a:p>
          <a:p>
            <a:pPr algn="l" lvl="1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•  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Parcours de prescription pour les conseillers LCL : besoins en agence, parcours client adapté et pilotage du déploiement — demandes issues de la prescription ×3 sur 2020-21.</a:t>
            </a:r>
          </a:p>
          <a:p>
            <a:pPr algn="l" lvl="1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•  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Offres partenaires : Mon Chasseur Immo (travaux × investissement locatif, lancement en 6 régions, 10 % des demandes clients du partenaire en 2021) et Rhinov (parcours client commun, POC lancé en janvier 2022).</a:t>
            </a:r>
          </a:p>
          <a:p>
            <a:pPr algn="l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▸ </a:t>
            </a:r>
            <a:r>
              <a:rPr sz="1200" b="1" i="0">
                <a:solidFill>
                  <a:srgbClr val="FFFFFF"/>
                </a:solidFill>
                <a:latin typeface="Alegreya Sans"/>
              </a:rPr>
              <a:t>Groupe Baobab — Finance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 — Préparation d'un séminaire Comex</a:t>
            </a:r>
            <a:r>
              <a:rPr sz="1200" b="0" i="1">
                <a:solidFill>
                  <a:srgbClr val="3AEDE5"/>
                </a:solidFill>
                <a:latin typeface="Alegreya Sans"/>
              </a:rPr>
              <a:t>  (5 jours)</a:t>
            </a:r>
          </a:p>
          <a:p>
            <a:pPr algn="l" lvl="1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•  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Analyses de marché et benchmark externe, préparation d'ateliers de réflexion sur des sujets stratégiques (portefeuille produit, distribution, saisonnalité).</a:t>
            </a:r>
          </a:p>
          <a:p>
            <a:pPr algn="l" lvl="1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•  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Revue de la stratégie digitale d'acquisition client.</a:t>
            </a:r>
          </a:p>
          <a:p>
            <a:pPr algn="l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▸ </a:t>
            </a:r>
            <a:r>
              <a:rPr sz="1200" b="1" i="0">
                <a:solidFill>
                  <a:srgbClr val="FFFFFF"/>
                </a:solidFill>
                <a:latin typeface="Alegreya Sans"/>
              </a:rPr>
              <a:t>Future Agency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 — Construction et facilitation d'ateliers d'intelligence collective</a:t>
            </a:r>
            <a:r>
              <a:rPr sz="1200" b="0" i="1">
                <a:solidFill>
                  <a:srgbClr val="3AEDE5"/>
                </a:solidFill>
                <a:latin typeface="Alegreya Sans"/>
              </a:rPr>
              <a:t>  (1 an)</a:t>
            </a:r>
          </a:p>
          <a:p>
            <a:pPr algn="l" lvl="1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•  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Préparation (objectifs, supports, livrables) et animation d'ateliers pour des start-ups et organismes publics dans l'assurance, le transport, l'immobilier, le luxe et la santé.</a:t>
            </a:r>
          </a:p>
          <a:p>
            <a:pPr algn="l" lvl="1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•  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Mobilisation de diverses méthodes d'intelligence collective : design thinking, double diamant.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578000"/>
            <a:ext cx="12192000" cy="280000"/>
          </a:xfrm>
          <a:prstGeom prst="rect">
            <a:avLst/>
          </a:prstGeom>
          <a:solidFill>
            <a:srgbClr val="061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28600" y="6578000"/>
            <a:ext cx="11734800" cy="28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00" b="0" i="1">
                <a:solidFill>
                  <a:srgbClr val="CCD6E8"/>
                </a:solidFill>
                <a:latin typeface="Alegreya Sans"/>
              </a:rPr>
              <a:t>Les informations de ce document sont strictement confidentielles — Ce document ne peut être partagé qu'avec l'accord de son propriétaire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61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300000" y="0"/>
            <a:ext cx="15000" cy="6858000"/>
          </a:xfrm>
          <a:prstGeom prst="rect">
            <a:avLst/>
          </a:prstGeom>
          <a:solidFill>
            <a:srgbClr val="3AED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inside_circle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60000" y="130000"/>
            <a:ext cx="1302000" cy="420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28600" y="240000"/>
            <a:ext cx="3842800" cy="13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0" i="0">
                <a:solidFill>
                  <a:srgbClr val="3AEDE5"/>
                </a:solidFill>
                <a:latin typeface="Alegreya Sans"/>
              </a:rPr>
              <a:t>Livia</a:t>
            </a:r>
          </a:p>
          <a:p>
            <a:pPr>
              <a:spcBef>
                <a:spcPts val="0"/>
              </a:spcBef>
            </a:pPr>
            <a:r>
              <a:rPr sz="3200" b="1" i="0">
                <a:solidFill>
                  <a:srgbClr val="3AEDE5"/>
                </a:solidFill>
                <a:latin typeface="Alegreya Sans"/>
              </a:rPr>
              <a:t>BONHOURE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28600" y="300000"/>
            <a:ext cx="5963400" cy="8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400" b="1" i="0">
                <a:solidFill>
                  <a:srgbClr val="FFFFFF"/>
                </a:solidFill>
                <a:latin typeface="Alegreya Sans"/>
              </a:rPr>
              <a:t>Consultante Stratégie &amp; Innovation (suite)</a:t>
            </a:r>
          </a:p>
          <a:p>
            <a:pPr>
              <a:spcBef>
                <a:spcPts val="200"/>
              </a:spcBef>
            </a:pPr>
            <a:r>
              <a:rPr sz="1500" b="0" i="1">
                <a:solidFill>
                  <a:srgbClr val="3AEDE5"/>
                </a:solidFill>
                <a:latin typeface="Alegreya Sans"/>
              </a:rPr>
              <a:t>Stratégie, transformation &amp; intelligence collective — Retail, Luxe, Santé, FMCG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28600" y="1180000"/>
            <a:ext cx="3842800" cy="5318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 i="0">
                <a:solidFill>
                  <a:srgbClr val="3AEDE5"/>
                </a:solidFill>
                <a:latin typeface="Alegreya Sans"/>
              </a:rPr>
              <a:t>DOMAINES D'EXPERTISE</a:t>
            </a:r>
          </a:p>
          <a:p>
            <a:pPr algn="l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•  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Stratégie &amp; plans stratégiques à 3 ans</a:t>
            </a:r>
          </a:p>
          <a:p>
            <a:pPr algn="l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•  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Gestion de projet &amp; PMO</a:t>
            </a:r>
          </a:p>
          <a:p>
            <a:pPr algn="l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•  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Innovation &amp; facilitation (design thinking, double diamant)</a:t>
            </a:r>
          </a:p>
          <a:p>
            <a:pPr algn="l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•  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Business développement &amp; partenariats</a:t>
            </a:r>
          </a:p>
          <a:p>
            <a:pPr algn="l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•  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Études de marché &amp; due diligences</a:t>
            </a:r>
          </a:p>
          <a:p>
            <a:pPr algn="l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•  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Coaching, créativité &amp; neurodiversité</a:t>
            </a:r>
          </a:p>
          <a:p>
            <a:pPr algn="l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•  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Marketing digital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28600" y="1180000"/>
            <a:ext cx="7434800" cy="5318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 i="0">
                <a:solidFill>
                  <a:srgbClr val="3AEDE5"/>
                </a:solidFill>
                <a:latin typeface="Alegreya Sans"/>
              </a:rPr>
              <a:t>PRINCIPALES EXPÉRIENCES PROFESSIONNELLES (suite)</a:t>
            </a:r>
          </a:p>
          <a:p>
            <a:pPr algn="l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▸ </a:t>
            </a:r>
            <a:r>
              <a:rPr sz="1200" b="1" i="0">
                <a:solidFill>
                  <a:srgbClr val="FFFFFF"/>
                </a:solidFill>
                <a:latin typeface="Alegreya Sans"/>
              </a:rPr>
              <a:t>EY-Parthenon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 — Senior Associate Consultant</a:t>
            </a:r>
            <a:r>
              <a:rPr sz="1200" b="0" i="1">
                <a:solidFill>
                  <a:srgbClr val="3AEDE5"/>
                </a:solidFill>
                <a:latin typeface="Alegreya Sans"/>
              </a:rPr>
              <a:t>  (2018 — 2019)</a:t>
            </a:r>
          </a:p>
          <a:p>
            <a:pPr algn="l" lvl="1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•  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Création d'un projet interne de culture d'entreprise pour promouvoir la diversité et l'inclusion : outils de diagnostic et d'ouverture du dialogue.</a:t>
            </a:r>
          </a:p>
          <a:p>
            <a:pPr algn="l" lvl="1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•  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Définition et mise en place d'un comité de traitement des comportements non inclusifs et d'un parcours de formation / coaching.</a:t>
            </a:r>
          </a:p>
          <a:p>
            <a:pPr algn="l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▸ </a:t>
            </a:r>
            <a:r>
              <a:rPr sz="1200" b="1" i="0">
                <a:solidFill>
                  <a:srgbClr val="FFFFFF"/>
                </a:solidFill>
                <a:latin typeface="Alegreya Sans"/>
              </a:rPr>
              <a:t>Due diligences pour des fonds de Private Equity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 — L.E.K. puis missions indépendantes</a:t>
            </a:r>
            <a:r>
              <a:rPr sz="1200" b="0" i="1">
                <a:solidFill>
                  <a:srgbClr val="3AEDE5"/>
                </a:solidFill>
                <a:latin typeface="Alegreya Sans"/>
              </a:rPr>
              <a:t>  (2016 — 2018 et depuis 2022)</a:t>
            </a:r>
          </a:p>
          <a:p>
            <a:pPr algn="l" lvl="1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•  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Santé : évaluation de l'attractivité de Lagarrigue (appareillage orthopédique) et de Fasonut (nutrition artificielle) — entretiens experts fabricants, orthopédistes, Big Pharmas, hôpitaux.</a:t>
            </a:r>
          </a:p>
          <a:p>
            <a:pPr algn="l" lvl="1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•  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Industrie &amp; BTP : Gerflor (modélisation de marché par verticale santé / éducation / logement social), Mecatherm (tendances boulangerie Europe et Amérique du Nord), Groupe CIR (dispositifs de défiscalisation, revue du business plan), Revima (aéronautique, maintenance).</a:t>
            </a:r>
          </a:p>
          <a:p>
            <a:pPr algn="l" lvl="1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•  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Retail, beauté &amp; télécom : ECF, Moustache (store-checks vélo, management d'une stagiaire), Liérac (marché cosmétique anti-âge, store-checks pharmacies), Evernex (modélisation du marché de la maintenance serveurs et data centers).</a:t>
            </a:r>
          </a:p>
          <a:p>
            <a:pPr algn="l" lvl="1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•  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Méthodologie transverse : entretiens experts, analyses quantitatives et qualitatives de marché, benchmark externe, mapping des processus d'achat clients.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578000"/>
            <a:ext cx="12192000" cy="280000"/>
          </a:xfrm>
          <a:prstGeom prst="rect">
            <a:avLst/>
          </a:prstGeom>
          <a:solidFill>
            <a:srgbClr val="061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28600" y="6578000"/>
            <a:ext cx="11734800" cy="28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00" b="0" i="1">
                <a:solidFill>
                  <a:srgbClr val="CCD6E8"/>
                </a:solidFill>
                <a:latin typeface="Alegreya Sans"/>
              </a:rPr>
              <a:t>Les informations de ce document sont strictement confidentielles — Ce document ne peut être partagé qu'avec l'accord de son propriétaire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