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00000" y="0"/>
            <a:ext cx="15000" cy="6858000"/>
          </a:xfrm>
          <a:prstGeom prst="rect">
            <a:avLst/>
          </a:prstGeom>
          <a:solidFill>
            <a:srgbClr val="3AE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nside_circl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0000" y="130000"/>
            <a:ext cx="1302000" cy="42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240000"/>
            <a:ext cx="3842800" cy="1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800" b="1" i="0">
                <a:solidFill>
                  <a:srgbClr val="3AEDE5"/>
                </a:solidFill>
                <a:latin typeface="Alegreya Sans"/>
              </a:rPr>
              <a:t>A.A.D.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28600" y="300000"/>
            <a:ext cx="596340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Alegreya Sans"/>
              </a:rPr>
              <a:t>Expert Conformité &amp; Distribution d'Assurances</a:t>
            </a:r>
          </a:p>
          <a:p>
            <a:pPr>
              <a:spcBef>
                <a:spcPts val="200"/>
              </a:spcBef>
            </a:pPr>
            <a:r>
              <a:rPr sz="1500" b="0" i="1">
                <a:solidFill>
                  <a:srgbClr val="3AEDE5"/>
                </a:solidFill>
                <a:latin typeface="Alegreya Sans"/>
              </a:rPr>
              <a:t>Conformité &amp; transformation — DDA, LCB-FT, loi Lemoine, RGPD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1180000"/>
            <a:ext cx="3842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DOMAINES D'EXPERTISE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Conformité : DDA, devoir de conseil, loi Eckert, LCB-FT, loi Lemoine, RGPD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Protection de la clientèle &amp; pratiques commerciales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Plans de contrôle &amp; maîtrise des risques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Diagnostic d'écarts &amp; plans de remédiation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Direction de programme &amp; digitalisation des parcours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LANGUES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Français — Langue maternelle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Anglais — Courant (C1)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Espagnol — Courant (B2)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Turc — Bilingue (C1)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FORMATION &amp; CERTIFICATIONS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2009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Université Paris XI Sud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Master II Droit International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2008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Université Paris II Panthéon-Assas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Master Sciences de Gestion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CENTRES D'INTÉRÊT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Flûte traversière — concertiste (Orchestre Colonne)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Voyages (Moyen-Orient, Amérique latine)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ENGAGEMENTS &amp; RÉALISATIONS</a:t>
            </a:r>
          </a:p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Intervenant — École Supérieure de la Banque</a:t>
            </a:r>
            <a:r>
              <a:rPr sz="1200" b="0" i="1">
                <a:solidFill>
                  <a:srgbClr val="CCD6E8"/>
                </a:solidFill>
                <a:latin typeface="Alegreya Sans"/>
              </a:rPr>
              <a:t> — Formation à la distribution d'assurances &amp; conformité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8600" y="1180000"/>
            <a:ext cx="7434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RÉSUMÉ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FFFFFF"/>
                </a:solidFill>
                <a:latin typeface="Alegreya Sans"/>
              </a:rPr>
              <a:t>Expert en conformité spécialisé en distribution de produits d'assurances, 15 ans en direction de programmes, digitalisation des processus et mise en conformité des offres et des parcours, en environnement régulé.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PRINCIPALES EXPÉRIENCES PROFESSIONNELLES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Consultant Indépendant — Expert en Assurances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Conseil en conformité &amp; distribution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(Depuis 2024)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Animation FG2A sur l'assurance affinitaire (gouvernance produit, devoir de conseil) : ateliers avec Kereis, la Médiation de l'Assurance, CNP Assurances.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Conseil chez BNP Paribas : transformation « Trust Companion » (2 000 ETP) ; fondateur d'une plateforme de formation 15h DDA pour les distributeurs.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Banque Française Mutualiste — Direction des Opérations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Responsable des Partenariats et des Projets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(Mars 2022 — Sept. 2024)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Direction de programme, appel d'offres pour le choix du nouvel assureur, digitalisation des parcours d'adhésion (75% de taux de transformation).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Animation des réseaux partenaires (15 mutuelles de la fonction publique) ; management du Back Office Assurances.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BPCE Lease — Direction de l'Expérience Client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Directeur de Programme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(Août 2019 — Mars 2022)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Conception et mise en marché d'offres assurances, digitalisation et conformité des parcours (DDA, RGPD) ; taux d'équipement de 88% atteint.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Animation / formation des réseaux (29 établissements bancaires du Groupe), veille concurrentielle, pilotage commercial.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RÉFÉRENCES</a:t>
            </a:r>
          </a:p>
          <a:p>
            <a:pPr algn="l">
              <a:spcAft>
                <a:spcPts val="200"/>
              </a:spcAft>
            </a:pPr>
            <a:r>
              <a:rPr sz="1200" b="0" i="1">
                <a:solidFill>
                  <a:srgbClr val="FFFFFF"/>
                </a:solidFill>
                <a:latin typeface="Alegreya Sans"/>
              </a:rPr>
              <a:t>SOGECAP (SG), Natixis Assurances, MGEN, AXA France, Groupama, CNP Assurances, La Banque Postale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78000"/>
            <a:ext cx="12192000" cy="280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6578000"/>
            <a:ext cx="117348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CCD6E8"/>
                </a:solidFill>
                <a:latin typeface="Alegreya Sans"/>
              </a:rPr>
              <a:t>Les informations de ce document sont strictement confidentielles — Ce document ne peut être partagé qu'avec l'accord de son propriétaire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00000" y="0"/>
            <a:ext cx="15000" cy="6858000"/>
          </a:xfrm>
          <a:prstGeom prst="rect">
            <a:avLst/>
          </a:prstGeom>
          <a:solidFill>
            <a:srgbClr val="3AE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nside_circl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0000" y="130000"/>
            <a:ext cx="1302000" cy="42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240000"/>
            <a:ext cx="3842800" cy="1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800" b="1" i="0">
                <a:solidFill>
                  <a:srgbClr val="3AEDE5"/>
                </a:solidFill>
                <a:latin typeface="Alegreya Sans"/>
              </a:rPr>
              <a:t>A.A.D.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28600" y="300000"/>
            <a:ext cx="596340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Alegreya Sans"/>
              </a:rPr>
              <a:t>Insurance Compliance &amp; Distribution Expert</a:t>
            </a:r>
          </a:p>
          <a:p>
            <a:pPr>
              <a:spcBef>
                <a:spcPts val="200"/>
              </a:spcBef>
            </a:pPr>
            <a:r>
              <a:rPr sz="1500" b="0" i="1">
                <a:solidFill>
                  <a:srgbClr val="3AEDE5"/>
                </a:solidFill>
                <a:latin typeface="Alegreya Sans"/>
              </a:rPr>
              <a:t>Compliance &amp; transformation — IDD, AML-CFT, consumer law, GDPR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1180000"/>
            <a:ext cx="3842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MAIN AREAS OF EXPERTISE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Compliance: IDD, duty to advise, Eckert &amp; Lemoine laws, AML-CFT, GDPR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Customer protection &amp; commercial practices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Control plans &amp; risk-mitigation frameworks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Gap analysis &amp; remediation plans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Program management &amp; journey digitization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LANGUAGES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French — Native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English — Fluent (C1)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Spanish — Fluent (B2)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Turkish — Bilingual (C1)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EDUCATION &amp; CERTIFICATIONS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2009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Université Paris XI Sud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Master II International Law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2008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Université Paris II Panthéon-Assas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Master in Management Sciences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INTERESTS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Concert flutist — Orchestre Colonne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Travel (Middle East, Latin America)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ENGAGEMENTS &amp; ACHIEVEMENTS</a:t>
            </a:r>
          </a:p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Lecturer — École Supérieure de la Banque</a:t>
            </a:r>
            <a:r>
              <a:rPr sz="1200" b="0" i="1">
                <a:solidFill>
                  <a:srgbClr val="CCD6E8"/>
                </a:solidFill>
                <a:latin typeface="Alegreya Sans"/>
              </a:rPr>
              <a:t> — Teaching on insurance distribution &amp; compliance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8600" y="1180000"/>
            <a:ext cx="7434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SUMMARY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FFFFFF"/>
                </a:solidFill>
                <a:latin typeface="Alegreya Sans"/>
              </a:rPr>
              <a:t>Compliance expert specialized in insurance-product distribution, 15 years leading programs, process digitization and the compliance of offers and customer journeys in regulated environments.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MAIN PROFESSIONAL EXPERIENCE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Independent Consultant — Insurance Expert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Compliance &amp; distribution advisory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(Since 2024)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Led FG2A work on affinity insurance (product governance, duty to advise): workshops with Kereis, the Insurance Ombudsman and CNP Assurances.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Advisory at BNP Paribas: transformation of the 'Trust Companion' approach (2,000 FTEs); founder of a 15-hour IDD training platform for distributors.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Banque Française Mutualiste — Operations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Head of Partnerships and Projects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(March 2022 — Sept. 2024)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Program management, RFP for the choice of the new insurer, digitization of onboarding journeys (75% conversion rate).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Management of partner networks (15 public-sector mutuals); management of the Insurance Back Office.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BPCE Lease — Customer Experience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Program Director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(Aug. 2019 — March 2022)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Design and go-to-market of new insurance offers, digitization and compliance of journeys (IDD, GDPR); 88% equipment rate achieved.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Network training &amp; animation (29 of the Group's banks), competitive watch, commercial steering.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MAIN REFERENCES</a:t>
            </a:r>
          </a:p>
          <a:p>
            <a:pPr algn="l">
              <a:spcAft>
                <a:spcPts val="200"/>
              </a:spcAft>
            </a:pPr>
            <a:r>
              <a:rPr sz="1200" b="0" i="1">
                <a:solidFill>
                  <a:srgbClr val="FFFFFF"/>
                </a:solidFill>
                <a:latin typeface="Alegreya Sans"/>
              </a:rPr>
              <a:t>SOGECAP (SG), Natixis Assurances, MGEN, AXA France, Groupama, CNP Assurances, La Banque Postale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78000"/>
            <a:ext cx="12192000" cy="280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6578000"/>
            <a:ext cx="117348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CCD6E8"/>
                </a:solidFill>
                <a:latin typeface="Alegreya Sans"/>
              </a:rPr>
              <a:t>The information in this document is strictly confidential — This document may only be shared with the owner's consent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