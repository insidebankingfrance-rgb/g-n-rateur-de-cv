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61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300000" y="0"/>
            <a:ext cx="15000" cy="6858000"/>
          </a:xfrm>
          <a:prstGeom prst="rect">
            <a:avLst/>
          </a:prstGeom>
          <a:solidFill>
            <a:srgbClr val="3AE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nside_circle_logo.png"/>
          <p:cNvPicPr>
            <a:picLocks noChangeAspect="1"/>
          </p:cNvPicPr>
          <p:nvPr/>
        </p:nvPicPr>
        <p:blipFill>
          <a:blip r:embed="rId2"/>
          <a:stretch>
            <a:fillRect/>
          </a:stretch>
        </p:blipFill>
        <p:spPr>
          <a:xfrm>
            <a:off x="10660000" y="130000"/>
            <a:ext cx="1302000" cy="420000"/>
          </a:xfrm>
          <a:prstGeom prst="rect">
            <a:avLst/>
          </a:prstGeom>
        </p:spPr>
      </p:pic>
      <p:sp>
        <p:nvSpPr>
          <p:cNvPr id="5" name="TextBox 4"/>
          <p:cNvSpPr txBox="1"/>
          <p:nvPr/>
        </p:nvSpPr>
        <p:spPr>
          <a:xfrm>
            <a:off x="228600" y="240000"/>
            <a:ext cx="3842800" cy="1300000"/>
          </a:xfrm>
          <a:prstGeom prst="rect">
            <a:avLst/>
          </a:prstGeom>
          <a:noFill/>
        </p:spPr>
        <p:txBody>
          <a:bodyPr wrap="square" lIns="0" rIns="0" tIns="0" bIns="0">
            <a:spAutoFit/>
          </a:bodyPr>
          <a:lstStyle/>
          <a:p>
            <a:pPr algn="l"/>
            <a:r>
              <a:rPr sz="2800" b="0" i="0">
                <a:solidFill>
                  <a:srgbClr val="3AEDE5"/>
                </a:solidFill>
                <a:latin typeface="Alegreya Sans"/>
              </a:rPr>
              <a:t>Dorian</a:t>
            </a:r>
          </a:p>
          <a:p>
            <a:pPr>
              <a:spcBef>
                <a:spcPts val="0"/>
              </a:spcBef>
            </a:pPr>
            <a:r>
              <a:rPr sz="3200" b="1" i="0">
                <a:solidFill>
                  <a:srgbClr val="3AEDE5"/>
                </a:solidFill>
                <a:latin typeface="Alegreya Sans"/>
              </a:rPr>
              <a:t>PREVOST</a:t>
            </a:r>
          </a:p>
        </p:txBody>
      </p:sp>
      <p:sp>
        <p:nvSpPr>
          <p:cNvPr id="6" name="TextBox 5"/>
          <p:cNvSpPr txBox="1"/>
          <p:nvPr/>
        </p:nvSpPr>
        <p:spPr>
          <a:xfrm>
            <a:off x="4528600" y="300000"/>
            <a:ext cx="5963400" cy="800000"/>
          </a:xfrm>
          <a:prstGeom prst="rect">
            <a:avLst/>
          </a:prstGeom>
          <a:noFill/>
        </p:spPr>
        <p:txBody>
          <a:bodyPr wrap="square" lIns="0" rIns="0" tIns="0" bIns="0">
            <a:spAutoFit/>
          </a:bodyPr>
          <a:lstStyle/>
          <a:p>
            <a:r>
              <a:rPr sz="2400" b="1" i="0">
                <a:solidFill>
                  <a:srgbClr val="FFFFFF"/>
                </a:solidFill>
                <a:latin typeface="Alegreya Sans"/>
              </a:rPr>
              <a:t>Senior Manager — Conseil Services Financiers</a:t>
            </a:r>
          </a:p>
          <a:p>
            <a:pPr>
              <a:spcBef>
                <a:spcPts val="200"/>
              </a:spcBef>
            </a:pPr>
            <a:r>
              <a:rPr sz="1500" b="0" i="1">
                <a:solidFill>
                  <a:srgbClr val="3AEDE5"/>
                </a:solidFill>
                <a:latin typeface="Alegreya Sans"/>
              </a:rPr>
              <a:t>Fraude, LCB-FT &amp; Paiements — Certifié CAMS &amp; CCAS</a:t>
            </a:r>
          </a:p>
        </p:txBody>
      </p:sp>
      <p:sp>
        <p:nvSpPr>
          <p:cNvPr id="7" name="TextBox 6"/>
          <p:cNvSpPr txBox="1"/>
          <p:nvPr/>
        </p:nvSpPr>
        <p:spPr>
          <a:xfrm>
            <a:off x="228600" y="1180000"/>
            <a:ext cx="3842800" cy="5318000"/>
          </a:xfrm>
          <a:prstGeom prst="rect">
            <a:avLst/>
          </a:prstGeom>
          <a:noFill/>
        </p:spPr>
        <p:txBody>
          <a:bodyPr wrap="square" lIns="0" rIns="0" tIns="0" bIns="0">
            <a:spAutoFit/>
          </a:bodyPr>
          <a:lstStyle/>
          <a:p>
            <a:pPr algn="l">
              <a:spcAft>
                <a:spcPts val="300"/>
              </a:spcAft>
            </a:pPr>
            <a:r>
              <a:rPr sz="1300" b="1" i="0">
                <a:solidFill>
                  <a:srgbClr val="3AEDE5"/>
                </a:solidFill>
                <a:latin typeface="Alegreya Sans"/>
              </a:rPr>
              <a:t>DOMAINES D'EXPERTISE</a:t>
            </a:r>
          </a:p>
          <a:p>
            <a:pPr algn="l">
              <a:spcAft>
                <a:spcPts val="100"/>
              </a:spcAft>
            </a:pPr>
            <a:r>
              <a:rPr sz="1200" b="1" i="0">
                <a:solidFill>
                  <a:srgbClr val="3AEDE5"/>
                </a:solidFill>
                <a:latin typeface="Alegreya Sans"/>
              </a:rPr>
              <a:t>•  </a:t>
            </a:r>
            <a:r>
              <a:rPr sz="1200" b="0" i="0">
                <a:solidFill>
                  <a:srgbClr val="FFFFFF"/>
                </a:solidFill>
                <a:latin typeface="Alegreya Sans"/>
              </a:rPr>
              <a:t>Dispositifs fraude &amp; LCB-FT (scénarios, TMS)</a:t>
            </a:r>
          </a:p>
          <a:p>
            <a:pPr algn="l">
              <a:spcAft>
                <a:spcPts val="100"/>
              </a:spcAft>
            </a:pPr>
            <a:r>
              <a:rPr sz="1200" b="1" i="0">
                <a:solidFill>
                  <a:srgbClr val="3AEDE5"/>
                </a:solidFill>
                <a:latin typeface="Alegreya Sans"/>
              </a:rPr>
              <a:t>•  </a:t>
            </a:r>
            <a:r>
              <a:rPr sz="1200" b="0" i="0">
                <a:solidFill>
                  <a:srgbClr val="FFFFFF"/>
                </a:solidFill>
                <a:latin typeface="Alegreya Sans"/>
              </a:rPr>
              <a:t>Paiements &amp; instant payment (WERO, ISO 20022)</a:t>
            </a:r>
          </a:p>
          <a:p>
            <a:pPr algn="l">
              <a:spcAft>
                <a:spcPts val="100"/>
              </a:spcAft>
            </a:pPr>
            <a:r>
              <a:rPr sz="1200" b="1" i="0">
                <a:solidFill>
                  <a:srgbClr val="3AEDE5"/>
                </a:solidFill>
                <a:latin typeface="Alegreya Sans"/>
              </a:rPr>
              <a:t>•  </a:t>
            </a:r>
            <a:r>
              <a:rPr sz="1200" b="0" i="0">
                <a:solidFill>
                  <a:srgbClr val="FFFFFF"/>
                </a:solidFill>
                <a:latin typeface="Alegreya Sans"/>
              </a:rPr>
              <a:t>Pilotage de programmes réglementaires (PMO)</a:t>
            </a:r>
          </a:p>
          <a:p>
            <a:pPr algn="l">
              <a:spcAft>
                <a:spcPts val="100"/>
              </a:spcAft>
            </a:pPr>
            <a:r>
              <a:rPr sz="1200" b="1" i="0">
                <a:solidFill>
                  <a:srgbClr val="3AEDE5"/>
                </a:solidFill>
                <a:latin typeface="Alegreya Sans"/>
              </a:rPr>
              <a:t>•  </a:t>
            </a:r>
            <a:r>
              <a:rPr sz="1200" b="0" i="0">
                <a:solidFill>
                  <a:srgbClr val="FFFFFF"/>
                </a:solidFill>
                <a:latin typeface="Alegreya Sans"/>
              </a:rPr>
              <a:t>Target Operating Model &amp; relations superviseurs</a:t>
            </a:r>
          </a:p>
          <a:p>
            <a:pPr algn="l">
              <a:spcAft>
                <a:spcPts val="100"/>
              </a:spcAft>
            </a:pPr>
            <a:r>
              <a:rPr sz="1200" b="1" i="0">
                <a:solidFill>
                  <a:srgbClr val="3AEDE5"/>
                </a:solidFill>
                <a:latin typeface="Alegreya Sans"/>
              </a:rPr>
              <a:t>•  </a:t>
            </a:r>
            <a:r>
              <a:rPr sz="1200" b="0" i="0">
                <a:solidFill>
                  <a:srgbClr val="FFFFFF"/>
                </a:solidFill>
                <a:latin typeface="Alegreya Sans"/>
              </a:rPr>
              <a:t>Stratégie produit &amp; business case</a:t>
            </a:r>
          </a:p>
          <a:p>
            <a:pPr algn="l">
              <a:spcBef>
                <a:spcPts val="600"/>
              </a:spcBef>
              <a:spcAft>
                <a:spcPts val="300"/>
              </a:spcAft>
            </a:pPr>
            <a:r>
              <a:rPr sz="1300" b="1" i="0">
                <a:solidFill>
                  <a:srgbClr val="3AEDE5"/>
                </a:solidFill>
                <a:latin typeface="Alegreya Sans"/>
              </a:rPr>
              <a:t>LANGUES</a:t>
            </a:r>
          </a:p>
          <a:p>
            <a:pPr algn="l">
              <a:spcAft>
                <a:spcPts val="100"/>
              </a:spcAft>
            </a:pPr>
            <a:r>
              <a:rPr sz="1200" b="1" i="0">
                <a:solidFill>
                  <a:srgbClr val="3AEDE5"/>
                </a:solidFill>
                <a:latin typeface="Alegreya Sans"/>
              </a:rPr>
              <a:t>•  </a:t>
            </a:r>
            <a:r>
              <a:rPr sz="1200" b="0" i="0">
                <a:solidFill>
                  <a:srgbClr val="FFFFFF"/>
                </a:solidFill>
                <a:latin typeface="Alegreya Sans"/>
              </a:rPr>
              <a:t>Français — Natif</a:t>
            </a:r>
          </a:p>
          <a:p>
            <a:pPr algn="l">
              <a:spcAft>
                <a:spcPts val="100"/>
              </a:spcAft>
            </a:pPr>
            <a:r>
              <a:rPr sz="1200" b="1" i="0">
                <a:solidFill>
                  <a:srgbClr val="3AEDE5"/>
                </a:solidFill>
                <a:latin typeface="Alegreya Sans"/>
              </a:rPr>
              <a:t>•  </a:t>
            </a:r>
            <a:r>
              <a:rPr sz="1200" b="0" i="0">
                <a:solidFill>
                  <a:srgbClr val="FFFFFF"/>
                </a:solidFill>
                <a:latin typeface="Alegreya Sans"/>
              </a:rPr>
              <a:t>Anglais — Courant</a:t>
            </a:r>
          </a:p>
          <a:p>
            <a:pPr algn="l">
              <a:spcAft>
                <a:spcPts val="100"/>
              </a:spcAft>
            </a:pPr>
            <a:r>
              <a:rPr sz="1200" b="1" i="0">
                <a:solidFill>
                  <a:srgbClr val="3AEDE5"/>
                </a:solidFill>
                <a:latin typeface="Alegreya Sans"/>
              </a:rPr>
              <a:t>•  </a:t>
            </a:r>
            <a:r>
              <a:rPr sz="1200" b="0" i="0">
                <a:solidFill>
                  <a:srgbClr val="FFFFFF"/>
                </a:solidFill>
                <a:latin typeface="Alegreya Sans"/>
              </a:rPr>
              <a:t>Espagnol — Courant</a:t>
            </a:r>
          </a:p>
          <a:p>
            <a:pPr algn="l">
              <a:spcBef>
                <a:spcPts val="600"/>
              </a:spcBef>
              <a:spcAft>
                <a:spcPts val="300"/>
              </a:spcAft>
            </a:pPr>
            <a:r>
              <a:rPr sz="1300" b="1" i="0">
                <a:solidFill>
                  <a:srgbClr val="3AEDE5"/>
                </a:solidFill>
                <a:latin typeface="Alegreya Sans"/>
              </a:rPr>
              <a:t>FORMATION &amp; CERTIFICATIONS</a:t>
            </a:r>
          </a:p>
          <a:p>
            <a:pPr algn="l">
              <a:spcAft>
                <a:spcPts val="100"/>
              </a:spcAft>
            </a:pPr>
            <a:r>
              <a:rPr sz="1200" b="1" i="0">
                <a:solidFill>
                  <a:srgbClr val="3AEDE5"/>
                </a:solidFill>
                <a:latin typeface="Alegreya Sans"/>
              </a:rPr>
              <a:t>2024  </a:t>
            </a:r>
            <a:r>
              <a:rPr sz="1200" b="1" i="0">
                <a:solidFill>
                  <a:srgbClr val="FFFFFF"/>
                </a:solidFill>
                <a:latin typeface="Alegreya Sans"/>
              </a:rPr>
              <a:t>Certifications ACAMS</a:t>
            </a:r>
          </a:p>
          <a:p>
            <a:pPr algn="l">
              <a:spcAft>
                <a:spcPts val="300"/>
              </a:spcAft>
            </a:pPr>
            <a:r>
              <a:rPr sz="1200" b="0" i="1">
                <a:solidFill>
                  <a:srgbClr val="CCD6E8"/>
                </a:solidFill>
                <a:latin typeface="Alegreya Sans"/>
              </a:rPr>
              <a:t>CCAS &amp; CAMS</a:t>
            </a:r>
          </a:p>
          <a:p>
            <a:pPr algn="l">
              <a:spcAft>
                <a:spcPts val="100"/>
              </a:spcAft>
            </a:pPr>
            <a:r>
              <a:rPr sz="1200" b="1" i="0">
                <a:solidFill>
                  <a:srgbClr val="3AEDE5"/>
                </a:solidFill>
                <a:latin typeface="Alegreya Sans"/>
              </a:rPr>
              <a:t>2016  </a:t>
            </a:r>
            <a:r>
              <a:rPr sz="1200" b="1" i="0">
                <a:solidFill>
                  <a:srgbClr val="FFFFFF"/>
                </a:solidFill>
                <a:latin typeface="Alegreya Sans"/>
              </a:rPr>
              <a:t>Sciences Po Lyon</a:t>
            </a:r>
          </a:p>
          <a:p>
            <a:pPr algn="l">
              <a:spcAft>
                <a:spcPts val="300"/>
              </a:spcAft>
            </a:pPr>
            <a:r>
              <a:rPr sz="1200" b="0" i="1">
                <a:solidFill>
                  <a:srgbClr val="CCD6E8"/>
                </a:solidFill>
                <a:latin typeface="Alegreya Sans"/>
              </a:rPr>
              <a:t>Programme Grande École</a:t>
            </a:r>
          </a:p>
          <a:p>
            <a:pPr algn="l">
              <a:spcAft>
                <a:spcPts val="100"/>
              </a:spcAft>
            </a:pPr>
            <a:r>
              <a:rPr sz="1200" b="1" i="0">
                <a:solidFill>
                  <a:srgbClr val="3AEDE5"/>
                </a:solidFill>
                <a:latin typeface="Alegreya Sans"/>
              </a:rPr>
              <a:t>2016  </a:t>
            </a:r>
            <a:r>
              <a:rPr sz="1200" b="1" i="0">
                <a:solidFill>
                  <a:srgbClr val="FFFFFF"/>
                </a:solidFill>
                <a:latin typeface="Alegreya Sans"/>
              </a:rPr>
              <a:t>Université du Luxembourg</a:t>
            </a:r>
          </a:p>
          <a:p>
            <a:pPr algn="l">
              <a:spcAft>
                <a:spcPts val="300"/>
              </a:spcAft>
            </a:pPr>
            <a:r>
              <a:rPr sz="1200" b="0" i="1">
                <a:solidFill>
                  <a:srgbClr val="CCD6E8"/>
                </a:solidFill>
                <a:latin typeface="Alegreya Sans"/>
              </a:rPr>
              <a:t>Master Droit Pénal Européen des Affaires</a:t>
            </a:r>
          </a:p>
          <a:p>
            <a:pPr algn="l">
              <a:spcBef>
                <a:spcPts val="600"/>
              </a:spcBef>
              <a:spcAft>
                <a:spcPts val="300"/>
              </a:spcAft>
            </a:pPr>
            <a:r>
              <a:rPr sz="1300" b="1" i="0">
                <a:solidFill>
                  <a:srgbClr val="3AEDE5"/>
                </a:solidFill>
                <a:latin typeface="Alegreya Sans"/>
              </a:rPr>
              <a:t>CENTRES D'INTÉRÊT</a:t>
            </a:r>
          </a:p>
          <a:p>
            <a:pPr algn="l">
              <a:spcAft>
                <a:spcPts val="100"/>
              </a:spcAft>
            </a:pPr>
            <a:r>
              <a:rPr sz="1200" b="1" i="0">
                <a:solidFill>
                  <a:srgbClr val="3AEDE5"/>
                </a:solidFill>
                <a:latin typeface="Alegreya Sans"/>
              </a:rPr>
              <a:t>•  </a:t>
            </a:r>
            <a:r>
              <a:rPr sz="1200" b="0" i="0">
                <a:solidFill>
                  <a:srgbClr val="FFFFFF"/>
                </a:solidFill>
                <a:latin typeface="Alegreya Sans"/>
              </a:rPr>
              <a:t>Horlogerie</a:t>
            </a:r>
          </a:p>
          <a:p>
            <a:pPr algn="l">
              <a:spcBef>
                <a:spcPts val="600"/>
              </a:spcBef>
              <a:spcAft>
                <a:spcPts val="300"/>
              </a:spcAft>
            </a:pPr>
            <a:r>
              <a:rPr sz="1300" b="1" i="0">
                <a:solidFill>
                  <a:srgbClr val="3AEDE5"/>
                </a:solidFill>
                <a:latin typeface="Alegreya Sans"/>
              </a:rPr>
              <a:t>ENGAGEMENTS &amp; RÉALISATIONS</a:t>
            </a:r>
          </a:p>
          <a:p>
            <a:pPr algn="l">
              <a:spcAft>
                <a:spcPts val="200"/>
              </a:spcAft>
            </a:pPr>
            <a:r>
              <a:rPr sz="1200" b="1" i="0">
                <a:solidFill>
                  <a:srgbClr val="3AEDE5"/>
                </a:solidFill>
                <a:latin typeface="Alegreya Sans"/>
              </a:rPr>
              <a:t>• </a:t>
            </a:r>
            <a:r>
              <a:rPr sz="1200" b="1" i="0">
                <a:solidFill>
                  <a:srgbClr val="FFFFFF"/>
                </a:solidFill>
                <a:latin typeface="Alegreya Sans"/>
              </a:rPr>
              <a:t>Cofondateur — L'Actu Fin[Tech]</a:t>
            </a:r>
            <a:r>
              <a:rPr sz="1200" b="0" i="1">
                <a:solidFill>
                  <a:srgbClr val="CCD6E8"/>
                </a:solidFill>
                <a:latin typeface="Alegreya Sans"/>
              </a:rPr>
              <a:t> — Podcast français Fintech &amp; Crypto</a:t>
            </a:r>
          </a:p>
        </p:txBody>
      </p:sp>
      <p:sp>
        <p:nvSpPr>
          <p:cNvPr id="8" name="TextBox 7"/>
          <p:cNvSpPr txBox="1"/>
          <p:nvPr/>
        </p:nvSpPr>
        <p:spPr>
          <a:xfrm>
            <a:off x="4528600" y="1180000"/>
            <a:ext cx="7434800" cy="5318000"/>
          </a:xfrm>
          <a:prstGeom prst="rect">
            <a:avLst/>
          </a:prstGeom>
          <a:noFill/>
        </p:spPr>
        <p:txBody>
          <a:bodyPr wrap="square" lIns="0" rIns="0" tIns="0" bIns="0">
            <a:spAutoFit/>
          </a:bodyPr>
          <a:lstStyle/>
          <a:p>
            <a:pPr algn="l">
              <a:spcAft>
                <a:spcPts val="300"/>
              </a:spcAft>
            </a:pPr>
            <a:r>
              <a:rPr sz="1300" b="1" i="0">
                <a:solidFill>
                  <a:srgbClr val="3AEDE5"/>
                </a:solidFill>
                <a:latin typeface="Alegreya Sans"/>
              </a:rPr>
              <a:t>RÉSUMÉ</a:t>
            </a:r>
          </a:p>
          <a:p>
            <a:pPr algn="l">
              <a:spcAft>
                <a:spcPts val="300"/>
              </a:spcAft>
            </a:pPr>
            <a:r>
              <a:rPr sz="1200" b="0" i="0">
                <a:solidFill>
                  <a:srgbClr val="FFFFFF"/>
                </a:solidFill>
                <a:latin typeface="Alegreya Sans"/>
              </a:rPr>
              <a:t>Senior Manager en conseil aux services financiers, spécialisé sur la fraude, la LCB-FT et les paiements. Intervient auprès de banques, établissements de paiement et fintechs sur le pilotage de programmes réglementaires, la refonte de dispositifs de détection et la définition de modèles opérationnels cibles. Certifié CAMS et CCAS.</a:t>
            </a:r>
          </a:p>
          <a:p>
            <a:pPr algn="l">
              <a:spcBef>
                <a:spcPts val="600"/>
              </a:spcBef>
              <a:spcAft>
                <a:spcPts val="300"/>
              </a:spcAft>
            </a:pPr>
            <a:r>
              <a:rPr sz="1300" b="1" i="0">
                <a:solidFill>
                  <a:srgbClr val="3AEDE5"/>
                </a:solidFill>
                <a:latin typeface="Alegreya Sans"/>
              </a:rPr>
              <a:t>PRINCIPALES EXPÉRIENCES PROFESSIONNELLES</a:t>
            </a:r>
          </a:p>
          <a:p>
            <a:pPr algn="l">
              <a:spcAft>
                <a:spcPts val="100"/>
              </a:spcAft>
            </a:pPr>
            <a:r>
              <a:rPr sz="1200" b="1" i="0">
                <a:solidFill>
                  <a:srgbClr val="3AEDE5"/>
                </a:solidFill>
                <a:latin typeface="Alegreya Sans"/>
              </a:rPr>
              <a:t>▸ </a:t>
            </a:r>
            <a:r>
              <a:rPr sz="1200" b="1" i="0">
                <a:solidFill>
                  <a:srgbClr val="FFFFFF"/>
                </a:solidFill>
                <a:latin typeface="Alegreya Sans"/>
              </a:rPr>
              <a:t>PwC France — La Banque Postale &amp; Treezor (SG)</a:t>
            </a:r>
            <a:r>
              <a:rPr sz="1200" b="0" i="0">
                <a:solidFill>
                  <a:srgbClr val="FFFFFF"/>
                </a:solidFill>
                <a:latin typeface="Alegreya Sans"/>
              </a:rPr>
              <a:t> — Senior Manager / Manager — PMO Fraude &amp; LCB-FT</a:t>
            </a:r>
            <a:r>
              <a:rPr sz="1200" b="0" i="1">
                <a:solidFill>
                  <a:srgbClr val="3AEDE5"/>
                </a:solidFill>
                <a:latin typeface="Alegreya Sans"/>
              </a:rPr>
              <a:t>  (Depuis Jan. 2020)</a:t>
            </a:r>
          </a:p>
          <a:p>
            <a:pPr algn="l" lvl="1">
              <a:spcAft>
                <a:spcPts val="100"/>
              </a:spcAft>
            </a:pPr>
            <a:r>
              <a:rPr sz="1200" b="1" i="0">
                <a:solidFill>
                  <a:srgbClr val="3AEDE5"/>
                </a:solidFill>
                <a:latin typeface="Alegreya Sans"/>
              </a:rPr>
              <a:t>•  </a:t>
            </a:r>
            <a:r>
              <a:rPr sz="1200" b="0" i="0">
                <a:solidFill>
                  <a:srgbClr val="FFFFFF"/>
                </a:solidFill>
                <a:latin typeface="Alegreya Sans"/>
              </a:rPr>
              <a:t>La Banque Postale : PMO du chantier fraude pour le déploiement de WERO P2P &amp; P2Pro — roadmap, suivi des risques, ateliers parties prenantes, conduite du changement des back-offices en régions.</a:t>
            </a:r>
          </a:p>
          <a:p>
            <a:pPr algn="l" lvl="1">
              <a:spcAft>
                <a:spcPts val="100"/>
              </a:spcAft>
            </a:pPr>
            <a:r>
              <a:rPr sz="1200" b="1" i="0">
                <a:solidFill>
                  <a:srgbClr val="3AEDE5"/>
                </a:solidFill>
                <a:latin typeface="Alegreya Sans"/>
              </a:rPr>
              <a:t>•  </a:t>
            </a:r>
            <a:r>
              <a:rPr sz="1200" b="0" i="0">
                <a:solidFill>
                  <a:srgbClr val="FFFFFF"/>
                </a:solidFill>
                <a:latin typeface="Alegreya Sans"/>
              </a:rPr>
              <a:t>Treezor : PMO de l'implémentation du TMS Fraude &amp; LCB-FT (éditeur SAS) — conception des scénarios, revue de la segmentation et de la calibration ; revue indépendante du dispositif fraude.</a:t>
            </a:r>
          </a:p>
          <a:p>
            <a:pPr algn="l">
              <a:spcAft>
                <a:spcPts val="100"/>
              </a:spcAft>
            </a:pPr>
            <a:r>
              <a:rPr sz="1200" b="1" i="0">
                <a:solidFill>
                  <a:srgbClr val="3AEDE5"/>
                </a:solidFill>
                <a:latin typeface="Alegreya Sans"/>
              </a:rPr>
              <a:t>▸ </a:t>
            </a:r>
            <a:r>
              <a:rPr sz="1200" b="1" i="0">
                <a:solidFill>
                  <a:srgbClr val="FFFFFF"/>
                </a:solidFill>
                <a:latin typeface="Alegreya Sans"/>
              </a:rPr>
              <a:t>PwC France — BNP Paribas PF &amp; CIB, eZyness (LBP)</a:t>
            </a:r>
            <a:r>
              <a:rPr sz="1200" b="0" i="0">
                <a:solidFill>
                  <a:srgbClr val="FFFFFF"/>
                </a:solidFill>
                <a:latin typeface="Alegreya Sans"/>
              </a:rPr>
              <a:t> — Stratégie produit &amp; modèles opérationnels</a:t>
            </a:r>
          </a:p>
          <a:p>
            <a:pPr algn="l" lvl="1">
              <a:spcAft>
                <a:spcPts val="100"/>
              </a:spcAft>
            </a:pPr>
            <a:r>
              <a:rPr sz="1200" b="1" i="0">
                <a:solidFill>
                  <a:srgbClr val="3AEDE5"/>
                </a:solidFill>
                <a:latin typeface="Alegreya Sans"/>
              </a:rPr>
              <a:t>•  </a:t>
            </a:r>
            <a:r>
              <a:rPr sz="1200" b="0" i="0">
                <a:solidFill>
                  <a:srgbClr val="FFFFFF"/>
                </a:solidFill>
                <a:latin typeface="Alegreya Sans"/>
              </a:rPr>
              <a:t>BNPP Personal Finance : refonte stratégique de l'offre Cpay — diagnostic 360°, Voix du Client et client-mystère, ways to play, business case et macro-roadmap.</a:t>
            </a:r>
          </a:p>
          <a:p>
            <a:pPr algn="l" lvl="1">
              <a:spcAft>
                <a:spcPts val="100"/>
              </a:spcAft>
            </a:pPr>
            <a:r>
              <a:rPr sz="1200" b="1" i="0">
                <a:solidFill>
                  <a:srgbClr val="3AEDE5"/>
                </a:solidFill>
                <a:latin typeface="Alegreya Sans"/>
              </a:rPr>
              <a:t>•  </a:t>
            </a:r>
            <a:r>
              <a:rPr sz="1200" b="0" i="0">
                <a:solidFill>
                  <a:srgbClr val="FFFFFF"/>
                </a:solidFill>
                <a:latin typeface="Alegreya Sans"/>
              </a:rPr>
              <a:t>BNPP CIB : définition du TOM des relations avec les superviseurs (benchmark, synergies Groupe, rôles et responsabilités) ; eZyness : stratégie d'expansion européenne avec Strategy&amp;.</a:t>
            </a:r>
          </a:p>
          <a:p>
            <a:pPr algn="l">
              <a:spcAft>
                <a:spcPts val="100"/>
              </a:spcAft>
            </a:pPr>
            <a:r>
              <a:rPr sz="1200" b="1" i="0">
                <a:solidFill>
                  <a:srgbClr val="3AEDE5"/>
                </a:solidFill>
                <a:latin typeface="Alegreya Sans"/>
              </a:rPr>
              <a:t>▸ </a:t>
            </a:r>
            <a:r>
              <a:rPr sz="1200" b="1" i="0">
                <a:solidFill>
                  <a:srgbClr val="FFFFFF"/>
                </a:solidFill>
                <a:latin typeface="Alegreya Sans"/>
              </a:rPr>
              <a:t>EY France, Paris</a:t>
            </a:r>
            <a:r>
              <a:rPr sz="1200" b="0" i="0">
                <a:solidFill>
                  <a:srgbClr val="FFFFFF"/>
                </a:solidFill>
                <a:latin typeface="Alegreya Sans"/>
              </a:rPr>
              <a:t> — Conseil Services Financiers — Consultant Senior</a:t>
            </a:r>
            <a:r>
              <a:rPr sz="1200" b="0" i="1">
                <a:solidFill>
                  <a:srgbClr val="3AEDE5"/>
                </a:solidFill>
                <a:latin typeface="Alegreya Sans"/>
              </a:rPr>
              <a:t>  (Sept. — Déc. 2019)</a:t>
            </a:r>
          </a:p>
          <a:p>
            <a:pPr algn="l">
              <a:spcAft>
                <a:spcPts val="100"/>
              </a:spcAft>
            </a:pPr>
            <a:r>
              <a:rPr sz="1200" b="1" i="0">
                <a:solidFill>
                  <a:srgbClr val="3AEDE5"/>
                </a:solidFill>
                <a:latin typeface="Alegreya Sans"/>
              </a:rPr>
              <a:t>▸ </a:t>
            </a:r>
            <a:r>
              <a:rPr sz="1200" b="1" i="0">
                <a:solidFill>
                  <a:srgbClr val="FFFFFF"/>
                </a:solidFill>
                <a:latin typeface="Alegreya Sans"/>
              </a:rPr>
              <a:t>KPMG Luxembourg</a:t>
            </a:r>
            <a:r>
              <a:rPr sz="1200" b="0" i="0">
                <a:solidFill>
                  <a:srgbClr val="FFFFFF"/>
                </a:solidFill>
                <a:latin typeface="Alegreya Sans"/>
              </a:rPr>
              <a:t> — Conseil Services Financiers — Consultant Junior puis Senior</a:t>
            </a:r>
            <a:r>
              <a:rPr sz="1200" b="0" i="1">
                <a:solidFill>
                  <a:srgbClr val="3AEDE5"/>
                </a:solidFill>
                <a:latin typeface="Alegreya Sans"/>
              </a:rPr>
              <a:t>  (Sept. 2016 — Juil. 2019)</a:t>
            </a:r>
          </a:p>
        </p:txBody>
      </p:sp>
      <p:sp>
        <p:nvSpPr>
          <p:cNvPr id="9" name="Rectangle 8"/>
          <p:cNvSpPr/>
          <p:nvPr/>
        </p:nvSpPr>
        <p:spPr>
          <a:xfrm>
            <a:off x="0" y="6578000"/>
            <a:ext cx="12192000" cy="280000"/>
          </a:xfrm>
          <a:prstGeom prst="rect">
            <a:avLst/>
          </a:prstGeom>
          <a:solidFill>
            <a:srgbClr val="061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 y="6578000"/>
            <a:ext cx="11734800" cy="280000"/>
          </a:xfrm>
          <a:prstGeom prst="rect">
            <a:avLst/>
          </a:prstGeom>
          <a:noFill/>
        </p:spPr>
        <p:txBody>
          <a:bodyPr wrap="square" lIns="0" rIns="0" tIns="0" bIns="0">
            <a:spAutoFit/>
          </a:bodyPr>
          <a:lstStyle/>
          <a:p>
            <a:pPr algn="ctr"/>
            <a:r>
              <a:rPr sz="1000" b="0" i="1">
                <a:solidFill>
                  <a:srgbClr val="CCD6E8"/>
                </a:solidFill>
                <a:latin typeface="Alegreya Sans"/>
              </a:rPr>
              <a:t>Les informations de ce document sont strictement confidentielles — Ce document ne peut être partagé qu'avec l'accord de son propriétaire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61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300000" y="0"/>
            <a:ext cx="15000" cy="6858000"/>
          </a:xfrm>
          <a:prstGeom prst="rect">
            <a:avLst/>
          </a:prstGeom>
          <a:solidFill>
            <a:srgbClr val="3AE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nside_circle_logo.png"/>
          <p:cNvPicPr>
            <a:picLocks noChangeAspect="1"/>
          </p:cNvPicPr>
          <p:nvPr/>
        </p:nvPicPr>
        <p:blipFill>
          <a:blip r:embed="rId2"/>
          <a:stretch>
            <a:fillRect/>
          </a:stretch>
        </p:blipFill>
        <p:spPr>
          <a:xfrm>
            <a:off x="10660000" y="130000"/>
            <a:ext cx="1302000" cy="420000"/>
          </a:xfrm>
          <a:prstGeom prst="rect">
            <a:avLst/>
          </a:prstGeom>
        </p:spPr>
      </p:pic>
      <p:sp>
        <p:nvSpPr>
          <p:cNvPr id="5" name="TextBox 4"/>
          <p:cNvSpPr txBox="1"/>
          <p:nvPr/>
        </p:nvSpPr>
        <p:spPr>
          <a:xfrm>
            <a:off x="228600" y="240000"/>
            <a:ext cx="3842800" cy="1300000"/>
          </a:xfrm>
          <a:prstGeom prst="rect">
            <a:avLst/>
          </a:prstGeom>
          <a:noFill/>
        </p:spPr>
        <p:txBody>
          <a:bodyPr wrap="square" lIns="0" rIns="0" tIns="0" bIns="0">
            <a:spAutoFit/>
          </a:bodyPr>
          <a:lstStyle/>
          <a:p>
            <a:pPr algn="l"/>
            <a:r>
              <a:rPr sz="2800" b="0" i="0">
                <a:solidFill>
                  <a:srgbClr val="3AEDE5"/>
                </a:solidFill>
                <a:latin typeface="Alegreya Sans"/>
              </a:rPr>
              <a:t>Dorian</a:t>
            </a:r>
          </a:p>
          <a:p>
            <a:pPr>
              <a:spcBef>
                <a:spcPts val="0"/>
              </a:spcBef>
            </a:pPr>
            <a:r>
              <a:rPr sz="3200" b="1" i="0">
                <a:solidFill>
                  <a:srgbClr val="3AEDE5"/>
                </a:solidFill>
                <a:latin typeface="Alegreya Sans"/>
              </a:rPr>
              <a:t>PREVOST</a:t>
            </a:r>
          </a:p>
        </p:txBody>
      </p:sp>
      <p:sp>
        <p:nvSpPr>
          <p:cNvPr id="6" name="TextBox 5"/>
          <p:cNvSpPr txBox="1"/>
          <p:nvPr/>
        </p:nvSpPr>
        <p:spPr>
          <a:xfrm>
            <a:off x="4528600" y="300000"/>
            <a:ext cx="5963400" cy="800000"/>
          </a:xfrm>
          <a:prstGeom prst="rect">
            <a:avLst/>
          </a:prstGeom>
          <a:noFill/>
        </p:spPr>
        <p:txBody>
          <a:bodyPr wrap="square" lIns="0" rIns="0" tIns="0" bIns="0">
            <a:spAutoFit/>
          </a:bodyPr>
          <a:lstStyle/>
          <a:p>
            <a:r>
              <a:rPr sz="2400" b="1" i="0">
                <a:solidFill>
                  <a:srgbClr val="FFFFFF"/>
                </a:solidFill>
                <a:latin typeface="Alegreya Sans"/>
              </a:rPr>
              <a:t>Senior Manager — Financial Services Consulting</a:t>
            </a:r>
          </a:p>
          <a:p>
            <a:pPr>
              <a:spcBef>
                <a:spcPts val="200"/>
              </a:spcBef>
            </a:pPr>
            <a:r>
              <a:rPr sz="1500" b="0" i="1">
                <a:solidFill>
                  <a:srgbClr val="3AEDE5"/>
                </a:solidFill>
                <a:latin typeface="Alegreya Sans"/>
              </a:rPr>
              <a:t>Fraud, AML-CFT &amp; Payments — CAMS &amp; CCAS certified</a:t>
            </a:r>
          </a:p>
        </p:txBody>
      </p:sp>
      <p:sp>
        <p:nvSpPr>
          <p:cNvPr id="7" name="TextBox 6"/>
          <p:cNvSpPr txBox="1"/>
          <p:nvPr/>
        </p:nvSpPr>
        <p:spPr>
          <a:xfrm>
            <a:off x="228600" y="1180000"/>
            <a:ext cx="3842800" cy="5318000"/>
          </a:xfrm>
          <a:prstGeom prst="rect">
            <a:avLst/>
          </a:prstGeom>
          <a:noFill/>
        </p:spPr>
        <p:txBody>
          <a:bodyPr wrap="square" lIns="0" rIns="0" tIns="0" bIns="0">
            <a:spAutoFit/>
          </a:bodyPr>
          <a:lstStyle/>
          <a:p>
            <a:pPr algn="l">
              <a:spcAft>
                <a:spcPts val="300"/>
              </a:spcAft>
            </a:pPr>
            <a:r>
              <a:rPr sz="1300" b="1" i="0">
                <a:solidFill>
                  <a:srgbClr val="3AEDE5"/>
                </a:solidFill>
                <a:latin typeface="Alegreya Sans"/>
              </a:rPr>
              <a:t>MAIN AREAS OF EXPERTISE</a:t>
            </a:r>
          </a:p>
          <a:p>
            <a:pPr algn="l">
              <a:spcAft>
                <a:spcPts val="100"/>
              </a:spcAft>
            </a:pPr>
            <a:r>
              <a:rPr sz="1200" b="1" i="0">
                <a:solidFill>
                  <a:srgbClr val="3AEDE5"/>
                </a:solidFill>
                <a:latin typeface="Alegreya Sans"/>
              </a:rPr>
              <a:t>•  </a:t>
            </a:r>
            <a:r>
              <a:rPr sz="1200" b="0" i="0">
                <a:solidFill>
                  <a:srgbClr val="FFFFFF"/>
                </a:solidFill>
                <a:latin typeface="Alegreya Sans"/>
              </a:rPr>
              <a:t>Fraud &amp; AML-CFT frameworks (scenarios, TMS)</a:t>
            </a:r>
          </a:p>
          <a:p>
            <a:pPr algn="l">
              <a:spcAft>
                <a:spcPts val="100"/>
              </a:spcAft>
            </a:pPr>
            <a:r>
              <a:rPr sz="1200" b="1" i="0">
                <a:solidFill>
                  <a:srgbClr val="3AEDE5"/>
                </a:solidFill>
                <a:latin typeface="Alegreya Sans"/>
              </a:rPr>
              <a:t>•  </a:t>
            </a:r>
            <a:r>
              <a:rPr sz="1200" b="0" i="0">
                <a:solidFill>
                  <a:srgbClr val="FFFFFF"/>
                </a:solidFill>
                <a:latin typeface="Alegreya Sans"/>
              </a:rPr>
              <a:t>Payments &amp; instant payment (WERO, ISO 20022)</a:t>
            </a:r>
          </a:p>
          <a:p>
            <a:pPr algn="l">
              <a:spcAft>
                <a:spcPts val="100"/>
              </a:spcAft>
            </a:pPr>
            <a:r>
              <a:rPr sz="1200" b="1" i="0">
                <a:solidFill>
                  <a:srgbClr val="3AEDE5"/>
                </a:solidFill>
                <a:latin typeface="Alegreya Sans"/>
              </a:rPr>
              <a:t>•  </a:t>
            </a:r>
            <a:r>
              <a:rPr sz="1200" b="0" i="0">
                <a:solidFill>
                  <a:srgbClr val="FFFFFF"/>
                </a:solidFill>
                <a:latin typeface="Alegreya Sans"/>
              </a:rPr>
              <a:t>Regulatory program management (PMO)</a:t>
            </a:r>
          </a:p>
          <a:p>
            <a:pPr algn="l">
              <a:spcAft>
                <a:spcPts val="100"/>
              </a:spcAft>
            </a:pPr>
            <a:r>
              <a:rPr sz="1200" b="1" i="0">
                <a:solidFill>
                  <a:srgbClr val="3AEDE5"/>
                </a:solidFill>
                <a:latin typeface="Alegreya Sans"/>
              </a:rPr>
              <a:t>•  </a:t>
            </a:r>
            <a:r>
              <a:rPr sz="1200" b="0" i="0">
                <a:solidFill>
                  <a:srgbClr val="FFFFFF"/>
                </a:solidFill>
                <a:latin typeface="Alegreya Sans"/>
              </a:rPr>
              <a:t>Target Operating Model &amp; supervisor relations</a:t>
            </a:r>
          </a:p>
          <a:p>
            <a:pPr algn="l">
              <a:spcAft>
                <a:spcPts val="100"/>
              </a:spcAft>
            </a:pPr>
            <a:r>
              <a:rPr sz="1200" b="1" i="0">
                <a:solidFill>
                  <a:srgbClr val="3AEDE5"/>
                </a:solidFill>
                <a:latin typeface="Alegreya Sans"/>
              </a:rPr>
              <a:t>•  </a:t>
            </a:r>
            <a:r>
              <a:rPr sz="1200" b="0" i="0">
                <a:solidFill>
                  <a:srgbClr val="FFFFFF"/>
                </a:solidFill>
                <a:latin typeface="Alegreya Sans"/>
              </a:rPr>
              <a:t>Product strategy &amp; business case</a:t>
            </a:r>
          </a:p>
          <a:p>
            <a:pPr algn="l">
              <a:spcBef>
                <a:spcPts val="600"/>
              </a:spcBef>
              <a:spcAft>
                <a:spcPts val="300"/>
              </a:spcAft>
            </a:pPr>
            <a:r>
              <a:rPr sz="1300" b="1" i="0">
                <a:solidFill>
                  <a:srgbClr val="3AEDE5"/>
                </a:solidFill>
                <a:latin typeface="Alegreya Sans"/>
              </a:rPr>
              <a:t>LANGUAGES</a:t>
            </a:r>
          </a:p>
          <a:p>
            <a:pPr algn="l">
              <a:spcAft>
                <a:spcPts val="100"/>
              </a:spcAft>
            </a:pPr>
            <a:r>
              <a:rPr sz="1200" b="1" i="0">
                <a:solidFill>
                  <a:srgbClr val="3AEDE5"/>
                </a:solidFill>
                <a:latin typeface="Alegreya Sans"/>
              </a:rPr>
              <a:t>•  </a:t>
            </a:r>
            <a:r>
              <a:rPr sz="1200" b="0" i="0">
                <a:solidFill>
                  <a:srgbClr val="FFFFFF"/>
                </a:solidFill>
                <a:latin typeface="Alegreya Sans"/>
              </a:rPr>
              <a:t>French — Native</a:t>
            </a:r>
          </a:p>
          <a:p>
            <a:pPr algn="l">
              <a:spcAft>
                <a:spcPts val="100"/>
              </a:spcAft>
            </a:pPr>
            <a:r>
              <a:rPr sz="1200" b="1" i="0">
                <a:solidFill>
                  <a:srgbClr val="3AEDE5"/>
                </a:solidFill>
                <a:latin typeface="Alegreya Sans"/>
              </a:rPr>
              <a:t>•  </a:t>
            </a:r>
            <a:r>
              <a:rPr sz="1200" b="0" i="0">
                <a:solidFill>
                  <a:srgbClr val="FFFFFF"/>
                </a:solidFill>
                <a:latin typeface="Alegreya Sans"/>
              </a:rPr>
              <a:t>English — Fluent</a:t>
            </a:r>
          </a:p>
          <a:p>
            <a:pPr algn="l">
              <a:spcAft>
                <a:spcPts val="100"/>
              </a:spcAft>
            </a:pPr>
            <a:r>
              <a:rPr sz="1200" b="1" i="0">
                <a:solidFill>
                  <a:srgbClr val="3AEDE5"/>
                </a:solidFill>
                <a:latin typeface="Alegreya Sans"/>
              </a:rPr>
              <a:t>•  </a:t>
            </a:r>
            <a:r>
              <a:rPr sz="1200" b="0" i="0">
                <a:solidFill>
                  <a:srgbClr val="FFFFFF"/>
                </a:solidFill>
                <a:latin typeface="Alegreya Sans"/>
              </a:rPr>
              <a:t>Spanish — Fluent</a:t>
            </a:r>
          </a:p>
          <a:p>
            <a:pPr algn="l">
              <a:spcBef>
                <a:spcPts val="600"/>
              </a:spcBef>
              <a:spcAft>
                <a:spcPts val="300"/>
              </a:spcAft>
            </a:pPr>
            <a:r>
              <a:rPr sz="1300" b="1" i="0">
                <a:solidFill>
                  <a:srgbClr val="3AEDE5"/>
                </a:solidFill>
                <a:latin typeface="Alegreya Sans"/>
              </a:rPr>
              <a:t>EDUCATION &amp; CERTIFICATIONS</a:t>
            </a:r>
          </a:p>
          <a:p>
            <a:pPr algn="l">
              <a:spcAft>
                <a:spcPts val="100"/>
              </a:spcAft>
            </a:pPr>
            <a:r>
              <a:rPr sz="1200" b="1" i="0">
                <a:solidFill>
                  <a:srgbClr val="3AEDE5"/>
                </a:solidFill>
                <a:latin typeface="Alegreya Sans"/>
              </a:rPr>
              <a:t>2024  </a:t>
            </a:r>
            <a:r>
              <a:rPr sz="1200" b="1" i="0">
                <a:solidFill>
                  <a:srgbClr val="FFFFFF"/>
                </a:solidFill>
                <a:latin typeface="Alegreya Sans"/>
              </a:rPr>
              <a:t>ACAMS Certifications</a:t>
            </a:r>
          </a:p>
          <a:p>
            <a:pPr algn="l">
              <a:spcAft>
                <a:spcPts val="300"/>
              </a:spcAft>
            </a:pPr>
            <a:r>
              <a:rPr sz="1200" b="0" i="1">
                <a:solidFill>
                  <a:srgbClr val="CCD6E8"/>
                </a:solidFill>
                <a:latin typeface="Alegreya Sans"/>
              </a:rPr>
              <a:t>CCAS &amp; CAMS</a:t>
            </a:r>
          </a:p>
          <a:p>
            <a:pPr algn="l">
              <a:spcAft>
                <a:spcPts val="100"/>
              </a:spcAft>
            </a:pPr>
            <a:r>
              <a:rPr sz="1200" b="1" i="0">
                <a:solidFill>
                  <a:srgbClr val="3AEDE5"/>
                </a:solidFill>
                <a:latin typeface="Alegreya Sans"/>
              </a:rPr>
              <a:t>2016  </a:t>
            </a:r>
            <a:r>
              <a:rPr sz="1200" b="1" i="0">
                <a:solidFill>
                  <a:srgbClr val="FFFFFF"/>
                </a:solidFill>
                <a:latin typeface="Alegreya Sans"/>
              </a:rPr>
              <a:t>Sciences Po Lyon</a:t>
            </a:r>
          </a:p>
          <a:p>
            <a:pPr algn="l">
              <a:spcAft>
                <a:spcPts val="300"/>
              </a:spcAft>
            </a:pPr>
            <a:r>
              <a:rPr sz="1200" b="0" i="1">
                <a:solidFill>
                  <a:srgbClr val="CCD6E8"/>
                </a:solidFill>
                <a:latin typeface="Alegreya Sans"/>
              </a:rPr>
              <a:t>Grande École Programme</a:t>
            </a:r>
          </a:p>
          <a:p>
            <a:pPr algn="l">
              <a:spcAft>
                <a:spcPts val="100"/>
              </a:spcAft>
            </a:pPr>
            <a:r>
              <a:rPr sz="1200" b="1" i="0">
                <a:solidFill>
                  <a:srgbClr val="3AEDE5"/>
                </a:solidFill>
                <a:latin typeface="Alegreya Sans"/>
              </a:rPr>
              <a:t>2016  </a:t>
            </a:r>
            <a:r>
              <a:rPr sz="1200" b="1" i="0">
                <a:solidFill>
                  <a:srgbClr val="FFFFFF"/>
                </a:solidFill>
                <a:latin typeface="Alegreya Sans"/>
              </a:rPr>
              <a:t>University of Luxembourg</a:t>
            </a:r>
          </a:p>
          <a:p>
            <a:pPr algn="l">
              <a:spcAft>
                <a:spcPts val="300"/>
              </a:spcAft>
            </a:pPr>
            <a:r>
              <a:rPr sz="1200" b="0" i="1">
                <a:solidFill>
                  <a:srgbClr val="CCD6E8"/>
                </a:solidFill>
                <a:latin typeface="Alegreya Sans"/>
              </a:rPr>
              <a:t>Master, European Business Criminal Law</a:t>
            </a:r>
          </a:p>
          <a:p>
            <a:pPr algn="l">
              <a:spcBef>
                <a:spcPts val="600"/>
              </a:spcBef>
              <a:spcAft>
                <a:spcPts val="300"/>
              </a:spcAft>
            </a:pPr>
            <a:r>
              <a:rPr sz="1300" b="1" i="0">
                <a:solidFill>
                  <a:srgbClr val="3AEDE5"/>
                </a:solidFill>
                <a:latin typeface="Alegreya Sans"/>
              </a:rPr>
              <a:t>INTERESTS</a:t>
            </a:r>
          </a:p>
          <a:p>
            <a:pPr algn="l">
              <a:spcAft>
                <a:spcPts val="100"/>
              </a:spcAft>
            </a:pPr>
            <a:r>
              <a:rPr sz="1200" b="1" i="0">
                <a:solidFill>
                  <a:srgbClr val="3AEDE5"/>
                </a:solidFill>
                <a:latin typeface="Alegreya Sans"/>
              </a:rPr>
              <a:t>•  </a:t>
            </a:r>
            <a:r>
              <a:rPr sz="1200" b="0" i="0">
                <a:solidFill>
                  <a:srgbClr val="FFFFFF"/>
                </a:solidFill>
                <a:latin typeface="Alegreya Sans"/>
              </a:rPr>
              <a:t>Watchmaking</a:t>
            </a:r>
          </a:p>
          <a:p>
            <a:pPr algn="l">
              <a:spcBef>
                <a:spcPts val="600"/>
              </a:spcBef>
              <a:spcAft>
                <a:spcPts val="300"/>
              </a:spcAft>
            </a:pPr>
            <a:r>
              <a:rPr sz="1300" b="1" i="0">
                <a:solidFill>
                  <a:srgbClr val="3AEDE5"/>
                </a:solidFill>
                <a:latin typeface="Alegreya Sans"/>
              </a:rPr>
              <a:t>ENGAGEMENTS &amp; ACHIEVEMENTS</a:t>
            </a:r>
          </a:p>
          <a:p>
            <a:pPr algn="l">
              <a:spcAft>
                <a:spcPts val="200"/>
              </a:spcAft>
            </a:pPr>
            <a:r>
              <a:rPr sz="1200" b="1" i="0">
                <a:solidFill>
                  <a:srgbClr val="3AEDE5"/>
                </a:solidFill>
                <a:latin typeface="Alegreya Sans"/>
              </a:rPr>
              <a:t>• </a:t>
            </a:r>
            <a:r>
              <a:rPr sz="1200" b="1" i="0">
                <a:solidFill>
                  <a:srgbClr val="FFFFFF"/>
                </a:solidFill>
                <a:latin typeface="Alegreya Sans"/>
              </a:rPr>
              <a:t>Co-founder — L'Actu Fin[Tech]</a:t>
            </a:r>
            <a:r>
              <a:rPr sz="1200" b="0" i="1">
                <a:solidFill>
                  <a:srgbClr val="CCD6E8"/>
                </a:solidFill>
                <a:latin typeface="Alegreya Sans"/>
              </a:rPr>
              <a:t> — French Fintech &amp; Crypto podcast</a:t>
            </a:r>
          </a:p>
        </p:txBody>
      </p:sp>
      <p:sp>
        <p:nvSpPr>
          <p:cNvPr id="8" name="TextBox 7"/>
          <p:cNvSpPr txBox="1"/>
          <p:nvPr/>
        </p:nvSpPr>
        <p:spPr>
          <a:xfrm>
            <a:off x="4528600" y="1180000"/>
            <a:ext cx="7434800" cy="5318000"/>
          </a:xfrm>
          <a:prstGeom prst="rect">
            <a:avLst/>
          </a:prstGeom>
          <a:noFill/>
        </p:spPr>
        <p:txBody>
          <a:bodyPr wrap="square" lIns="0" rIns="0" tIns="0" bIns="0">
            <a:spAutoFit/>
          </a:bodyPr>
          <a:lstStyle/>
          <a:p>
            <a:pPr algn="l">
              <a:spcAft>
                <a:spcPts val="300"/>
              </a:spcAft>
            </a:pPr>
            <a:r>
              <a:rPr sz="1300" b="1" i="0">
                <a:solidFill>
                  <a:srgbClr val="3AEDE5"/>
                </a:solidFill>
                <a:latin typeface="Alegreya Sans"/>
              </a:rPr>
              <a:t>SUMMARY</a:t>
            </a:r>
          </a:p>
          <a:p>
            <a:pPr algn="l">
              <a:spcAft>
                <a:spcPts val="300"/>
              </a:spcAft>
            </a:pPr>
            <a:r>
              <a:rPr sz="1200" b="0" i="0">
                <a:solidFill>
                  <a:srgbClr val="FFFFFF"/>
                </a:solidFill>
                <a:latin typeface="Alegreya Sans"/>
              </a:rPr>
              <a:t>Senior Manager in financial-services consulting, specialized in fraud, AML-CFT and payments. Advises banks, payment institutions and fintechs on regulatory program management, the overhaul of detection frameworks and the design of target operating models. CAMS and CCAS certified.</a:t>
            </a:r>
          </a:p>
          <a:p>
            <a:pPr algn="l">
              <a:spcBef>
                <a:spcPts val="600"/>
              </a:spcBef>
              <a:spcAft>
                <a:spcPts val="300"/>
              </a:spcAft>
            </a:pPr>
            <a:r>
              <a:rPr sz="1300" b="1" i="0">
                <a:solidFill>
                  <a:srgbClr val="3AEDE5"/>
                </a:solidFill>
                <a:latin typeface="Alegreya Sans"/>
              </a:rPr>
              <a:t>MAIN PROFESSIONAL EXPERIENCE</a:t>
            </a:r>
          </a:p>
          <a:p>
            <a:pPr algn="l">
              <a:spcAft>
                <a:spcPts val="100"/>
              </a:spcAft>
            </a:pPr>
            <a:r>
              <a:rPr sz="1200" b="1" i="0">
                <a:solidFill>
                  <a:srgbClr val="3AEDE5"/>
                </a:solidFill>
                <a:latin typeface="Alegreya Sans"/>
              </a:rPr>
              <a:t>▸ </a:t>
            </a:r>
            <a:r>
              <a:rPr sz="1200" b="1" i="0">
                <a:solidFill>
                  <a:srgbClr val="FFFFFF"/>
                </a:solidFill>
                <a:latin typeface="Alegreya Sans"/>
              </a:rPr>
              <a:t>PwC France — La Banque Postale &amp; Treezor (SG)</a:t>
            </a:r>
            <a:r>
              <a:rPr sz="1200" b="0" i="0">
                <a:solidFill>
                  <a:srgbClr val="FFFFFF"/>
                </a:solidFill>
                <a:latin typeface="Alegreya Sans"/>
              </a:rPr>
              <a:t> — Senior Manager / Manager — Fraud &amp; AML-CFT PMO</a:t>
            </a:r>
            <a:r>
              <a:rPr sz="1200" b="0" i="1">
                <a:solidFill>
                  <a:srgbClr val="3AEDE5"/>
                </a:solidFill>
                <a:latin typeface="Alegreya Sans"/>
              </a:rPr>
              <a:t>  (Since Jan. 2020)</a:t>
            </a:r>
          </a:p>
          <a:p>
            <a:pPr algn="l" lvl="1">
              <a:spcAft>
                <a:spcPts val="100"/>
              </a:spcAft>
            </a:pPr>
            <a:r>
              <a:rPr sz="1200" b="1" i="0">
                <a:solidFill>
                  <a:srgbClr val="3AEDE5"/>
                </a:solidFill>
                <a:latin typeface="Alegreya Sans"/>
              </a:rPr>
              <a:t>•  </a:t>
            </a:r>
            <a:r>
              <a:rPr sz="1200" b="0" i="0">
                <a:solidFill>
                  <a:srgbClr val="FFFFFF"/>
                </a:solidFill>
                <a:latin typeface="Alegreya Sans"/>
              </a:rPr>
              <a:t>La Banque Postale: PMO of the fraud workstream for the WERO P2P &amp; P2Pro roll-out — roadmap, risk tracking, stakeholder workshops, change management for the regional back-offices.</a:t>
            </a:r>
          </a:p>
          <a:p>
            <a:pPr algn="l" lvl="1">
              <a:spcAft>
                <a:spcPts val="100"/>
              </a:spcAft>
            </a:pPr>
            <a:r>
              <a:rPr sz="1200" b="1" i="0">
                <a:solidFill>
                  <a:srgbClr val="3AEDE5"/>
                </a:solidFill>
                <a:latin typeface="Alegreya Sans"/>
              </a:rPr>
              <a:t>•  </a:t>
            </a:r>
            <a:r>
              <a:rPr sz="1200" b="0" i="0">
                <a:solidFill>
                  <a:srgbClr val="FFFFFF"/>
                </a:solidFill>
                <a:latin typeface="Alegreya Sans"/>
              </a:rPr>
              <a:t>Treezor: PMO of the Fraud &amp; AML-CFT TMS implementation (SAS software) — scenario design, review of segmentation and calibration; independent review of the fraud framework.</a:t>
            </a:r>
          </a:p>
          <a:p>
            <a:pPr algn="l">
              <a:spcAft>
                <a:spcPts val="100"/>
              </a:spcAft>
            </a:pPr>
            <a:r>
              <a:rPr sz="1200" b="1" i="0">
                <a:solidFill>
                  <a:srgbClr val="3AEDE5"/>
                </a:solidFill>
                <a:latin typeface="Alegreya Sans"/>
              </a:rPr>
              <a:t>▸ </a:t>
            </a:r>
            <a:r>
              <a:rPr sz="1200" b="1" i="0">
                <a:solidFill>
                  <a:srgbClr val="FFFFFF"/>
                </a:solidFill>
                <a:latin typeface="Alegreya Sans"/>
              </a:rPr>
              <a:t>PwC France — BNP Paribas PF &amp; CIB, eZyness (LBP)</a:t>
            </a:r>
            <a:r>
              <a:rPr sz="1200" b="0" i="0">
                <a:solidFill>
                  <a:srgbClr val="FFFFFF"/>
                </a:solidFill>
                <a:latin typeface="Alegreya Sans"/>
              </a:rPr>
              <a:t> — Product strategy &amp; operating models</a:t>
            </a:r>
          </a:p>
          <a:p>
            <a:pPr algn="l" lvl="1">
              <a:spcAft>
                <a:spcPts val="100"/>
              </a:spcAft>
            </a:pPr>
            <a:r>
              <a:rPr sz="1200" b="1" i="0">
                <a:solidFill>
                  <a:srgbClr val="3AEDE5"/>
                </a:solidFill>
                <a:latin typeface="Alegreya Sans"/>
              </a:rPr>
              <a:t>•  </a:t>
            </a:r>
            <a:r>
              <a:rPr sz="1200" b="0" i="0">
                <a:solidFill>
                  <a:srgbClr val="FFFFFF"/>
                </a:solidFill>
                <a:latin typeface="Alegreya Sans"/>
              </a:rPr>
              <a:t>BNPP Personal Finance: strategic overhaul of the Cpay offer — 360° diagnostic, Voice of the Customer and mystery shopping, ways to play, business case and macro-roadmap.</a:t>
            </a:r>
          </a:p>
          <a:p>
            <a:pPr algn="l" lvl="1">
              <a:spcAft>
                <a:spcPts val="100"/>
              </a:spcAft>
            </a:pPr>
            <a:r>
              <a:rPr sz="1200" b="1" i="0">
                <a:solidFill>
                  <a:srgbClr val="3AEDE5"/>
                </a:solidFill>
                <a:latin typeface="Alegreya Sans"/>
              </a:rPr>
              <a:t>•  </a:t>
            </a:r>
            <a:r>
              <a:rPr sz="1200" b="0" i="0">
                <a:solidFill>
                  <a:srgbClr val="FFFFFF"/>
                </a:solidFill>
                <a:latin typeface="Alegreya Sans"/>
              </a:rPr>
              <a:t>BNPP CIB: design of the target operating model for supervisor relations (benchmark, Group synergies, roles and responsibilities); eZyness: European expansion strategy with Strategy&amp;.</a:t>
            </a:r>
          </a:p>
          <a:p>
            <a:pPr algn="l">
              <a:spcAft>
                <a:spcPts val="100"/>
              </a:spcAft>
            </a:pPr>
            <a:r>
              <a:rPr sz="1200" b="1" i="0">
                <a:solidFill>
                  <a:srgbClr val="3AEDE5"/>
                </a:solidFill>
                <a:latin typeface="Alegreya Sans"/>
              </a:rPr>
              <a:t>▸ </a:t>
            </a:r>
            <a:r>
              <a:rPr sz="1200" b="1" i="0">
                <a:solidFill>
                  <a:srgbClr val="FFFFFF"/>
                </a:solidFill>
                <a:latin typeface="Alegreya Sans"/>
              </a:rPr>
              <a:t>EY France, Paris</a:t>
            </a:r>
            <a:r>
              <a:rPr sz="1200" b="0" i="0">
                <a:solidFill>
                  <a:srgbClr val="FFFFFF"/>
                </a:solidFill>
                <a:latin typeface="Alegreya Sans"/>
              </a:rPr>
              <a:t> — Financial Services Consulting — Senior Consultant</a:t>
            </a:r>
            <a:r>
              <a:rPr sz="1200" b="0" i="1">
                <a:solidFill>
                  <a:srgbClr val="3AEDE5"/>
                </a:solidFill>
                <a:latin typeface="Alegreya Sans"/>
              </a:rPr>
              <a:t>  (Sept. — Dec. 2019)</a:t>
            </a:r>
          </a:p>
          <a:p>
            <a:pPr algn="l">
              <a:spcAft>
                <a:spcPts val="100"/>
              </a:spcAft>
            </a:pPr>
            <a:r>
              <a:rPr sz="1200" b="1" i="0">
                <a:solidFill>
                  <a:srgbClr val="3AEDE5"/>
                </a:solidFill>
                <a:latin typeface="Alegreya Sans"/>
              </a:rPr>
              <a:t>▸ </a:t>
            </a:r>
            <a:r>
              <a:rPr sz="1200" b="1" i="0">
                <a:solidFill>
                  <a:srgbClr val="FFFFFF"/>
                </a:solidFill>
                <a:latin typeface="Alegreya Sans"/>
              </a:rPr>
              <a:t>KPMG Luxembourg</a:t>
            </a:r>
            <a:r>
              <a:rPr sz="1200" b="0" i="0">
                <a:solidFill>
                  <a:srgbClr val="FFFFFF"/>
                </a:solidFill>
                <a:latin typeface="Alegreya Sans"/>
              </a:rPr>
              <a:t> — Financial Services Consulting — Junior then Senior Consultant</a:t>
            </a:r>
            <a:r>
              <a:rPr sz="1200" b="0" i="1">
                <a:solidFill>
                  <a:srgbClr val="3AEDE5"/>
                </a:solidFill>
                <a:latin typeface="Alegreya Sans"/>
              </a:rPr>
              <a:t>  (Sept. 2016 — July 2019)</a:t>
            </a:r>
          </a:p>
        </p:txBody>
      </p:sp>
      <p:sp>
        <p:nvSpPr>
          <p:cNvPr id="9" name="Rectangle 8"/>
          <p:cNvSpPr/>
          <p:nvPr/>
        </p:nvSpPr>
        <p:spPr>
          <a:xfrm>
            <a:off x="0" y="6578000"/>
            <a:ext cx="12192000" cy="280000"/>
          </a:xfrm>
          <a:prstGeom prst="rect">
            <a:avLst/>
          </a:prstGeom>
          <a:solidFill>
            <a:srgbClr val="061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 y="6578000"/>
            <a:ext cx="11734800" cy="280000"/>
          </a:xfrm>
          <a:prstGeom prst="rect">
            <a:avLst/>
          </a:prstGeom>
          <a:noFill/>
        </p:spPr>
        <p:txBody>
          <a:bodyPr wrap="square" lIns="0" rIns="0" tIns="0" bIns="0">
            <a:spAutoFit/>
          </a:bodyPr>
          <a:lstStyle/>
          <a:p>
            <a:pPr algn="ctr"/>
            <a:r>
              <a:rPr sz="1000" b="0" i="1">
                <a:solidFill>
                  <a:srgbClr val="CCD6E8"/>
                </a:solidFill>
                <a:latin typeface="Alegreya Sans"/>
              </a:rPr>
              <a:t>The information in this document is strictly confidential — This document may only be shared with the owner's consent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