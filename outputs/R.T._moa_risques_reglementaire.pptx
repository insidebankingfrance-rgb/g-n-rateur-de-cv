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2017  </a:t>
            </a:r>
            <a:r>
              <a:rPr sz="1200" b="1" i="0">
                <a:solidFill>
                  <a:srgbClr val="FFFFFF"/>
                </a:solidFill>
                <a:latin typeface="Alegreya Sans"/>
              </a:rPr>
              <a:t>IGR-IAE — Institut de Gestion de Rennes</a:t>
            </a:r>
          </a:p>
          <a:p>
            <a:pPr algn="l">
              <a:spcAft>
                <a:spcPts val="300"/>
              </a:spcAft>
            </a:pPr>
            <a:r>
              <a:rPr sz="1200" b="0" i="1">
                <a:solidFill>
                  <a:srgbClr val="CCD6E8"/>
                </a:solidFill>
                <a:latin typeface="Alegreya Sans"/>
              </a:rPr>
              <a:t>M2 Audit &amp; Gestion des Risques (alternance)</a:t>
            </a:r>
          </a:p>
          <a:p>
            <a:pPr algn="l">
              <a:spcAft>
                <a:spcPts val="100"/>
              </a:spcAft>
            </a:pPr>
            <a:r>
              <a:rPr sz="1200" b="1" i="0">
                <a:solidFill>
                  <a:srgbClr val="FFFFFF"/>
                </a:solidFill>
                <a:latin typeface="Alegreya Sans"/>
              </a:rPr>
              <a:t>Spécialisation</a:t>
            </a:r>
          </a:p>
          <a:p>
            <a:pPr algn="l">
              <a:spcAft>
                <a:spcPts val="300"/>
              </a:spcAft>
            </a:pPr>
            <a:r>
              <a:rPr sz="1200" b="0" i="1">
                <a:solidFill>
                  <a:srgbClr val="CCD6E8"/>
                </a:solidFill>
                <a:latin typeface="Alegreya Sans"/>
              </a:rPr>
              <a:t>Risques de crédit, de marché et opérationnels, modélisation financière, gestion d'actifs et gestion bancaire</a:t>
            </a:r>
          </a:p>
          <a:p>
            <a:pPr algn="l">
              <a:spcAft>
                <a:spcPts val="100"/>
              </a:spcAft>
            </a:pPr>
            <a:r>
              <a:rPr sz="1200" b="1" i="0">
                <a:solidFill>
                  <a:srgbClr val="FFFFFF"/>
                </a:solidFill>
                <a:latin typeface="Alegreya Sans"/>
              </a:rPr>
              <a:t>Certifications</a:t>
            </a:r>
          </a:p>
          <a:p>
            <a:pPr algn="l">
              <a:spcAft>
                <a:spcPts val="300"/>
              </a:spcAft>
            </a:pPr>
            <a:r>
              <a:rPr sz="1200" b="0" i="1">
                <a:solidFill>
                  <a:srgbClr val="CCD6E8"/>
                </a:solidFill>
                <a:latin typeface="Alegreya Sans"/>
              </a:rPr>
              <a:t>AMF · BMC (Bloomberg Market Concepts)</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RÉSUMÉ</a:t>
            </a:r>
          </a:p>
          <a:p>
            <a:pPr algn="l">
              <a:spcAft>
                <a:spcPts val="300"/>
              </a:spcAft>
            </a:pPr>
            <a:r>
              <a:rPr sz="1200" b="0" i="0">
                <a:solidFill>
                  <a:srgbClr val="FFFFFF"/>
                </a:solidFill>
                <a:latin typeface="Alegreya Sans"/>
              </a:rPr>
              <a:t>9 ans d'expérience dans la conduite de projets de transformation, de gestion des risques et de conformité réglementaire pour les établissements financiers. Intervient à l'interface entre les métiers et les équipes IT sur des programmes complexes liés au risque de crédit, à la qualité des données, aux évolutions réglementaires et au pilotage de projets SI. Une expérience acquise auprès d'acteurs majeurs du secteur, combinant expertise métier, maîtrise des enjeux réglementaires et solides compétences en gestion de projet MOA.</a:t>
            </a:r>
          </a:p>
          <a:p>
            <a:pPr algn="l">
              <a:spcBef>
                <a:spcPts val="600"/>
              </a:spcBef>
              <a:spcAft>
                <a:spcPts val="300"/>
              </a:spcAft>
            </a:pPr>
            <a:r>
              <a:rPr sz="1300" b="1" i="0">
                <a:solidFill>
                  <a:srgbClr val="3AEDE5"/>
                </a:solidFill>
                <a:latin typeface="Alegreya Sans"/>
              </a:rPr>
              <a:t>PRINCIPALES EXPÉRIENCES PROFESSIONNELLES</a:t>
            </a:r>
          </a:p>
          <a:p>
            <a:pPr algn="l">
              <a:spcAft>
                <a:spcPts val="100"/>
              </a:spcAft>
            </a:pPr>
            <a:r>
              <a:rPr sz="1200" b="1" i="0">
                <a:solidFill>
                  <a:srgbClr val="3AEDE5"/>
                </a:solidFill>
                <a:latin typeface="Alegreya Sans"/>
              </a:rPr>
              <a:t>▸ </a:t>
            </a:r>
            <a:r>
              <a:rPr sz="1200" b="1" i="0">
                <a:solidFill>
                  <a:srgbClr val="FFFFFF"/>
                </a:solidFill>
                <a:latin typeface="Alegreya Sans"/>
              </a:rPr>
              <a:t>Crédit Agricole Leasing &amp; Factoring — DSID Risques Leasing</a:t>
            </a:r>
            <a:r>
              <a:rPr sz="1200" b="0" i="0">
                <a:solidFill>
                  <a:srgbClr val="FFFFFF"/>
                </a:solidFill>
                <a:latin typeface="Alegreya Sans"/>
              </a:rPr>
              <a:t> — Chef de projets MOA (Karat Advisory)</a:t>
            </a:r>
            <a:r>
              <a:rPr sz="1200" b="0" i="1">
                <a:solidFill>
                  <a:srgbClr val="3AEDE5"/>
                </a:solidFill>
                <a:latin typeface="Alegreya Sans"/>
              </a:rPr>
              <a:t>  (2024 — 2026 · 22 mois)</a:t>
            </a:r>
          </a:p>
          <a:p>
            <a:pPr algn="l" lvl="1">
              <a:spcAft>
                <a:spcPts val="100"/>
              </a:spcAft>
            </a:pPr>
            <a:r>
              <a:rPr sz="1200" b="1" i="0">
                <a:solidFill>
                  <a:srgbClr val="3AEDE5"/>
                </a:solidFill>
                <a:latin typeface="Alegreya Sans"/>
              </a:rPr>
              <a:t>•  </a:t>
            </a:r>
            <a:r>
              <a:rPr sz="1200" b="0" i="0">
                <a:solidFill>
                  <a:srgbClr val="FFFFFF"/>
                </a:solidFill>
                <a:latin typeface="Alegreya Sans"/>
              </a:rPr>
              <a:t>Pilotage de projets fonctionnels SI de la phase de cadrage jusqu'à la mise en production.</a:t>
            </a:r>
          </a:p>
          <a:p>
            <a:pPr algn="l" lvl="1">
              <a:spcAft>
                <a:spcPts val="100"/>
              </a:spcAft>
            </a:pPr>
            <a:r>
              <a:rPr sz="1200" b="1" i="0">
                <a:solidFill>
                  <a:srgbClr val="3AEDE5"/>
                </a:solidFill>
                <a:latin typeface="Alegreya Sans"/>
              </a:rPr>
              <a:t>•  </a:t>
            </a:r>
            <a:r>
              <a:rPr sz="1200" b="0" i="0">
                <a:solidFill>
                  <a:srgbClr val="FFFFFF"/>
                </a:solidFill>
                <a:latin typeface="Alegreya Sans"/>
              </a:rPr>
              <a:t>Recueil et analyse des besoins métiers, réalisation d'une évaluation d'impact et de faisabilité en fonction des contraintes.</a:t>
            </a:r>
          </a:p>
          <a:p>
            <a:pPr algn="l" lvl="1">
              <a:spcAft>
                <a:spcPts val="100"/>
              </a:spcAft>
            </a:pPr>
            <a:r>
              <a:rPr sz="1200" b="1" i="0">
                <a:solidFill>
                  <a:srgbClr val="3AEDE5"/>
                </a:solidFill>
                <a:latin typeface="Alegreya Sans"/>
              </a:rPr>
              <a:t>•  </a:t>
            </a:r>
            <a:r>
              <a:rPr sz="1200" b="0" i="0">
                <a:solidFill>
                  <a:srgbClr val="FFFFFF"/>
                </a:solidFill>
                <a:latin typeface="Alegreya Sans"/>
              </a:rPr>
              <a:t>Production des livrables MOA : spécifications fonctionnelles, stratégies et plans de tests, feuille de route de mise en production.</a:t>
            </a:r>
          </a:p>
          <a:p>
            <a:pPr algn="l" lvl="1">
              <a:spcAft>
                <a:spcPts val="100"/>
              </a:spcAft>
            </a:pPr>
            <a:r>
              <a:rPr sz="1200" b="1" i="0">
                <a:solidFill>
                  <a:srgbClr val="3AEDE5"/>
                </a:solidFill>
                <a:latin typeface="Alegreya Sans"/>
              </a:rPr>
              <a:t>•  </a:t>
            </a:r>
            <a:r>
              <a:rPr sz="1200" b="0" i="0">
                <a:solidFill>
                  <a:srgbClr val="FFFFFF"/>
                </a:solidFill>
                <a:latin typeface="Alegreya Sans"/>
              </a:rPr>
              <a:t>Suivi des évolutions applicatives et coordination avec la MOE.</a:t>
            </a:r>
          </a:p>
          <a:p>
            <a:pPr algn="l" lvl="1">
              <a:spcAft>
                <a:spcPts val="100"/>
              </a:spcAft>
            </a:pPr>
            <a:r>
              <a:rPr sz="1200" b="1" i="0">
                <a:solidFill>
                  <a:srgbClr val="3AEDE5"/>
                </a:solidFill>
                <a:latin typeface="Alegreya Sans"/>
              </a:rPr>
              <a:t>•  </a:t>
            </a:r>
            <a:r>
              <a:rPr sz="1200" b="0" i="0">
                <a:solidFill>
                  <a:srgbClr val="FFFFFF"/>
                </a:solidFill>
                <a:latin typeface="Alegreya Sans"/>
              </a:rPr>
              <a:t>Contribution au maintien en condition opérationnelle des applications (support fonctionnel, suivi des incidents, maintenance évolutive).</a:t>
            </a:r>
          </a:p>
          <a:p>
            <a:pPr algn="l" lvl="1">
              <a:spcAft>
                <a:spcPts val="100"/>
              </a:spcAft>
            </a:pPr>
            <a:r>
              <a:rPr sz="1200" b="1" i="0">
                <a:solidFill>
                  <a:srgbClr val="3AEDE5"/>
                </a:solidFill>
                <a:latin typeface="Alegreya Sans"/>
              </a:rPr>
              <a:t>•  </a:t>
            </a:r>
            <a:r>
              <a:rPr sz="1200" b="0" i="0">
                <a:solidFill>
                  <a:srgbClr val="FFFFFF"/>
                </a:solidFill>
                <a:latin typeface="Alegreya Sans"/>
              </a:rPr>
              <a:t>Animation des comités projets et ateliers métiers, accompagnement des utilisateurs dans la conduite du changement.</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BNP Paribas — BCBS 239</a:t>
            </a:r>
            <a:r>
              <a:rPr sz="1200" b="0" i="0">
                <a:solidFill>
                  <a:srgbClr val="FFFFFF"/>
                </a:solidFill>
                <a:latin typeface="Alegreya Sans"/>
              </a:rPr>
              <a:t> — Gestion de la qualité des données Risques (EY)</a:t>
            </a:r>
            <a:r>
              <a:rPr sz="1200" b="0" i="1">
                <a:solidFill>
                  <a:srgbClr val="3AEDE5"/>
                </a:solidFill>
                <a:latin typeface="Alegreya Sans"/>
              </a:rPr>
              <a:t>  (14 mois)</a:t>
            </a:r>
          </a:p>
          <a:p>
            <a:pPr algn="l" lvl="1">
              <a:spcAft>
                <a:spcPts val="100"/>
              </a:spcAft>
            </a:pPr>
            <a:r>
              <a:rPr sz="1200" b="1" i="0">
                <a:solidFill>
                  <a:srgbClr val="3AEDE5"/>
                </a:solidFill>
                <a:latin typeface="Alegreya Sans"/>
              </a:rPr>
              <a:t>•  </a:t>
            </a:r>
            <a:r>
              <a:rPr sz="1200" b="0" i="0">
                <a:solidFill>
                  <a:srgbClr val="FFFFFF"/>
                </a:solidFill>
                <a:latin typeface="Alegreya Sans"/>
              </a:rPr>
              <a:t>Mise en place d'un dispositif de gestion de la qualité des données utilisées par les modèles de notation des institutions financières (Risk Drivers, données de scoping) : identification et définition des données prioritaires.</a:t>
            </a:r>
          </a:p>
          <a:p>
            <a:pPr algn="l" lvl="1">
              <a:spcAft>
                <a:spcPts val="100"/>
              </a:spcAft>
            </a:pPr>
            <a:r>
              <a:rPr sz="1200" b="1" i="0">
                <a:solidFill>
                  <a:srgbClr val="3AEDE5"/>
                </a:solidFill>
                <a:latin typeface="Alegreya Sans"/>
              </a:rPr>
              <a:t>•  </a:t>
            </a:r>
            <a:r>
              <a:rPr sz="1200" b="0" i="0">
                <a:solidFill>
                  <a:srgbClr val="FFFFFF"/>
                </a:solidFill>
                <a:latin typeface="Alegreya Sans"/>
              </a:rPr>
              <a:t>Définition et réalisation des contrôles techniques et opérationnels, identification et remédiation des problèmes de qualité des données.</a:t>
            </a:r>
          </a:p>
          <a:p>
            <a:pPr algn="l" lvl="1">
              <a:spcAft>
                <a:spcPts val="100"/>
              </a:spcAft>
            </a:pPr>
            <a:r>
              <a:rPr sz="1200" b="1" i="0">
                <a:solidFill>
                  <a:srgbClr val="3AEDE5"/>
                </a:solidFill>
                <a:latin typeface="Alegreya Sans"/>
              </a:rPr>
              <a:t>•  </a:t>
            </a:r>
            <a:r>
              <a:rPr sz="1200" b="0" i="0">
                <a:solidFill>
                  <a:srgbClr val="FFFFFF"/>
                </a:solidFill>
                <a:latin typeface="Alegreya Sans"/>
              </a:rPr>
              <a:t>Production de tableaux de bord présentant les résultats de contrôles et les plans d'actions de remédiation.</a:t>
            </a:r>
          </a:p>
          <a:p>
            <a:pPr algn="l" lvl="1">
              <a:spcAft>
                <a:spcPts val="100"/>
              </a:spcAft>
            </a:pPr>
            <a:r>
              <a:rPr sz="1200" b="1" i="0">
                <a:solidFill>
                  <a:srgbClr val="3AEDE5"/>
                </a:solidFill>
                <a:latin typeface="Alegreya Sans"/>
              </a:rPr>
              <a:t>•  </a:t>
            </a:r>
            <a:r>
              <a:rPr sz="1200" b="0" i="0">
                <a:solidFill>
                  <a:srgbClr val="FFFFFF"/>
                </a:solidFill>
                <a:latin typeface="Alegreya Sans"/>
              </a:rPr>
              <a:t>Préparation et formalisation des réponses aux recommandations BCE sur les sujets de qualité de données ; production du corpus documentaire.</a:t>
            </a:r>
          </a:p>
          <a:p>
            <a:pPr algn="l">
              <a:spcAft>
                <a:spcPts val="100"/>
              </a:spcAft>
            </a:pPr>
            <a:r>
              <a:rPr sz="1200" b="1" i="0">
                <a:solidFill>
                  <a:srgbClr val="3AEDE5"/>
                </a:solidFill>
                <a:latin typeface="Alegreya Sans"/>
              </a:rPr>
              <a:t>▸ </a:t>
            </a:r>
            <a:r>
              <a:rPr sz="1200" b="1" i="0">
                <a:solidFill>
                  <a:srgbClr val="FFFFFF"/>
                </a:solidFill>
                <a:latin typeface="Alegreya Sans"/>
              </a:rPr>
              <a:t>BNP Paribas — NDOD</a:t>
            </a:r>
            <a:r>
              <a:rPr sz="1200" b="0" i="0">
                <a:solidFill>
                  <a:srgbClr val="FFFFFF"/>
                </a:solidFill>
                <a:latin typeface="Alegreya Sans"/>
              </a:rPr>
              <a:t> — Implémentation réglementaire (EY)</a:t>
            </a:r>
            <a:r>
              <a:rPr sz="1200" b="0" i="1">
                <a:solidFill>
                  <a:srgbClr val="3AEDE5"/>
                </a:solidFill>
                <a:latin typeface="Alegreya Sans"/>
              </a:rPr>
              <a:t>  (7 mois)</a:t>
            </a:r>
          </a:p>
          <a:p>
            <a:pPr algn="l" lvl="1">
              <a:spcAft>
                <a:spcPts val="100"/>
              </a:spcAft>
            </a:pPr>
            <a:r>
              <a:rPr sz="1200" b="1" i="0">
                <a:solidFill>
                  <a:srgbClr val="3AEDE5"/>
                </a:solidFill>
                <a:latin typeface="Alegreya Sans"/>
              </a:rPr>
              <a:t>•  </a:t>
            </a:r>
            <a:r>
              <a:rPr sz="1200" b="0" i="0">
                <a:solidFill>
                  <a:srgbClr val="FFFFFF"/>
                </a:solidFill>
                <a:latin typeface="Alegreya Sans"/>
              </a:rPr>
              <a:t>Définition des indicateurs d'évaluation des impacts potentiels de la réglementation NDOD sur les paramètres de risque de crédit.</a:t>
            </a:r>
          </a:p>
          <a:p>
            <a:pPr algn="l" lvl="1">
              <a:spcAft>
                <a:spcPts val="100"/>
              </a:spcAft>
            </a:pPr>
            <a:r>
              <a:rPr sz="1200" b="1" i="0">
                <a:solidFill>
                  <a:srgbClr val="3AEDE5"/>
                </a:solidFill>
                <a:latin typeface="Alegreya Sans"/>
              </a:rPr>
              <a:t>•  </a:t>
            </a:r>
            <a:r>
              <a:rPr sz="1200" b="0" i="0">
                <a:solidFill>
                  <a:srgbClr val="FFFFFF"/>
                </a:solidFill>
                <a:latin typeface="Alegreya Sans"/>
              </a:rPr>
              <a:t>Coordination de la production des indicateurs d'évaluation d'impact au sein des 8 entités du scope de travaux.</a:t>
            </a:r>
          </a:p>
          <a:p>
            <a:pPr algn="l" lvl="1">
              <a:spcAft>
                <a:spcPts val="100"/>
              </a:spcAft>
            </a:pPr>
            <a:r>
              <a:rPr sz="1200" b="1" i="0">
                <a:solidFill>
                  <a:srgbClr val="3AEDE5"/>
                </a:solidFill>
                <a:latin typeface="Alegreya Sans"/>
              </a:rPr>
              <a:t>•  </a:t>
            </a:r>
            <a:r>
              <a:rPr sz="1200" b="0" i="0">
                <a:solidFill>
                  <a:srgbClr val="FFFFFF"/>
                </a:solidFill>
                <a:latin typeface="Alegreya Sans"/>
              </a:rPr>
              <a:t>Suivi, formalisation, consolidation et analyse des résultats de production des indicateurs d'impact.</a:t>
            </a:r>
          </a:p>
          <a:p>
            <a:pPr algn="l" lvl="1">
              <a:spcAft>
                <a:spcPts val="100"/>
              </a:spcAft>
            </a:pPr>
            <a:r>
              <a:rPr sz="1200" b="1" i="0">
                <a:solidFill>
                  <a:srgbClr val="3AEDE5"/>
                </a:solidFill>
                <a:latin typeface="Alegreya Sans"/>
              </a:rPr>
              <a:t>•  </a:t>
            </a:r>
            <a:r>
              <a:rPr sz="1200" b="0" i="0">
                <a:solidFill>
                  <a:srgbClr val="FFFFFF"/>
                </a:solidFill>
                <a:latin typeface="Alegreya Sans"/>
              </a:rPr>
              <a:t>Gestion de projet (PMO) : animation des meetings, rétroplanning, coordination des échanges avec le superviseur pour le suivi des recommandations.</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Dexia — CRR II &amp; EBA 3.0</a:t>
            </a:r>
            <a:r>
              <a:rPr sz="1200" b="0" i="0">
                <a:solidFill>
                  <a:srgbClr val="FFFFFF"/>
                </a:solidFill>
                <a:latin typeface="Alegreya Sans"/>
              </a:rPr>
              <a:t> — Implémentation réglementaire (EY)</a:t>
            </a:r>
            <a:r>
              <a:rPr sz="1200" b="0" i="1">
                <a:solidFill>
                  <a:srgbClr val="3AEDE5"/>
                </a:solidFill>
                <a:latin typeface="Alegreya Sans"/>
              </a:rPr>
              <a:t>  (6 mois)</a:t>
            </a:r>
          </a:p>
          <a:p>
            <a:pPr algn="l" lvl="1">
              <a:spcAft>
                <a:spcPts val="100"/>
              </a:spcAft>
            </a:pPr>
            <a:r>
              <a:rPr sz="1200" b="1" i="0">
                <a:solidFill>
                  <a:srgbClr val="3AEDE5"/>
                </a:solidFill>
                <a:latin typeface="Alegreya Sans"/>
              </a:rPr>
              <a:t>•  </a:t>
            </a:r>
            <a:r>
              <a:rPr sz="1200" b="0" i="0">
                <a:solidFill>
                  <a:srgbClr val="FFFFFF"/>
                </a:solidFill>
                <a:latin typeface="Alegreya Sans"/>
              </a:rPr>
              <a:t>Pilotage du programme d'implémentation des évolutions CRR II sur le périmètre des risques de crédit.</a:t>
            </a:r>
          </a:p>
          <a:p>
            <a:pPr algn="l" lvl="1">
              <a:spcAft>
                <a:spcPts val="100"/>
              </a:spcAft>
            </a:pPr>
            <a:r>
              <a:rPr sz="1200" b="1" i="0">
                <a:solidFill>
                  <a:srgbClr val="3AEDE5"/>
                </a:solidFill>
                <a:latin typeface="Alegreya Sans"/>
              </a:rPr>
              <a:t>•  </a:t>
            </a:r>
            <a:r>
              <a:rPr sz="1200" b="0" i="0">
                <a:solidFill>
                  <a:srgbClr val="FFFFFF"/>
                </a:solidFill>
                <a:latin typeface="Alegreya Sans"/>
              </a:rPr>
              <a:t>Suivi des évolutions IT liées à l'implémentation (besoins métiers, spécifications, développements, tests).</a:t>
            </a:r>
          </a:p>
          <a:p>
            <a:pPr algn="l" lvl="1">
              <a:spcAft>
                <a:spcPts val="100"/>
              </a:spcAft>
            </a:pPr>
            <a:r>
              <a:rPr sz="1200" b="1" i="0">
                <a:solidFill>
                  <a:srgbClr val="3AEDE5"/>
                </a:solidFill>
                <a:latin typeface="Alegreya Sans"/>
              </a:rPr>
              <a:t>•  </a:t>
            </a:r>
            <a:r>
              <a:rPr sz="1200" b="0" i="0">
                <a:solidFill>
                  <a:srgbClr val="FFFFFF"/>
                </a:solidFill>
                <a:latin typeface="Alegreya Sans"/>
              </a:rPr>
              <a:t>Suivi de la production des rapports EBA 3.0 et COREP, incluant les évolutions CRR II, et de leur soumission au superviseur.</a:t>
            </a:r>
          </a:p>
          <a:p>
            <a:pPr algn="l" lvl="1">
              <a:spcAft>
                <a:spcPts val="100"/>
              </a:spcAft>
            </a:pPr>
            <a:r>
              <a:rPr sz="1200" b="1" i="0">
                <a:solidFill>
                  <a:srgbClr val="3AEDE5"/>
                </a:solidFill>
                <a:latin typeface="Alegreya Sans"/>
              </a:rPr>
              <a:t>•  </a:t>
            </a:r>
            <a:r>
              <a:rPr sz="1200" b="0" i="0">
                <a:solidFill>
                  <a:srgbClr val="FFFFFF"/>
                </a:solidFill>
                <a:latin typeface="Alegreya Sans"/>
              </a:rPr>
              <a:t>Gestion de la relation avec le fournisseur du moteur de calcul des paramètres de risques.</a:t>
            </a:r>
          </a:p>
          <a:p>
            <a:pPr algn="l" lvl="1">
              <a:spcAft>
                <a:spcPts val="100"/>
              </a:spcAft>
            </a:pPr>
            <a:r>
              <a:rPr sz="1200" b="1" i="0">
                <a:solidFill>
                  <a:srgbClr val="3AEDE5"/>
                </a:solidFill>
                <a:latin typeface="Alegreya Sans"/>
              </a:rPr>
              <a:t>•  </a:t>
            </a:r>
            <a:r>
              <a:rPr sz="1200" b="0" i="0">
                <a:solidFill>
                  <a:srgbClr val="FFFFFF"/>
                </a:solidFill>
                <a:latin typeface="Alegreya Sans"/>
              </a:rPr>
              <a:t>Gestion de projet en Agile : rétroplanning, préparation et animation des comités, suivi budgétaire.</a:t>
            </a:r>
          </a:p>
          <a:p>
            <a:pPr algn="l">
              <a:spcAft>
                <a:spcPts val="100"/>
              </a:spcAft>
            </a:pPr>
            <a:r>
              <a:rPr sz="1200" b="1" i="0">
                <a:solidFill>
                  <a:srgbClr val="3AEDE5"/>
                </a:solidFill>
                <a:latin typeface="Alegreya Sans"/>
              </a:rPr>
              <a:t>▸ </a:t>
            </a:r>
            <a:r>
              <a:rPr sz="1200" b="1" i="0">
                <a:solidFill>
                  <a:srgbClr val="FFFFFF"/>
                </a:solidFill>
                <a:latin typeface="Alegreya Sans"/>
              </a:rPr>
              <a:t>Dexia — Stress Tests EBA</a:t>
            </a:r>
            <a:r>
              <a:rPr sz="1200" b="0" i="0">
                <a:solidFill>
                  <a:srgbClr val="FFFFFF"/>
                </a:solidFill>
                <a:latin typeface="Alegreya Sans"/>
              </a:rPr>
              <a:t> — Exercice réglementaire (EY)</a:t>
            </a:r>
            <a:r>
              <a:rPr sz="1200" b="0" i="1">
                <a:solidFill>
                  <a:srgbClr val="3AEDE5"/>
                </a:solidFill>
                <a:latin typeface="Alegreya Sans"/>
              </a:rPr>
              <a:t>  (10 mois)</a:t>
            </a:r>
          </a:p>
          <a:p>
            <a:pPr algn="l" lvl="1">
              <a:spcAft>
                <a:spcPts val="100"/>
              </a:spcAft>
            </a:pPr>
            <a:r>
              <a:rPr sz="1200" b="1" i="0">
                <a:solidFill>
                  <a:srgbClr val="3AEDE5"/>
                </a:solidFill>
                <a:latin typeface="Alegreya Sans"/>
              </a:rPr>
              <a:t>•  </a:t>
            </a:r>
            <a:r>
              <a:rPr sz="1200" b="0" i="0">
                <a:solidFill>
                  <a:srgbClr val="FFFFFF"/>
                </a:solidFill>
                <a:latin typeface="Alegreya Sans"/>
              </a:rPr>
              <a:t>Analyse des exigences méthodologiques EBA sur le périmètre risques de crédit et de leurs impacts sur les calculs des provisions et des RWA.</a:t>
            </a:r>
          </a:p>
          <a:p>
            <a:pPr algn="l" lvl="1">
              <a:spcAft>
                <a:spcPts val="100"/>
              </a:spcAft>
            </a:pPr>
            <a:r>
              <a:rPr sz="1200" b="1" i="0">
                <a:solidFill>
                  <a:srgbClr val="3AEDE5"/>
                </a:solidFill>
                <a:latin typeface="Alegreya Sans"/>
              </a:rPr>
              <a:t>•  </a:t>
            </a:r>
            <a:r>
              <a:rPr sz="1200" b="0" i="0">
                <a:solidFill>
                  <a:srgbClr val="FFFFFF"/>
                </a:solidFill>
                <a:latin typeface="Alegreya Sans"/>
              </a:rPr>
              <a:t>Analyse de l'environnement Dexia et identification des adaptations nécessaires à l'application de la méthodologie EBA.</a:t>
            </a:r>
          </a:p>
          <a:p>
            <a:pPr algn="l" lvl="1">
              <a:spcAft>
                <a:spcPts val="100"/>
              </a:spcAft>
            </a:pPr>
            <a:r>
              <a:rPr sz="1200" b="1" i="0">
                <a:solidFill>
                  <a:srgbClr val="3AEDE5"/>
                </a:solidFill>
                <a:latin typeface="Alegreya Sans"/>
              </a:rPr>
              <a:t>•  </a:t>
            </a:r>
            <a:r>
              <a:rPr sz="1200" b="0" i="0">
                <a:solidFill>
                  <a:srgbClr val="FFFFFF"/>
                </a:solidFill>
                <a:latin typeface="Alegreya Sans"/>
              </a:rPr>
              <a:t>Cartographie et analyse des modèles IFRS 9 utiles à l'exercice de stress test EBA.</a:t>
            </a:r>
          </a:p>
          <a:p>
            <a:pPr algn="l" lvl="1">
              <a:spcAft>
                <a:spcPts val="100"/>
              </a:spcAft>
            </a:pPr>
            <a:r>
              <a:rPr sz="1200" b="1" i="0">
                <a:solidFill>
                  <a:srgbClr val="3AEDE5"/>
                </a:solidFill>
                <a:latin typeface="Alegreya Sans"/>
              </a:rPr>
              <a:t>•  </a:t>
            </a:r>
            <a:r>
              <a:rPr sz="1200" b="0" i="0">
                <a:solidFill>
                  <a:srgbClr val="FFFFFF"/>
                </a:solidFill>
                <a:latin typeface="Alegreya Sans"/>
              </a:rPr>
              <a:t>Exécution d'un exercice de simulation : alimentation des templates EBA en données historiques et stressées d'exposition, de provisions et de paramètres de risque (PD, LGD, RWA).</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BNP Paribas — BCBS 239</a:t>
            </a:r>
            <a:r>
              <a:rPr sz="1200" b="0" i="0">
                <a:solidFill>
                  <a:srgbClr val="FFFFFF"/>
                </a:solidFill>
                <a:latin typeface="Alegreya Sans"/>
              </a:rPr>
              <a:t> — Conformité Groupe &amp; qualité des données Risques (EY)</a:t>
            </a:r>
            <a:r>
              <a:rPr sz="1200" b="0" i="1">
                <a:solidFill>
                  <a:srgbClr val="3AEDE5"/>
                </a:solidFill>
                <a:latin typeface="Alegreya Sans"/>
              </a:rPr>
              <a:t>  (8 mois)</a:t>
            </a:r>
          </a:p>
          <a:p>
            <a:pPr algn="l" lvl="1">
              <a:spcAft>
                <a:spcPts val="100"/>
              </a:spcAft>
            </a:pPr>
            <a:r>
              <a:rPr sz="1200" b="1" i="0">
                <a:solidFill>
                  <a:srgbClr val="3AEDE5"/>
                </a:solidFill>
                <a:latin typeface="Alegreya Sans"/>
              </a:rPr>
              <a:t>•  </a:t>
            </a:r>
            <a:r>
              <a:rPr sz="1200" b="0" i="0">
                <a:solidFill>
                  <a:srgbClr val="FFFFFF"/>
                </a:solidFill>
                <a:latin typeface="Alegreya Sans"/>
              </a:rPr>
              <a:t>Mise en place d'un processus d'évaluation de la conformité du Groupe aux principes BCBS 239.</a:t>
            </a:r>
          </a:p>
          <a:p>
            <a:pPr algn="l" lvl="1">
              <a:spcAft>
                <a:spcPts val="100"/>
              </a:spcAft>
            </a:pPr>
            <a:r>
              <a:rPr sz="1200" b="1" i="0">
                <a:solidFill>
                  <a:srgbClr val="3AEDE5"/>
                </a:solidFill>
                <a:latin typeface="Alegreya Sans"/>
              </a:rPr>
              <a:t>•  </a:t>
            </a:r>
            <a:r>
              <a:rPr sz="1200" b="0" i="0">
                <a:solidFill>
                  <a:srgbClr val="FFFFFF"/>
                </a:solidFill>
                <a:latin typeface="Alegreya Sans"/>
              </a:rPr>
              <a:t>Suivi de la mise en œuvre du plan de remédiation des recommandations (BCE, Inspection générale, revue indépendante) relatives à la qualité des données Risques sur le périmètre Risque / Finance.</a:t>
            </a:r>
          </a:p>
          <a:p>
            <a:pPr algn="l" lvl="1">
              <a:spcAft>
                <a:spcPts val="100"/>
              </a:spcAft>
            </a:pPr>
            <a:r>
              <a:rPr sz="1200" b="1" i="0">
                <a:solidFill>
                  <a:srgbClr val="3AEDE5"/>
                </a:solidFill>
                <a:latin typeface="Alegreya Sans"/>
              </a:rPr>
              <a:t>•  </a:t>
            </a:r>
            <a:r>
              <a:rPr sz="1200" b="0" i="0">
                <a:solidFill>
                  <a:srgbClr val="FFFFFF"/>
                </a:solidFill>
                <a:latin typeface="Alegreya Sans"/>
              </a:rPr>
              <a:t>Contribution à la production de la documentation ICAAP sur les sujets d'agrégation de données Risques.</a:t>
            </a:r>
          </a:p>
          <a:p>
            <a:pPr algn="l" lvl="1">
              <a:spcAft>
                <a:spcPts val="100"/>
              </a:spcAft>
            </a:pPr>
            <a:r>
              <a:rPr sz="1200" b="1" i="0">
                <a:solidFill>
                  <a:srgbClr val="3AEDE5"/>
                </a:solidFill>
                <a:latin typeface="Alegreya Sans"/>
              </a:rPr>
              <a:t>•  </a:t>
            </a:r>
            <a:r>
              <a:rPr sz="1200" b="0" i="0">
                <a:solidFill>
                  <a:srgbClr val="FFFFFF"/>
                </a:solidFill>
                <a:latin typeface="Alegreya Sans"/>
              </a:rPr>
              <a:t>Production du corpus documentaire sur les principes mis en place autour de la gestion de la qualité des données.</a:t>
            </a:r>
          </a:p>
          <a:p>
            <a:pPr algn="l">
              <a:spcAft>
                <a:spcPts val="100"/>
              </a:spcAft>
            </a:pPr>
            <a:r>
              <a:rPr sz="1200" b="1" i="0">
                <a:solidFill>
                  <a:srgbClr val="3AEDE5"/>
                </a:solidFill>
                <a:latin typeface="Alegreya Sans"/>
              </a:rPr>
              <a:t>▸ </a:t>
            </a:r>
            <a:r>
              <a:rPr sz="1200" b="1" i="0">
                <a:solidFill>
                  <a:srgbClr val="FFFFFF"/>
                </a:solidFill>
                <a:latin typeface="Alegreya Sans"/>
              </a:rPr>
              <a:t>BNP Paribas Personal Finance — BCBS 239</a:t>
            </a:r>
            <a:r>
              <a:rPr sz="1200" b="0" i="0">
                <a:solidFill>
                  <a:srgbClr val="FFFFFF"/>
                </a:solidFill>
                <a:latin typeface="Alegreya Sans"/>
              </a:rPr>
              <a:t> — Qualité des données Risques (EY)</a:t>
            </a:r>
            <a:r>
              <a:rPr sz="1200" b="0" i="1">
                <a:solidFill>
                  <a:srgbClr val="3AEDE5"/>
                </a:solidFill>
                <a:latin typeface="Alegreya Sans"/>
              </a:rPr>
              <a:t>  (15 mois)</a:t>
            </a:r>
          </a:p>
          <a:p>
            <a:pPr algn="l" lvl="1">
              <a:spcAft>
                <a:spcPts val="100"/>
              </a:spcAft>
            </a:pPr>
            <a:r>
              <a:rPr sz="1200" b="1" i="0">
                <a:solidFill>
                  <a:srgbClr val="3AEDE5"/>
                </a:solidFill>
                <a:latin typeface="Alegreya Sans"/>
              </a:rPr>
              <a:t>•  </a:t>
            </a:r>
            <a:r>
              <a:rPr sz="1200" b="0" i="0">
                <a:solidFill>
                  <a:srgbClr val="FFFFFF"/>
                </a:solidFill>
                <a:latin typeface="Alegreya Sans"/>
              </a:rPr>
              <a:t>Coordination de la production des livrables data quality pour l'ensemble des entités appartenant au scope de travaux.</a:t>
            </a:r>
          </a:p>
          <a:p>
            <a:pPr algn="l" lvl="1">
              <a:spcAft>
                <a:spcPts val="100"/>
              </a:spcAft>
            </a:pPr>
            <a:r>
              <a:rPr sz="1200" b="1" i="0">
                <a:solidFill>
                  <a:srgbClr val="3AEDE5"/>
                </a:solidFill>
                <a:latin typeface="Alegreya Sans"/>
              </a:rPr>
              <a:t>•  </a:t>
            </a:r>
            <a:r>
              <a:rPr sz="1200" b="0" i="0">
                <a:solidFill>
                  <a:srgbClr val="FFFFFF"/>
                </a:solidFill>
                <a:latin typeface="Alegreya Sans"/>
              </a:rPr>
              <a:t>Gestion de projet (PMO) : planification, préparation, animation et rédaction de comptes-rendus de comités, on-boarding des stakeholders, suivi et consolidation budgétaire.</a:t>
            </a:r>
          </a:p>
          <a:p>
            <a:pPr algn="l" lvl="1">
              <a:spcAft>
                <a:spcPts val="100"/>
              </a:spcAft>
            </a:pPr>
            <a:r>
              <a:rPr sz="1200" b="1" i="0">
                <a:solidFill>
                  <a:srgbClr val="3AEDE5"/>
                </a:solidFill>
                <a:latin typeface="Alegreya Sans"/>
              </a:rPr>
              <a:t>•  </a:t>
            </a:r>
            <a:r>
              <a:rPr sz="1200" b="0" i="0">
                <a:solidFill>
                  <a:srgbClr val="FFFFFF"/>
                </a:solidFill>
                <a:latin typeface="Alegreya Sans"/>
              </a:rPr>
              <a:t>Production de rapports d'avancement : mise à jour des KPI, remontée des alertes, suivi budgétaire ; corpus documentaire du Data Quality Framework.</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BNP Paribas Personal Finance — Transformation de la fonction Risk</a:t>
            </a:r>
            <a:r>
              <a:rPr sz="1200" b="0" i="0">
                <a:solidFill>
                  <a:srgbClr val="FFFFFF"/>
                </a:solidFill>
                <a:latin typeface="Alegreya Sans"/>
              </a:rPr>
              <a:t> — PMO (EY)</a:t>
            </a:r>
            <a:r>
              <a:rPr sz="1200" b="0" i="1">
                <a:solidFill>
                  <a:srgbClr val="3AEDE5"/>
                </a:solidFill>
                <a:latin typeface="Alegreya Sans"/>
              </a:rPr>
              <a:t>  (3 mois)</a:t>
            </a:r>
          </a:p>
          <a:p>
            <a:pPr algn="l" lvl="1">
              <a:spcAft>
                <a:spcPts val="100"/>
              </a:spcAft>
            </a:pPr>
            <a:r>
              <a:rPr sz="1200" b="1" i="0">
                <a:solidFill>
                  <a:srgbClr val="3AEDE5"/>
                </a:solidFill>
                <a:latin typeface="Alegreya Sans"/>
              </a:rPr>
              <a:t>•  </a:t>
            </a:r>
            <a:r>
              <a:rPr sz="1200" b="0" i="0">
                <a:solidFill>
                  <a:srgbClr val="FFFFFF"/>
                </a:solidFill>
                <a:latin typeface="Alegreya Sans"/>
              </a:rPr>
              <a:t>Transformation du département Risk des entités de la région SUN (6 pays) conduisant à une réduction des coûts : analyse et simplification des macro-processus, alignement aux modèles d'exploitation cibles, revue des contrats avec les partenaires externes (fournisseurs de bases de données).</a:t>
            </a:r>
          </a:p>
          <a:p>
            <a:pPr algn="l">
              <a:spcAft>
                <a:spcPts val="100"/>
              </a:spcAft>
            </a:pPr>
            <a:r>
              <a:rPr sz="1200" b="1" i="0">
                <a:solidFill>
                  <a:srgbClr val="3AEDE5"/>
                </a:solidFill>
                <a:latin typeface="Alegreya Sans"/>
              </a:rPr>
              <a:t>▸ </a:t>
            </a:r>
            <a:r>
              <a:rPr sz="1200" b="1" i="0">
                <a:solidFill>
                  <a:srgbClr val="FFFFFF"/>
                </a:solidFill>
                <a:latin typeface="Alegreya Sans"/>
              </a:rPr>
              <a:t>Crédit Agricole — Bâle IV &amp; CRR III</a:t>
            </a:r>
            <a:r>
              <a:rPr sz="1200" b="0" i="0">
                <a:solidFill>
                  <a:srgbClr val="FFFFFF"/>
                </a:solidFill>
                <a:latin typeface="Alegreya Sans"/>
              </a:rPr>
              <a:t> — Formation réglementaire (EY)</a:t>
            </a:r>
            <a:r>
              <a:rPr sz="1200" b="0" i="1">
                <a:solidFill>
                  <a:srgbClr val="3AEDE5"/>
                </a:solidFill>
                <a:latin typeface="Alegreya Sans"/>
              </a:rPr>
              <a:t>  (3 mois)</a:t>
            </a:r>
          </a:p>
          <a:p>
            <a:pPr algn="l" lvl="1">
              <a:spcAft>
                <a:spcPts val="100"/>
              </a:spcAft>
            </a:pPr>
            <a:r>
              <a:rPr sz="1200" b="1" i="0">
                <a:solidFill>
                  <a:srgbClr val="3AEDE5"/>
                </a:solidFill>
                <a:latin typeface="Alegreya Sans"/>
              </a:rPr>
              <a:t>•  </a:t>
            </a:r>
            <a:r>
              <a:rPr sz="1200" b="0" i="0">
                <a:solidFill>
                  <a:srgbClr val="FFFFFF"/>
                </a:solidFill>
                <a:latin typeface="Alegreya Sans"/>
              </a:rPr>
              <a:t>Élaboration d'une formation sur les principes réglementaires et les évolutions apportées par les nouveaux cadres réglementaires, notamment Bâle IV / CRR 3.</a:t>
            </a:r>
          </a:p>
          <a:p>
            <a:pPr algn="l">
              <a:spcBef>
                <a:spcPts val="600"/>
              </a:spcBef>
              <a:spcAft>
                <a:spcPts val="300"/>
              </a:spcAft>
            </a:pPr>
            <a:r>
              <a:rPr sz="1300" b="1" i="0">
                <a:solidFill>
                  <a:srgbClr val="3AEDE5"/>
                </a:solidFill>
                <a:latin typeface="Alegreya Sans"/>
              </a:rPr>
              <a:t>RÉFÉRENCES</a:t>
            </a:r>
          </a:p>
          <a:p>
            <a:pPr algn="l">
              <a:spcAft>
                <a:spcPts val="200"/>
              </a:spcAft>
            </a:pPr>
            <a:r>
              <a:rPr sz="1200" b="0" i="1">
                <a:solidFill>
                  <a:srgbClr val="FFFFFF"/>
                </a:solidFill>
                <a:latin typeface="Alegreya Sans"/>
              </a:rPr>
              <a:t>EY — Consultant Manager 2, gestion des Risques (2017-2024), Karat Advisory — Consultant indépendant (depuis 2024)</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