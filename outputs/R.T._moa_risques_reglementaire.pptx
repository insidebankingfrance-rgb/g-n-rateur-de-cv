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Raoul Loïc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TSATCHOU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Chef de Projet MOA — Risques &amp; Réglementaire Bancaire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Risque de crédit, qualité des données (BCBS 239), Bâle IV / CRR III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DOMAINES D'EXPERTISE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Réglementation : Bâle IV, CRR III, Stress Tests, NDOD, Pilier 3 ESG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Risque de crédit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Qualité des données (BCBS 239)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Chef de projet &amp; MOA (besoins, spécifications, recette)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Outils : SQL, VBA, Power BI, JIRA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FORMATION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IGR-IAE — Institut de Gestion de Rennes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M2 Audit &amp; Gestion des Risques (alternance)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—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AMF · BMC (Bloomberg Market Concepts)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RÉSUMÉ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9 ans en conduite de projets de transformation, gestion des risques et conformité réglementaire pour les établissements financiers. Intervient à l'interface métiers / IT : risque de crédit, qualité des données, évolutions réglementaires.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EXPÉRIENCE PROFESSIONNELLE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Crédit Agricole Leasing &amp; Factoring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Chef de projets MOA — Risques Leasing (Karat Advisory)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(2024 — 2026 · 22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projets SI du cadrage à la mise en production : besoins métiers, impacts, spécifications, plans de tests, feuille de route MEP.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avec la MOE, maintien en condition opérationnelle, animation des comités et ateliers métiers, conduite du changement.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BNP Paribas — BCBS 239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Qualité des données Risques (EY)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(22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Dispositif qualité des données des modèles de notation (Risk Drivers, scoping) : contrôles techniques et opérationnels, remédiation, tableaux de bord.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Évaluation de la conformité Groupe aux principes BCBS 239, réponses aux recommandations BCE, documentation ICAAP (agrégation des données Risques).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Dexia — CRR II / EBA 3.0 &amp; Stress Tests EBA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Chef de projet (EY)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(16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Pilotage de l'implémentation CRR II sur le risque de crédit (besoins, spécifications, tests) ; rapports EBA 3.0 et COREP soumis au superviseur.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Stress tests EBA : impacts provisions / RWA, cartographie des modèles IFRS 9, exécution d'une simulation (PD, LGD, RWA).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BNP Paribas Personal Finance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Transformation Risk &amp; BCBS 239 — PMO (EY)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(18 mois)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Transformation du département Risk de la région SUN (6 pays) : macro-processus simplifiés, modèles d'exploitation cibles, revue des contrats fournisseurs.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Les informations de ce document sont strictement confidentielles — Ce document ne peut être partagé qu'avec l'accord de son propriétaire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00000" y="0"/>
            <a:ext cx="15000" cy="6858000"/>
          </a:xfrm>
          <a:prstGeom prst="rect">
            <a:avLst/>
          </a:prstGeom>
          <a:solidFill>
            <a:srgbClr val="3A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ide_circl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0000" y="130000"/>
            <a:ext cx="1302000" cy="42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" y="240000"/>
            <a:ext cx="3842800" cy="1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3AEDE5"/>
                </a:solidFill>
                <a:latin typeface="Alegreya Sans"/>
              </a:rPr>
              <a:t>Raoul Loïc</a:t>
            </a:r>
          </a:p>
          <a:p>
            <a:pPr>
              <a:spcBef>
                <a:spcPts val="0"/>
              </a:spcBef>
            </a:pPr>
            <a:r>
              <a:rPr sz="3200" b="1" i="0">
                <a:solidFill>
                  <a:srgbClr val="3AEDE5"/>
                </a:solidFill>
                <a:latin typeface="Alegreya Sans"/>
              </a:rPr>
              <a:t>TSATCHOU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8600" y="300000"/>
            <a:ext cx="5963400" cy="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FFFFFF"/>
                </a:solidFill>
                <a:latin typeface="Alegreya Sans"/>
              </a:rPr>
              <a:t>MOA Project Manager — Banking Risk &amp; Regulatory</a:t>
            </a:r>
          </a:p>
          <a:p>
            <a:pPr>
              <a:spcBef>
                <a:spcPts val="200"/>
              </a:spcBef>
            </a:pPr>
            <a:r>
              <a:rPr sz="1500" b="0" i="1">
                <a:solidFill>
                  <a:srgbClr val="3AEDE5"/>
                </a:solidFill>
                <a:latin typeface="Alegreya Sans"/>
              </a:rPr>
              <a:t>Credit risk, data quality (BCBS 239), Basel IV / CRR III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1180000"/>
            <a:ext cx="3842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MAIN AREAS OF EXPERTISE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Regulation: Basel IV, CRR III, Stress Tests, NDOD, Pillar 3 ESG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Credit risk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Data quality (BCBS 239)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Project management &amp; business analysis (specs, UAT)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Tools: SQL, VBA, Power BI, JIRA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EDUCATION &amp; CERTIFICATIONS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2017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IGR-IAE — Rennes Graduate School of Management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M2 Audit &amp; Risk Management (work-study)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— 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Certifications</a:t>
            </a:r>
          </a:p>
          <a:p>
            <a:pPr algn="l">
              <a:spcAft>
                <a:spcPts val="300"/>
              </a:spcAft>
            </a:pPr>
            <a:r>
              <a:rPr sz="1200" b="0" i="1">
                <a:solidFill>
                  <a:srgbClr val="CCD6E8"/>
                </a:solidFill>
                <a:latin typeface="Alegreya Sans"/>
              </a:rPr>
              <a:t>AMF · BMC (Bloomberg Market Concepts)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8600" y="1180000"/>
            <a:ext cx="7434800" cy="531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Alegreya Sans"/>
              </a:rPr>
              <a:t>9 years leading transformation, risk-management and regulatory-compliance projects for financial institutions. Works at the business / IT interface: credit risk, data quality, regulatory change.</a:t>
            </a:r>
          </a:p>
          <a:p>
            <a:pPr algn="l">
              <a:spcBef>
                <a:spcPts val="600"/>
              </a:spcBef>
              <a:spcAft>
                <a:spcPts val="300"/>
              </a:spcAft>
            </a:pPr>
            <a:r>
              <a:rPr sz="1300" b="1" i="0">
                <a:solidFill>
                  <a:srgbClr val="3AEDE5"/>
                </a:solidFill>
                <a:latin typeface="Alegreya Sans"/>
              </a:rPr>
              <a:t>PROFESSIONAL EXPERIENCE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Crédit Agricole Leasing &amp; Factoring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IT Project Manager — Leasing Risk (Karat Advisory)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(2024 — 2026 · 22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Led functional IT projects from framing to production: business requirements, impacts, specifications, test plans, go-live roadmap.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Coordination with IT delivery, operational maintenance, steering of project committees and business workshops, change management.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BNP Paribas — BCBS 239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Risk Data Quality (EY)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(22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Data-quality framework for rating-model data (risk drivers, scoping): technical and operational controls, remediation, dashboards.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Group-level BCBS 239 compliance assessment, responses to ECB recommendations, ICAAP documentation on risk-data aggregation.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Dexia — CRR II / EBA 3.0 &amp; EBA Stress Tests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Project Manager (EY)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(16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Led the CRR II implementation across credit risk (requirements, specifications, testing); EBA 3.0 and COREP reports submitted to the supervisor.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EBA stress tests: provisions / RWA impacts, mapping of IFRS 9 models, execution of a simulation exercise (PD, LGD, RWA).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▸ </a:t>
            </a:r>
            <a:r>
              <a:rPr sz="1200" b="1" i="0">
                <a:solidFill>
                  <a:srgbClr val="FFFFFF"/>
                </a:solidFill>
                <a:latin typeface="Alegreya Sans"/>
              </a:rPr>
              <a:t>BNP Paribas Personal Finance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 — Risk Transformation &amp; BCBS 239 — PMO (EY)</a:t>
            </a:r>
            <a:r>
              <a:rPr sz="1200" b="0" i="1">
                <a:solidFill>
                  <a:srgbClr val="3AEDE5"/>
                </a:solidFill>
                <a:latin typeface="Alegreya Sans"/>
              </a:rPr>
              <a:t>  (18 months)</a:t>
            </a:r>
          </a:p>
          <a:p>
            <a:pPr algn="l" lvl="1">
              <a:spcAft>
                <a:spcPts val="100"/>
              </a:spcAft>
            </a:pPr>
            <a:r>
              <a:rPr sz="1200" b="1" i="0">
                <a:solidFill>
                  <a:srgbClr val="3AEDE5"/>
                </a:solidFill>
                <a:latin typeface="Alegreya Sans"/>
              </a:rPr>
              <a:t>•  </a:t>
            </a:r>
            <a:r>
              <a:rPr sz="1200" b="0" i="0">
                <a:solidFill>
                  <a:srgbClr val="FFFFFF"/>
                </a:solidFill>
                <a:latin typeface="Alegreya Sans"/>
              </a:rPr>
              <a:t>Transformation of the Risk department in the SUN region (6 countries): simplified macro-processes, target operating models, supplier contract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78000"/>
            <a:ext cx="12192000" cy="280000"/>
          </a:xfrm>
          <a:prstGeom prst="rect">
            <a:avLst/>
          </a:prstGeom>
          <a:solidFill>
            <a:srgbClr val="061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6578000"/>
            <a:ext cx="11734800" cy="2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CCD6E8"/>
                </a:solidFill>
                <a:latin typeface="Alegreya Sans"/>
              </a:rPr>
              <a:t>The information in this document is strictly confidential — This document may only be shared with the owner's consent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