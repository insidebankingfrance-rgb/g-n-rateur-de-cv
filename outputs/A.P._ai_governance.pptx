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92000" y="4058000"/>
            <a:ext cx="5500000" cy="5500000"/>
          </a:xfrm>
          <a:prstGeom prst="ellipse">
            <a:avLst/>
          </a:prstGeom>
          <a:solidFill>
            <a:srgbClr val="1FCB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92000" y="3058000"/>
            <a:ext cx="5500000" cy="5500000"/>
          </a:xfrm>
          <a:prstGeom prst="ellipse">
            <a:avLst/>
          </a:prstGeom>
          <a:solidFill>
            <a:srgbClr val="0B2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00000" cy="6858000"/>
          </a:xfrm>
          <a:prstGeom prst="rect">
            <a:avLst/>
          </a:prstGeom>
          <a:solidFill>
            <a:srgbClr val="0B2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80000"/>
            <a:ext cx="31428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8600" y="300000"/>
            <a:ext cx="81348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Alegreya Sans"/>
              </a:rPr>
              <a:t>Spécialiste AI Governance, AI Risk &amp; EU AI Act</a:t>
            </a:r>
          </a:p>
          <a:p>
            <a:pPr>
              <a:spcBef>
                <a:spcPts val="200"/>
              </a:spcBef>
            </a:pPr>
            <a:r>
              <a:rPr sz="1200" b="0" i="1">
                <a:solidFill>
                  <a:srgbClr val="3AEDE5"/>
                </a:solidFill>
                <a:latin typeface="Alegreya Sans"/>
              </a:rPr>
              <a:t>Gouvernance IA &amp; Conformité réglementaire — Services financiers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300000"/>
            <a:ext cx="3142800" cy="517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Cross-functional Leadership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0B2A8A"/>
                </a:solidFill>
                <a:latin typeface="Alegreya Sans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Anglais — TOEIC 955/990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0B2A8A"/>
                </a:solidFill>
                <a:latin typeface="Alegreya Sans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75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750" b="0" i="1">
                <a:solidFill>
                  <a:srgbClr val="CCD6E8"/>
                </a:solidFill>
                <a:latin typeface="Alegreya Sans"/>
              </a:rPr>
              <a:t>Certification Digital Ethics Officer (avec Mention)</a:t>
            </a:r>
          </a:p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75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750" b="0" i="1">
                <a:solidFill>
                  <a:srgbClr val="CCD6E8"/>
                </a:solidFill>
                <a:latin typeface="Alegreya Sans"/>
              </a:rPr>
              <a:t>Master II Affaires européennes et internationales (avec Mention)</a:t>
            </a:r>
          </a:p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750" b="1" i="0">
                <a:solidFill>
                  <a:srgbClr val="FFFFFF"/>
                </a:solidFill>
                <a:latin typeface="Alegreya Sans"/>
              </a:rPr>
              <a:t>Université de Versailles Saint-Quentin-en-Yvelines</a:t>
            </a:r>
          </a:p>
          <a:p>
            <a:pPr algn="l">
              <a:spcAft>
                <a:spcPts val="300"/>
              </a:spcAft>
            </a:pPr>
            <a:r>
              <a:rPr sz="750" b="0" i="1">
                <a:solidFill>
                  <a:srgbClr val="CCD6E8"/>
                </a:solidFill>
                <a:latin typeface="Alegreya Sans"/>
              </a:rPr>
              <a:t>Master II Influence &amp; Affaires publiques (avec Mention)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8600" y="1300000"/>
            <a:ext cx="8134800" cy="517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FFFFFF"/>
                </a:solidFill>
                <a:latin typeface="Alegreya Sans"/>
              </a:rPr>
              <a:t>Expert en gouvernance de l'IA, AI Risk Management et conformité réglementaire, avec près de 8 ans d'expérience auprès de grandes institutions bancaires. Spécialisé dans l'EU AI Act et le déploiement de dispositifs de gouvernance IA à l'échelle internationale.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061A4D"/>
                </a:solidFill>
                <a:latin typeface="Alegreya Sans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850" b="1" i="0">
                <a:solidFill>
                  <a:srgbClr val="FFFFFF"/>
                </a:solidFill>
                <a:latin typeface="Alegreya Sans"/>
              </a:rPr>
              <a:t>Top-tier CIB européenne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750" b="0" i="1">
                <a:solidFill>
                  <a:srgbClr val="3AEDE5"/>
                </a:solidFill>
                <a:latin typeface="Alegreya Sans"/>
              </a:rPr>
              <a:t>  (8 mois — en cours)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Finalisation et mise en œuvre du cadre de gouvernance des risques IA : politiques internes, cartographie des risques, comitologie et coordination des fonctions support et métiers.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Pilotage opérationnel de la gouvernance : identification, évaluation, priorisation, validation et remédiation des systèmes d'IA.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Contribution au déploiement international du dispositif dans plus de 40 entités, dont USA, UK, APAC et MEA.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Configuration agile et pilotage métier de l'outil supportant les processus de gouvernance, documentation, validation et maîtrise des risques IA.</a:t>
            </a:r>
          </a:p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85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750" b="0" i="1">
                <a:solidFill>
                  <a:srgbClr val="3AEDE5"/>
                </a:solidFill>
                <a:latin typeface="Alegreya Sans"/>
              </a:rPr>
              <a:t>  (10 mois — en cours)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Responsable de l'offre AI Risk Management : coordination des réponses aux appels d'offres, veille stratégique et réglementaire, développement commercial et animation de l'écosystème financier.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Pilotage et animation du groupe de travail IA de l'association Paris Europlace (+40 responsables du secteur financier) : rédaction de position papers et de réponses aux consultations européennes, benchmarks.</a:t>
            </a:r>
          </a:p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85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750" b="0" i="1">
                <a:solidFill>
                  <a:srgbClr val="3AEDE5"/>
                </a:solidFill>
                <a:latin typeface="Alegreya Sans"/>
              </a:rPr>
              <a:t>  (18 mois)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Responsable du programme de mise en conformité EU AI Act du Groupe BPCE et de ses entités (Natixis, Oney, BRED, etc.) : cartographie et évaluation des risques IA, définition de la politique et du cadre normatif Groupe, évolution des processus opérationnels, animation du comité de pilotage.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Coordination et accompagnement de plus de 35 décideurs locaux (DPO, Chief Compliance Officer, CDO, etc.) dans la déclinaison du cadre normatif Groupe.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Conseil stratégique auprès des dirigeants et des métiers pour interpréter et décliner les exigences réglementaires applicables aux systèmes d'IA.</a:t>
            </a:r>
          </a:p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85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750" b="0" i="1">
                <a:solidFill>
                  <a:srgbClr val="3AEDE5"/>
                </a:solidFill>
                <a:latin typeface="Alegreya Sans"/>
              </a:rPr>
              <a:t>  (38 mois)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Structuration du cadre de gouvernance des risques IA avec le Chief Data Officer : inventaire des systèmes, formation des référents métiers et pilotage de la conformité EU AI Act dans plus de 10 entités internationales.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Ambassadeur des outils d'IA Générative Groupe auprès de 3 000 collaborateurs Oney.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Pilotage des activités RGPD de la filiale Oneytrust : rédaction et mise à jour AIPD, clauses contractuelles, formation, contrôles RGPD, référent privacy by design dans les projets de lutte contre la fraude.</a:t>
            </a:r>
          </a:p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85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 — Public Affairs Project Manager</a:t>
            </a:r>
            <a:r>
              <a:rPr sz="750" b="0" i="1">
                <a:solidFill>
                  <a:srgbClr val="3AEDE5"/>
                </a:solidFill>
                <a:latin typeface="Alegreya Sans"/>
              </a:rPr>
              <a:t>  (36 mois)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Coordination des contributions stratégiques du Groupe BPCE aux initiatives réglementaires européennes sur le numérique (EU AI Act, Digital Euro, EUDI Wallet, Data Act, PSD3, AI Trustworthy Guidelines).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Rédaction de la Charte éthique en matière d'IA du Groupe BPCE en collaboration avec les métiers.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Représentation du Groupe BPCE sur la place financière dans les associations professionnelles européennes (EBF, EACB, ESBG, MEDEF, FBF, AFEP).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061A4D"/>
                </a:solidFill>
                <a:latin typeface="Alegreya Sans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RÉFÉRENCES</a:t>
            </a:r>
          </a:p>
          <a:p>
            <a:pPr algn="l">
              <a:spcAft>
                <a:spcPts val="200"/>
              </a:spcAft>
            </a:pPr>
            <a:r>
              <a:rPr sz="850" b="0" i="1">
                <a:solidFill>
                  <a:srgbClr val="FFFFFF"/>
                </a:solidFill>
                <a:latin typeface="Alegreya Sans"/>
              </a:rPr>
              <a:t>Groupe BPCE, Natixis, Oney, Sia Partners, Paris Europlace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061A4D"/>
                </a:solidFill>
                <a:latin typeface="Alegreya Sans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750" b="1" i="0">
                <a:solidFill>
                  <a:srgbClr val="FFFFFF"/>
                </a:solidFill>
                <a:latin typeface="Alegreya Sans"/>
              </a:rPr>
              <a:t>Conseiller Numérique</a:t>
            </a:r>
            <a:r>
              <a:rPr sz="750" b="0" i="0">
                <a:solidFill>
                  <a:srgbClr val="CCD6E8"/>
                </a:solidFill>
                <a:latin typeface="Alegreya Sans"/>
              </a:rPr>
              <a:t> — Bénévole au sein du Conseil du Numérique d'une commune des Yvelines, aux côtés du Maire.</a:t>
            </a:r>
          </a:p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750" b="1" i="0">
                <a:solidFill>
                  <a:srgbClr val="FFFFFF"/>
                </a:solidFill>
                <a:latin typeface="Alegreya Sans"/>
              </a:rPr>
              <a:t>Podcasteur</a:t>
            </a:r>
            <a:r>
              <a:rPr sz="750" b="0" i="0">
                <a:solidFill>
                  <a:srgbClr val="CCD6E8"/>
                </a:solidFill>
                <a:latin typeface="Alegreya Sans"/>
              </a:rPr>
              <a:t> — Créateur et animateur d'un podcast sur l'IA — personnalités influentes du secteur.</a:t>
            </a:r>
          </a:p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750" b="1" i="0">
                <a:solidFill>
                  <a:srgbClr val="FFFFFF"/>
                </a:solidFill>
                <a:latin typeface="Alegreya Sans"/>
              </a:rPr>
              <a:t>Conférencier</a:t>
            </a:r>
            <a:r>
              <a:rPr sz="750" b="0" i="0">
                <a:solidFill>
                  <a:srgbClr val="CCD6E8"/>
                </a:solidFill>
                <a:latin typeface="Alegreya Sans"/>
              </a:rPr>
              <a:t> — Intervenant sur l'IA et ses enjeux (écoles de commerce, mairies, administrateurs).</a:t>
            </a:r>
          </a:p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750" b="1" i="0">
                <a:solidFill>
                  <a:srgbClr val="FFFFFF"/>
                </a:solidFill>
                <a:latin typeface="Alegreya Sans"/>
              </a:rPr>
              <a:t>Juré EDHEC</a:t>
            </a:r>
            <a:r>
              <a:rPr sz="750" b="0" i="0">
                <a:solidFill>
                  <a:srgbClr val="CCD6E8"/>
                </a:solidFill>
                <a:latin typeface="Alegreya Sans"/>
              </a:rPr>
              <a:t> — Juré des projets IA — certification Digital Ethics Officer.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92000" y="4058000"/>
            <a:ext cx="5500000" cy="5500000"/>
          </a:xfrm>
          <a:prstGeom prst="ellipse">
            <a:avLst/>
          </a:prstGeom>
          <a:solidFill>
            <a:srgbClr val="1FCB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92000" y="3058000"/>
            <a:ext cx="5500000" cy="5500000"/>
          </a:xfrm>
          <a:prstGeom prst="ellipse">
            <a:avLst/>
          </a:prstGeom>
          <a:solidFill>
            <a:srgbClr val="0B2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00000" cy="6858000"/>
          </a:xfrm>
          <a:prstGeom prst="rect">
            <a:avLst/>
          </a:prstGeom>
          <a:solidFill>
            <a:srgbClr val="0B2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80000"/>
            <a:ext cx="31428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8600" y="300000"/>
            <a:ext cx="81348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Alegreya Sans"/>
              </a:rPr>
              <a:t>AI Governance, AI Risk &amp; EU AI Act Specialist</a:t>
            </a:r>
          </a:p>
          <a:p>
            <a:pPr>
              <a:spcBef>
                <a:spcPts val="200"/>
              </a:spcBef>
            </a:pPr>
            <a:r>
              <a:rPr sz="1200" b="0" i="1">
                <a:solidFill>
                  <a:srgbClr val="3AEDE5"/>
                </a:solidFill>
                <a:latin typeface="Alegreya Sans"/>
              </a:rPr>
              <a:t>AI Governance &amp; Regulatory Compliance — Financial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300000"/>
            <a:ext cx="3142800" cy="517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Cross-functional Leadership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0B2A8A"/>
                </a:solidFill>
                <a:latin typeface="Alegreya Sans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English — TOEIC 955/990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0B2A8A"/>
                </a:solidFill>
                <a:latin typeface="Alegreya Sans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75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750" b="0" i="1">
                <a:solidFill>
                  <a:srgbClr val="CCD6E8"/>
                </a:solidFill>
                <a:latin typeface="Alegreya Sans"/>
              </a:rPr>
              <a:t>Digital Ethics Officer certification (with Distinction)</a:t>
            </a:r>
          </a:p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75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750" b="0" i="1">
                <a:solidFill>
                  <a:srgbClr val="CCD6E8"/>
                </a:solidFill>
                <a:latin typeface="Alegreya Sans"/>
              </a:rPr>
              <a:t>Master's in European &amp; International Affairs (with Distinction)</a:t>
            </a:r>
          </a:p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750" b="1" i="0">
                <a:solidFill>
                  <a:srgbClr val="FFFFFF"/>
                </a:solidFill>
                <a:latin typeface="Alegreya Sans"/>
              </a:rPr>
              <a:t>University of Versailles Saint-Quentin-en-Yvelines</a:t>
            </a:r>
          </a:p>
          <a:p>
            <a:pPr algn="l">
              <a:spcAft>
                <a:spcPts val="300"/>
              </a:spcAft>
            </a:pPr>
            <a:r>
              <a:rPr sz="750" b="0" i="1">
                <a:solidFill>
                  <a:srgbClr val="CCD6E8"/>
                </a:solidFill>
                <a:latin typeface="Alegreya Sans"/>
              </a:rPr>
              <a:t>Master's in Influence &amp; Public Affairs (with Distinction)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8600" y="1300000"/>
            <a:ext cx="8134800" cy="517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FFFFFF"/>
                </a:solidFill>
                <a:latin typeface="Alegreya Sans"/>
              </a:rPr>
              <a:t>Expert in AI Governance, AI Risk Management and regulatory compliance, with nearly 8 years of experience advising major banking institutions. Specialised in the EU AI Act and the international rollout of AI governance frameworks.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061A4D"/>
                </a:solidFill>
                <a:latin typeface="Alegreya Sans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850" b="1" i="0">
                <a:solidFill>
                  <a:srgbClr val="FFFFFF"/>
                </a:solidFill>
                <a:latin typeface="Alegreya Sans"/>
              </a:rPr>
              <a:t>Top-tier European CIB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750" b="0" i="1">
                <a:solidFill>
                  <a:srgbClr val="3AEDE5"/>
                </a:solidFill>
                <a:latin typeface="Alegreya Sans"/>
              </a:rPr>
              <a:t>  (8 months — ongoing)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Finalisation and rollout of the AI risk governance framework: internal policies, risk mapping, committee design, coordination of support and business functions.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Operational pilot of AI governance: identification, assessment, prioritisation, validation and remediation of AI systems.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Contribution to the international rollout across 40+ entities, including USA, UK, APAC and MEA.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Agile configuration and business pilot of the tool supporting governance, documentation, validation and AI risk control.</a:t>
            </a:r>
          </a:p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85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750" b="0" i="1">
                <a:solidFill>
                  <a:srgbClr val="3AEDE5"/>
                </a:solidFill>
                <a:latin typeface="Alegreya Sans"/>
              </a:rPr>
              <a:t>  (10 months — ongoing)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Head of the AI Risk Management offering: RFP coordination, strategic and regulatory watch, business development and financial-ecosystem animation.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Lead of the AI working group at Paris Europlace association (40+ senior financial-sector representatives): position papers, EU consultation responses, benchmarks.</a:t>
            </a:r>
          </a:p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85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750" b="0" i="1">
                <a:solidFill>
                  <a:srgbClr val="3AEDE5"/>
                </a:solidFill>
                <a:latin typeface="Alegreya Sans"/>
              </a:rPr>
              <a:t>  (18 months)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Lead of the EU AI Act compliance programme for Groupe BPCE and its entities (Natixis, Oney, BRED, etc.): AI risk mapping and assessment, definition of Group policy and standards, operational process evolution, steering-committee animation.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Coordination and support of 35+ local decision-makers (DPO, Chief Compliance Officer, CDO, etc.) in deploying the Group framework.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Strategic advisory to executives and business lines on interpreting and applying regulatory requirements for AI systems.</a:t>
            </a:r>
          </a:p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85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750" b="0" i="1">
                <a:solidFill>
                  <a:srgbClr val="3AEDE5"/>
                </a:solidFill>
                <a:latin typeface="Alegreya Sans"/>
              </a:rPr>
              <a:t>  (38 months)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Built the AI risk governance framework with the Chief Data Officer: systems inventory, training of business reference owners, EU AI Act compliance pilot across 10+ international entities.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Group GenAI tools ambassador to 3,000 Oney employees.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Pilot of Oneytrust's GDPR activities: DPIA drafting and updates, contractual clauses, training, GDPR controls, privacy-by-design referent on anti-fraud projects.</a:t>
            </a:r>
          </a:p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85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850" b="0" i="0">
                <a:solidFill>
                  <a:srgbClr val="FFFFFF"/>
                </a:solidFill>
                <a:latin typeface="Alegreya Sans"/>
              </a:rPr>
              <a:t> — Public Affairs Project Manager</a:t>
            </a:r>
            <a:r>
              <a:rPr sz="750" b="0" i="1">
                <a:solidFill>
                  <a:srgbClr val="3AEDE5"/>
                </a:solidFill>
                <a:latin typeface="Alegreya Sans"/>
              </a:rPr>
              <a:t>  (36 months)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Coordination of Groupe BPCE's strategic contributions to European digital regulation initiatives (EU AI Act, Digital Euro, EUDI Wallet, Data Act, PSD3, AI Trustworthy Guidelines).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Co-author of Groupe BPCE's AI ethics charter in collaboration with the business lines.</a:t>
            </a:r>
          </a:p>
          <a:p>
            <a:pPr algn="l" lvl="1">
              <a:spcAft>
                <a:spcPts val="2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750" b="0" i="0">
                <a:solidFill>
                  <a:srgbClr val="FFFFFF"/>
                </a:solidFill>
                <a:latin typeface="Alegreya Sans"/>
              </a:rPr>
              <a:t>Representation of Groupe BPCE in European professional associations (EBF, EACB, ESBG, MEDEF, FBF, AFEP).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061A4D"/>
                </a:solidFill>
                <a:latin typeface="Alegreya Sans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MAIN REFERENCES</a:t>
            </a:r>
          </a:p>
          <a:p>
            <a:pPr algn="l">
              <a:spcAft>
                <a:spcPts val="200"/>
              </a:spcAft>
            </a:pPr>
            <a:r>
              <a:rPr sz="850" b="0" i="1">
                <a:solidFill>
                  <a:srgbClr val="FFFFFF"/>
                </a:solidFill>
                <a:latin typeface="Alegreya Sans"/>
              </a:rPr>
              <a:t>Groupe BPCE, Natixis, Oney, Sia Partners, Paris Europlace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061A4D"/>
                </a:solidFill>
                <a:latin typeface="Alegreya Sans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750" b="1" i="0">
                <a:solidFill>
                  <a:srgbClr val="FFFFFF"/>
                </a:solidFill>
                <a:latin typeface="Alegreya Sans"/>
              </a:rPr>
              <a:t>Digital Council Advisor</a:t>
            </a:r>
            <a:r>
              <a:rPr sz="750" b="0" i="0">
                <a:solidFill>
                  <a:srgbClr val="CCD6E8"/>
                </a:solidFill>
                <a:latin typeface="Alegreya Sans"/>
              </a:rPr>
              <a:t> — Volunteer at a local Digital Council (Yvelines), alongside the Mayor.</a:t>
            </a:r>
          </a:p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750" b="1" i="0">
                <a:solidFill>
                  <a:srgbClr val="FFFFFF"/>
                </a:solidFill>
                <a:latin typeface="Alegreya Sans"/>
              </a:rPr>
              <a:t>Podcaster</a:t>
            </a:r>
            <a:r>
              <a:rPr sz="750" b="0" i="0">
                <a:solidFill>
                  <a:srgbClr val="CCD6E8"/>
                </a:solidFill>
                <a:latin typeface="Alegreya Sans"/>
              </a:rPr>
              <a:t> — Creator and host of an AI podcast featuring influential figures in the sector.</a:t>
            </a:r>
          </a:p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750" b="1" i="0">
                <a:solidFill>
                  <a:srgbClr val="FFFFFF"/>
                </a:solidFill>
                <a:latin typeface="Alegreya Sans"/>
              </a:rPr>
              <a:t>Speaker</a:t>
            </a:r>
            <a:r>
              <a:rPr sz="750" b="0" i="0">
                <a:solidFill>
                  <a:srgbClr val="CCD6E8"/>
                </a:solidFill>
                <a:latin typeface="Alegreya Sans"/>
              </a:rPr>
              <a:t> — Speaker on AI and its challenges (business schools, town halls, board members).</a:t>
            </a:r>
          </a:p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750" b="1" i="0">
                <a:solidFill>
                  <a:srgbClr val="FFFFFF"/>
                </a:solidFill>
                <a:latin typeface="Alegreya Sans"/>
              </a:rPr>
              <a:t>EDHEC Juror</a:t>
            </a:r>
            <a:r>
              <a:rPr sz="750" b="0" i="0">
                <a:solidFill>
                  <a:srgbClr val="CCD6E8"/>
                </a:solidFill>
                <a:latin typeface="Alegreya Sans"/>
              </a:rPr>
              <a:t> — Juror for AI projects — Digital Ethics Officer certification.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