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C2A8E"/>
              </a:gs>
              <a:gs pos="70000">
                <a:srgbClr val="0C2A8E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71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8600" y="300000"/>
            <a:ext cx="7434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Alegreya Sans"/>
              </a:rPr>
              <a:t>Spécialiste AI Governance, AI Risk &amp; EU AI Act</a:t>
            </a:r>
          </a:p>
          <a:p>
            <a:pPr>
              <a:spcBef>
                <a:spcPts val="200"/>
              </a:spcBef>
            </a:pPr>
            <a:r>
              <a:rPr sz="1300" b="0" i="1">
                <a:solidFill>
                  <a:srgbClr val="3AEDE5"/>
                </a:solidFill>
                <a:latin typeface="Alegreya Sans"/>
              </a:rPr>
              <a:t>Gouvernance IA &amp; Conformité réglementaire — Services financiers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LANGUES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Français — Langue maternelle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Anglais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Certification Digital Ethics Officer (avec Me…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 II Affaires européennes et internation…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Université de Versailles Saint-Quentin-en-Yvelines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 II Influence &amp; Affaires publiques (ave…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ENGAGEMENTS &amp; RÉALISATIONS</a:t>
            </a:r>
          </a:p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Conseiller Numérique</a:t>
            </a:r>
            <a:r>
              <a:rPr sz="1000" b="0" i="1">
                <a:solidFill>
                  <a:srgbClr val="CCD6E8"/>
                </a:solidFill>
                <a:latin typeface="Alegreya Sans"/>
              </a:rPr>
              <a:t> — Bénévole au sein du Conseil du Numérique…</a:t>
            </a:r>
          </a:p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Podcasteur</a:t>
            </a:r>
            <a:r>
              <a:rPr sz="1000" b="0" i="1">
                <a:solidFill>
                  <a:srgbClr val="CCD6E8"/>
                </a:solidFill>
                <a:latin typeface="Alegreya Sans"/>
              </a:rPr>
              <a:t> — Créateur et animateur d'un podcast sur l…</a:t>
            </a:r>
          </a:p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Conférencier</a:t>
            </a:r>
            <a:r>
              <a:rPr sz="1000" b="0" i="1">
                <a:solidFill>
                  <a:srgbClr val="CCD6E8"/>
                </a:solidFill>
                <a:latin typeface="Alegreya Sans"/>
              </a:rPr>
              <a:t> — Intervenant sur l'IA et ses enjeux (écol…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Alegreya Sans"/>
              </a:rPr>
              <a:t>Expert en gouvernance de l'IA, AI Risk Management et conformité réglementaire, avec près de 8 ans d'expérience auprès de grandes institutions bancaires. Spécialisé dans l'EU AI Act et le déploiement de dispositifs de gou…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Top-tier CIB européenne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(8 mois — en cours)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Finalisation et mise en œuvre du cadre de gouvernance des risques IA : politiques internes, cartographie des risques, comitologie et coordination des fonctions…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Pilotage opérationnel de la gouvernance : identification, évaluation, priorisation, validation et remédiation des systèmes d'IA.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(10 mois — en cours)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Responsable de l'offre AI Risk Management : coordination des réponses aux appels d'offres, veille stratégique et réglementaire, développement commercial et anim…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Pilotage et animation du groupe de travail IA de l'association Paris Europlace (+40 responsables du secteur financier) : rédaction de position papers et de répo…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Responsable du programme de mise en conformité EU AI Act du Groupe BPCE et de ses entités (Natixis, Oney, BRED, etc.) : cartographie et évaluation des risques I…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Coordination et accompagnement de plus de 35 décideurs locaux (DPO, Chief Compliance Officer, CDO, etc.) dans la déclinaison du cadre normatif Groupe.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(38 mois)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Structuration du cadre de gouvernance des risques IA avec le Chief Data Officer : inventaire des systèmes, formation des référents métiers et pilotage de la con…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Ambassadeur des outils d'IA Générative Groupe auprès de 3 000 collaborateurs Oney.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RÉFÉRENCES</a:t>
            </a:r>
          </a:p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  <a:gradFill flip="none" rotWithShape="1">
            <a:gsLst>
              <a:gs pos="0">
                <a:srgbClr val="0C2A8E"/>
              </a:gs>
              <a:gs pos="70000">
                <a:srgbClr val="0C2A8E"/>
              </a:gs>
              <a:gs pos="100000">
                <a:srgbClr val="1FCBD9"/>
              </a:gs>
            </a:gsLst>
            <a:lin ang="2700000" scaled="0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00000" cy="6858000"/>
          </a:xfrm>
          <a:prstGeom prst="rect">
            <a:avLst/>
          </a:prstGeom>
          <a:solidFill>
            <a:srgbClr val="071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60000"/>
            <a:ext cx="3842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3AEDE5"/>
                </a:solidFill>
                <a:latin typeface="Alegreya Sans"/>
              </a:rPr>
              <a:t>A.P.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8600" y="300000"/>
            <a:ext cx="74348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Alegreya Sans"/>
              </a:rPr>
              <a:t>AI Governance, AI Risk &amp; EU AI Act Specialist</a:t>
            </a:r>
          </a:p>
          <a:p>
            <a:pPr>
              <a:spcBef>
                <a:spcPts val="200"/>
              </a:spcBef>
            </a:pPr>
            <a:r>
              <a:rPr sz="1300" b="0" i="1">
                <a:solidFill>
                  <a:srgbClr val="3AEDE5"/>
                </a:solidFill>
                <a:latin typeface="Alegreya Sans"/>
              </a:rPr>
              <a:t>AI Governance &amp; Regulatory Compliance — Financial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Governance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AI Risk Management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EU AI Act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Digital Compliance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Regulatory Strategy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LANGUAGES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French — Native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English — TOEIC 955/990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2024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EDHEC Business School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Digital Ethics Officer certification (with Di…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2015 — 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Sciences Po Saint-Germain-en-Laye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Master's in European &amp; International Affairs…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2020 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University of Versailles Saint-Quentin-en-Yvelines</a:t>
            </a:r>
          </a:p>
          <a:p>
            <a:pPr algn="l">
              <a:spcAft>
                <a:spcPts val="300"/>
              </a:spcAft>
            </a:pPr>
            <a:r>
              <a:rPr sz="1000" b="0" i="1">
                <a:solidFill>
                  <a:srgbClr val="CCD6E8"/>
                </a:solidFill>
                <a:latin typeface="Alegreya Sans"/>
              </a:rPr>
              <a:t>Master's in Influence &amp; Public Affairs (with…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ENGAGEMENTS &amp; ACHIEVEMENTS</a:t>
            </a:r>
          </a:p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Digital Council Advisor</a:t>
            </a:r>
            <a:r>
              <a:rPr sz="1000" b="0" i="1">
                <a:solidFill>
                  <a:srgbClr val="CCD6E8"/>
                </a:solidFill>
                <a:latin typeface="Alegreya Sans"/>
              </a:rPr>
              <a:t> — Volunteer at a local Digital Council (Yv…</a:t>
            </a:r>
          </a:p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Podcaster</a:t>
            </a:r>
            <a:r>
              <a:rPr sz="1000" b="0" i="1">
                <a:solidFill>
                  <a:srgbClr val="CCD6E8"/>
                </a:solidFill>
                <a:latin typeface="Alegreya Sans"/>
              </a:rPr>
              <a:t> — Creator and host of an AI podcast featur…</a:t>
            </a:r>
          </a:p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Speaker</a:t>
            </a:r>
            <a:r>
              <a:rPr sz="1000" b="0" i="1">
                <a:solidFill>
                  <a:srgbClr val="CCD6E8"/>
                </a:solidFill>
                <a:latin typeface="Alegreya Sans"/>
              </a:rPr>
              <a:t> — Speaker on AI and its challenges (busine…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Alegreya Sans"/>
              </a:rPr>
              <a:t>Expert in AI Governance, AI Risk Management and regulatory compliance, with nearly 8 years of experience advising major banking institutions. Specialised in the EU AI Act and the international rollout of AI governance fr…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Top-tier European CIB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AI Compliance Lead (consultant)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(8 months — ongoing)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Finalisation and rollout of the AI risk governance framework: internal policies, risk mapping, committee design, coordination of support and business functions.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Operational pilot of AI governance: identification, assessment, prioritisation, validation and remediation of AI systems.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Sia Partners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Associate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(10 months — ongoing)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Head of the AI Risk Management offering: RFP coordination, strategic and regulatory watch, business development and financial-ecosystem animation.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Lead of the AI working group at Paris Europlace association (40+ senior financial-sector representatives): position papers, EU consultation responses, benchmark…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Groupe BPCE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Group EU AI Act Project Manager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Lead of the EU AI Act compliance programme for Groupe BPCE and its entities (Natixis, Oney, BRED, etc.): AI risk mapping and assessment, definition of Group pol…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Coordination and support of 35+ local decision-makers (DPO, Chief Compliance Officer, CDO, etc.) in deploying the Group framework.</a:t>
            </a:r>
          </a:p>
          <a:p>
            <a:pPr algn="l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000" b="1" i="0">
                <a:solidFill>
                  <a:srgbClr val="FFFFFF"/>
                </a:solidFill>
                <a:latin typeface="Alegreya Sans"/>
              </a:rPr>
              <a:t>Oney / Oneytrust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 — Expert Leader — Digital &amp; AI Compliance Officer</a:t>
            </a:r>
            <a:r>
              <a:rPr sz="1000" b="0" i="1">
                <a:solidFill>
                  <a:srgbClr val="3AEDE5"/>
                </a:solidFill>
                <a:latin typeface="Alegreya Sans"/>
              </a:rPr>
              <a:t>  (38 months)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Built the AI risk governance framework with the Chief Data Officer: systems inventory, training of business reference owners, EU AI Act compliance pilot across…</a:t>
            </a:r>
          </a:p>
          <a:p>
            <a:pPr algn="l" lvl="1">
              <a:spcAft>
                <a:spcPts val="100"/>
              </a:spcAft>
            </a:pPr>
            <a:r>
              <a:rPr sz="10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000" b="0" i="0">
                <a:solidFill>
                  <a:srgbClr val="FFFFFF"/>
                </a:solidFill>
                <a:latin typeface="Alegreya Sans"/>
              </a:rPr>
              <a:t>Group GenAI tools ambassador to 3,000 Oney employees.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100" b="1" i="0">
                <a:solidFill>
                  <a:srgbClr val="3AEDE5"/>
                </a:solidFill>
                <a:latin typeface="Alegreya Sans"/>
              </a:rPr>
              <a:t>MAIN REFERENCES</a:t>
            </a:r>
          </a:p>
          <a:p>
            <a:pPr algn="l">
              <a:spcAft>
                <a:spcPts val="200"/>
              </a:spcAft>
            </a:pPr>
            <a:r>
              <a:rPr sz="1000" b="0" i="1">
                <a:solidFill>
                  <a:srgbClr val="FFFFFF"/>
                </a:solidFill>
                <a:latin typeface="Alegreya Sans"/>
              </a:rPr>
              <a:t>Groupe BPCE, Natixis, Oney, Sia Partners, Paris Europlace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