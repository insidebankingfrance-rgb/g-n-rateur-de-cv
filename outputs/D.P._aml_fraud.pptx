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00000" y="0"/>
            <a:ext cx="15000" cy="6858000"/>
          </a:xfrm>
          <a:prstGeom prst="rect">
            <a:avLst/>
          </a:prstGeom>
          <a:solidFill>
            <a:srgbClr val="3AE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nside_circl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0000" y="130000"/>
            <a:ext cx="1302000" cy="42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240000"/>
            <a:ext cx="3842800" cy="1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3AEDE5"/>
                </a:solidFill>
                <a:latin typeface="Alegreya Sans"/>
              </a:rPr>
              <a:t>Dorian</a:t>
            </a:r>
          </a:p>
          <a:p>
            <a:pPr>
              <a:spcBef>
                <a:spcPts val="0"/>
              </a:spcBef>
            </a:pPr>
            <a:r>
              <a:rPr sz="3200" b="1" i="0">
                <a:solidFill>
                  <a:srgbClr val="3AEDE5"/>
                </a:solidFill>
                <a:latin typeface="Alegreya Sans"/>
              </a:rPr>
              <a:t>PREVOST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28600" y="300000"/>
            <a:ext cx="5963400" cy="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 i="0">
                <a:solidFill>
                  <a:srgbClr val="FFFFFF"/>
                </a:solidFill>
                <a:latin typeface="Alegreya Sans"/>
              </a:rPr>
              <a:t>Senior Manager — Conformité Réglementaire (CAMS &amp; CCAS)</a:t>
            </a:r>
          </a:p>
          <a:p>
            <a:pPr>
              <a:spcBef>
                <a:spcPts val="200"/>
              </a:spcBef>
            </a:pPr>
            <a:r>
              <a:rPr sz="1500" b="0" i="1">
                <a:solidFill>
                  <a:srgbClr val="3AEDE5"/>
                </a:solidFill>
                <a:latin typeface="Alegreya Sans"/>
              </a:rPr>
              <a:t>LCB-FT, Fraude &amp; Criminalité financière — Banque &amp; Fintech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1180000"/>
            <a:ext cx="3842800" cy="531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DOMAINES D'EXPERTISE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LCB-FT (AML/CTF) &amp; KYC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Lutte contre la fraude (scénarios, calibration)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Criminalité financière &amp; abus de marché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Cryptoactifs (certifié CCAS)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RegTech (Feedzai, AdvanThink, Shift, Finovox)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LANGUES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Français — Langue maternelle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Anglais — Courant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Espagnol — Courant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FORMATION &amp; CERTIFICATIONS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2018 / 2024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Certifications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CAMS &amp; CCAS (cryptoactifs)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2011 — 2016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Sciences Po Lyon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Programme Grande École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2015 — 2016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Université du Luxembourg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LL.M. Droit pénal économique et financier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CENTRES D'INTÉRÊT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Horlogerie de collection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ENGAGEMENTS &amp; RÉALISATIONS</a:t>
            </a:r>
          </a:p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Podcast L'Actu Fin[Tech]</a:t>
            </a:r>
            <a:r>
              <a:rPr sz="1200" b="0" i="1">
                <a:solidFill>
                  <a:srgbClr val="CCD6E8"/>
                </a:solidFill>
                <a:latin typeface="Alegreya Sans"/>
              </a:rPr>
              <a:t> — Co-créateur — FinTech &amp; Blockchain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8600" y="1180000"/>
            <a:ext cx="7434800" cy="531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RÉSUMÉ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FFFFFF"/>
                </a:solidFill>
                <a:latin typeface="Alegreya Sans"/>
              </a:rPr>
              <a:t>Senior Manager en conformité réglementaire, certifié CAMS et CCAS, spécialisé en LCB-FT, lutte contre la fraude et criminalité financière pour les banques et fintechs. Expérience chez PwC, EY et KPMG Luxembourg.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PRINCIPALES EXPÉRIENCES PROFESSIONNELLES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BNP Paribas CIB (via PwC)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IT Business Delivery Manager — LCB-FT &amp; Fraude / TOM Superviseurs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(PwC — depuis 2020)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Animation du comité bimensuel des évolutions IT LCB-FT &amp; Fraude : études d'impact, priorisation, backlog avec Conformité et Métiers.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Design du TOM d'interaction avec les superviseurs : benchmark top-tier dans 5 pays (UK, US), rôles et organisation.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La Banque Postale (via PwC)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Fraud PMO — Déploiement WERO (P2P, P2Pro, E/M Commerce)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(Mission PwC)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Pilotage du workstream Fraude : avancement, risques et interdépendances, ateliers avec toutes les parties prenantes (dont EPI).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Évaluation des exigences Fraude d'EPI vs capacités de la banque ; conduite du changement du back-office Fraude.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Société Générale &amp; Qonto (via PwC)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TOM Criminalité financière / Audit Fraude externe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(Missions PwC)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SG : TOM des activités de surveillance Financial Crime, Fraude &amp; Abus de Marché ; stratégie 2025, modélisation du ROI.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Qonto : revue des scénarios de détection de fraude externe (calibration) ; environ 1 000 documents d'identité revus.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EY France / KPMG Luxembourg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Senior Consultant — Regulatory &amp; Compliance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(2016 — 2019)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EY — Citi France : évaluation des risques Conformité dans plus de 10 pays (dont UK).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KPMG — J.P. Morgan Luxembourg : audits Transfer Agency, focus LCB-FT &amp; KYC.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78000"/>
            <a:ext cx="12192000" cy="280000"/>
          </a:xfrm>
          <a:prstGeom prst="rect">
            <a:avLst/>
          </a:prstGeom>
          <a:solidFill>
            <a:srgbClr val="061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" y="6578000"/>
            <a:ext cx="117348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CCD6E8"/>
                </a:solidFill>
                <a:latin typeface="Alegreya Sans"/>
              </a:rPr>
              <a:t>Les informations de ce document sont strictement confidentielles — Ce document ne peut être partagé qu'avec l'accord de son propriétaire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00000" y="0"/>
            <a:ext cx="15000" cy="6858000"/>
          </a:xfrm>
          <a:prstGeom prst="rect">
            <a:avLst/>
          </a:prstGeom>
          <a:solidFill>
            <a:srgbClr val="3AE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nside_circl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0000" y="130000"/>
            <a:ext cx="1302000" cy="42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240000"/>
            <a:ext cx="3842800" cy="1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3AEDE5"/>
                </a:solidFill>
                <a:latin typeface="Alegreya Sans"/>
              </a:rPr>
              <a:t>Dorian</a:t>
            </a:r>
          </a:p>
          <a:p>
            <a:pPr>
              <a:spcBef>
                <a:spcPts val="0"/>
              </a:spcBef>
            </a:pPr>
            <a:r>
              <a:rPr sz="3200" b="1" i="0">
                <a:solidFill>
                  <a:srgbClr val="3AEDE5"/>
                </a:solidFill>
                <a:latin typeface="Alegreya Sans"/>
              </a:rPr>
              <a:t>PREVOST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28600" y="300000"/>
            <a:ext cx="5963400" cy="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 i="0">
                <a:solidFill>
                  <a:srgbClr val="FFFFFF"/>
                </a:solidFill>
                <a:latin typeface="Alegreya Sans"/>
              </a:rPr>
              <a:t>Senior Manager — Regulatory Compliance (CAMS &amp; CCAS)</a:t>
            </a:r>
          </a:p>
          <a:p>
            <a:pPr>
              <a:spcBef>
                <a:spcPts val="200"/>
              </a:spcBef>
            </a:pPr>
            <a:r>
              <a:rPr sz="1500" b="0" i="1">
                <a:solidFill>
                  <a:srgbClr val="3AEDE5"/>
                </a:solidFill>
                <a:latin typeface="Alegreya Sans"/>
              </a:rPr>
              <a:t>AML/CTF, Fraud &amp; Financial Crime — Banking &amp; Fintech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1180000"/>
            <a:ext cx="3842800" cy="531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MAIN AREAS OF EXPERTISE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AML/CTF &amp; KYC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Fraud prevention (scenarios, calibration)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Financial crime &amp; market abuse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Cryptoassets (CCAS certified)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RegTech (Feedzai, AdvanThink, Shift, Finovox)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LANGUAGES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French — Native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English — Fluent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Spanish — Fluent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EDUCATION &amp; CERTIFICATIONS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2018 / 2024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Certifications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CAMS &amp; CCAS (cryptoassets)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2011 — 2016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Sciences Po Lyon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Grande École Program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2015 — 2016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University of Luxembourg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LL.M. European Economic &amp; Financial Criminal Law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INTERESTS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Watch collecting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ENGAGEMENTS &amp; ACHIEVEMENTS</a:t>
            </a:r>
          </a:p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L'Actu Fin[Tech] podcast</a:t>
            </a:r>
            <a:r>
              <a:rPr sz="1200" b="0" i="1">
                <a:solidFill>
                  <a:srgbClr val="CCD6E8"/>
                </a:solidFill>
                <a:latin typeface="Alegreya Sans"/>
              </a:rPr>
              <a:t> — Co-creator — FinTech &amp; Blockchain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8600" y="1180000"/>
            <a:ext cx="7434800" cy="531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SUMMARY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FFFFFF"/>
                </a:solidFill>
                <a:latin typeface="Alegreya Sans"/>
              </a:rPr>
              <a:t>Senior Manager in Regulatory Compliance, CAMS and CCAS certified, specialized in AML/CTF, fraud and financial crime for banks and fintechs. Experience with PwC, EY and KPMG Luxembourg.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MAIN PROFESSIONAL EXPERIENCE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BNP Paribas CIB (via PwC)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IT Business Delivery Manager — AML/CTF &amp; Fraud / Supervisory TOM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(PwC — since 2020)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Facilitated the bi-monthly AML/CTF &amp; Fraud IT committee: impact studies, prioritization, backlog with Compliance &amp; Business.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Designed the TOM for engaging with supervisors: top-tier benchmark across 5 countries (UK, US), roles and organization.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La Banque Postale (via PwC)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Fraud PMO — WERO roll-out (P2P, P2Pro, E/M Commerce)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(PwC mission)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Led the Fraud workstream: progress, risks and interdependencies, workshops with all stakeholders (incl. EPI).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Assessed EPI's fraud requirements against the bank's capabilities; change management for the fraud back-office.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Société Générale &amp; Qonto (via PwC)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Financial Crime TOM / External Fraud audit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(PwC missions)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SG: TOM and organization for Financial Crime, Fraud &amp; Market Abuse surveillance; 2025 strategy, ROI modelling.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Qonto: review of external fraud detection scenarios (calibration); ~1,000 ID documents reviewed.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EY France / KPMG Luxembourg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Senior Consultant — Regulatory &amp; Compliance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(2016 — 2019)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EY — Citi France: Risk &amp; Compliance assessment across 10+ countries (incl. UK).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KPMG — J.P. Morgan Luxembourg: Transfer Agency audits, AML/CTF &amp; KYC focus.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78000"/>
            <a:ext cx="12192000" cy="280000"/>
          </a:xfrm>
          <a:prstGeom prst="rect">
            <a:avLst/>
          </a:prstGeom>
          <a:solidFill>
            <a:srgbClr val="061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" y="6578000"/>
            <a:ext cx="117348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CCD6E8"/>
                </a:solidFill>
                <a:latin typeface="Alegreya Sans"/>
              </a:rPr>
              <a:t>The information in this document is strictly confidential — This document may only be shared with the owner's consent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