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Aboubacar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BATHILY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Indépendant — Gestion de Projets Réglementaires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Conformité &amp; Contrôle Interne — CIB, Asset Management, Assurance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Conformité réglementaire européenne (MiFID II, PRIIPs, SFDR)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LCB-FT / KYC, Abus de Marché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DORA, MiCA, RGPD, Solvabilité II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Contrôle interne &amp; risque opérationnel (LoD1-LoD3)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de projet Waterfall &amp; Agile (PMO/PM)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Natif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Panthéon-Assas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en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AMF, PMI, McKinsey Forward, Cybersécurité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Expert en conformité et contrôle interne, 8 ans d'expérience dans les services financiers. Spécialisé dans le pilotage de programmes réglementaires complexes, habitué à l'accompagnement des COMEX et Comités de Direction.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AXA IM / BNP AM (Direction COO)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Chef de Projet — Transition de prestataire de reporting réglementaire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Cadrage des processus de reporting AXA IM post-fusion BNP AM ; scénarios de réinternalisation vs externalisation, cartographie des contrôles.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Définition du TOM (workflows, RACI, gap analysis) sur les reportings PRIIPs &amp; UCITS KI(I)D, MiFID II, SFDR.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MPG Partners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Consultant — Services Financiers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(2020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Développement d'offres : Conformité / Contrôle Interne (risque climatique / SFDR), agrément MiCA des PSAN, formation MAD/MAR, DORA.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Missions : reporting MiFID II (SGCIB), projets cross-border (CACIB), programme LCB-FT/KYC (AXA), transition prestataire (LBPAM &amp; Ostrum).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Marker Management Consulting (racheté par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Contrôle Interne &amp; Conformité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(2019 — 2020)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RCCI délégué pour une dizaine de sociétés de gestion : contrôle permanent KYC/LCB-FT, Abus de Marché, Valorisation, Conflits d'Intérêts.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Rédaction de dossiers d'agrément AMF, plans de contrôle annuels, politiques et procédures.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Ernst &amp; Young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Risk Management — Services Financiers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(2018 —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Contrôles périodiques pour les filiales Natixis IM : KYC/LCB-FT, fonds propres (CRR), Abus de Marché, valorisation, best execution.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Rédaction de rapports d'audit et de procédures internes pour banques, assureurs et sociétés de gestion.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Aboubacar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BATHILY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Independent Consultant — Regulatory Project Management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Compliance &amp; Internal Control — CIB, Asset Management, Insurance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European regulatory compliance (MiFID II, PRIIPs, SFDR)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AML-CFT / KYC, Market Abuse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DORA, MiCA, GDPR, Solvency II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Internal control &amp; operational risk (LoD1-LoD3)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Project management Waterfall &amp; Agile (PMO/PM)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Panthéon-Assas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Degree in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AMF, PMI, McKinsey Forward,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Expert in compliance and internal control with 8 years of experience in financial services. Specialized in managing complex regulatory programs, experienced in supporting COMEX and Executive Committees.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AXA IM / BNP AM (COO Department)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— Regulatory Reporting Provider Transition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Scoping of AXA IM reporting processes post-merger with BNP AM; reinternalization vs outsourcing scenarios, control mapping.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Definition of the TOM (workflows, RACI, gap analysis) on PRIIPs &amp; UCITS KI(I)D, MiFID II, SFDR reportings.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MPG Partners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Consultant —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(2020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Service offerings: Compliance / Internal Control (climate risk / SFDR), MiCA approval for PSANs, MAD/MAR training, DORA.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Missions: MiFID II reporting (SGCIB), cross-border projects (CACIB), AML/KYC program (AXA), provider transition (LBPAM &amp; OSTRUM).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Marker Management Consulting (acquired by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Internal Control &amp; Compliance Consultant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(2019 — 2020)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Delegated RCCI for around 10 Asset Management companies: permanent control on KYC/AML, Market Abuse, Valuation, Conflicts of Interest.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Drafted AMF licensing files, annual control plans, policies and procedures.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Ernst &amp; Young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Risk Management Consultant — Financial Services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(2018 —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Periodic controls for Natixis IM affiliates: KYC/AML, capital requirements (CRR), Market Abuse, valuation, best execution.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Wrote audit reports and internal procedures for banks, insurers, and asset managers.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Alexandre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POLAKOWSKI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Spécialiste AI Governance, AI Risk &amp; EU AI Act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Gouvernance IA &amp; Conformité réglementaire — Services financiers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Governance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Risk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EU AI Act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Compliance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Strategy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TOEIC 955/990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Certification Digital Ethics Officer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Saint-Germain-en-Laye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II Affaires européennes et internationales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UVSQ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II Influence &amp; Affaires publiques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Conseiller Numérique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Saint-Germain-en-Laye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Podcasteur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Créateur du podcast Esprit IA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Conférencier &amp; Juré EDHEC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Expert en gouvernance de l'IA, AI Risk Management et conformité réglementaire, avec près de 8 ans d'expérience auprès de grandes institutions bancaires. Spécialisé dans l'EU AI Act et le déploiement international de dispositifs de gouvernance IA.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Top-tier CIB européenne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AI Compliance Lead (consultant)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(8 mois — en cours)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Finalisation et mise en œuvre du cadre de gouvernance des risques IA : politiques internes, cartographie des risques, comitologie.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Déploiement international du dispositif dans plus de 40 entités (USA, UK, APAC, MEA).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Sia Partners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Associate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(10 mois — en cours)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Responsable de l'offre AI Risk Management : appels d'offres, veille réglementaire, développement commercial.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du groupe de travail IA de Paris Europlace (+40 responsables du secteur financier) : position papers, consultations européennes.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Group EU AI Act Project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(18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Responsable du programme EU AI Act du Groupe BPCE et de ses entités (Natixis, Oney, BRED) : cartographie des risques IA, cadre normatif Groupe.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Accompagnement de plus de 35 décideurs locaux (DPO, CCO, CDO) dans la déclinaison du cadre normatif.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Oney / Oneytrust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Expert Leader — Digital &amp; AI Compliance Officer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(38 mois)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Structuration du cadre de gouvernance des risques IA avec le CDO : inventaire, formation, conformité EU AI Act dans plus de 10 entités.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Ambassadeur IA Générative auprès de 3 000 collaborateurs ; pilotage des activités RGPD d'Oneytrust.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Alexandre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POLAKOWSKI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AI Governance, AI Risk &amp; EU AI Act Specialist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AI Governance &amp; Regulatory Compliance —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Governance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Risk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EU AI Act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 Compliance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Strategy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TOEIC 955/990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EDHEC Business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Digital Ethics Officer certification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Saint-Germain-en-Laye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in European &amp; International Affairs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UVSQ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in Influence &amp; Public Affairs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Digital Council Advisor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Saint-Germain-en-Laye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Podcaster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Creator of the Esprit IA podcast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Speaker &amp; EDHEC Juror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Expert in AI Governance, AI Risk Management and regulatory compliance, with nearly 8 years of experience advising major banking institutions. Specialised in the EU AI Act and international AI governance rollouts.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Top-tier European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AI Compliance Lead (consultant)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(8 months — ongoing)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Finalisation and rollout of the AI risk governance framework: internal policies, risk mapping, committee design.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International rollout across 40+ entities (USA, UK, APAC, MEA).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Sia Partners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Associate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(10 months — ongoing)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Head of the AI Risk Management offering: RFPs, regulatory watch, business development.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 of the AI working group at Paris Europlace (40+ senior financial-sector representatives): position papers, EU consultations.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Group EU AI Act Project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(18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Lead of the EU AI Act compliance programme for Groupe BPCE and its entities (Natixis, Oney, BRED): AI risk mapping, Group standards framework.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Support of 35+ local decision-makers (DPO, CCO, CDO) in deploying the Group framework.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Oney / Oneytrust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Expert Leader — Digital &amp; AI Compliance Officer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(38 months)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Built the AI risk governance framework with the CDO: inventory, training, EU AI Act compliance across 10+ entities.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Group GenAI ambassador to 3,000 employees; pilot of Oneytrust's GDPR activities.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REFERENCES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Groupe BPCE, Natixis, Oney, Sia Partners, Paris Europlace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Baptiste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EPPLIN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Senior — Conformité Réglementaire &amp; Contrôle Interne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Banque — Protection clientèle, Tax &amp; Regulatory, AI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Conformité réglementaire bancaire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Protection des intérêts de la clientèle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FATCA, AEOI, TTF, QDD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Act &amp; gouvernance des systèmes d'IA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Contrôle interne (LoD1, LoD2)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Intermédiaire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2019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 Lyon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Mastère Spécialisé Droit et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2018 — 2019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d'Orléans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II Droit des Affaires et Fiscalité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Référent Paris Europlace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Attractivité, réglementation UE,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Plus de 5 ans d'expérience en conformité réglementaire, contrôle interne et transformation des processus en environnement bancaire. Habitué à traduire les exigences réglementaires en dispositifs opérationnels.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Tier 1 Groupe Bancaire Français (via Sia Partners)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Conformité Centrale — Protection de la clientèle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févr.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Diagnostics réglementaires : gouvernance produits, paiements, crédit conso ; écarts et risques de non-conformité.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Dispositifs cibles de gouvernance et contrôle (LoD1/LoD2) ; corpus documentaire (politiques, procédures, formations) pour le Groupe.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Tier 1 Banque d'Investissement (via Sia Partners)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Tax &amp; Regulatory — 4 réglementations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(Mission Sia Partners)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Déclinaison FATCA, AEOI, TTF et QDD sur les zones AMER, APAC, EMEA ; diagnostics et recommandations.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Modèles opérationnels cibles par réglementation ; cadre de contrôle LoD1 et automatisation des contrôles.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Tier 1 Groupe Bancaire Français (via Sia Partners)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Data &amp; IA — Programme AI Act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(Mission Sia Partners)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Inventaire centralisé des systèmes d'IA (registre Groupe) : traçabilité, conformité AI Act, auditabilité ; cartographie des risques IA.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Contrôles LoD1 sur les risques IA ; cadre de gouvernance AI Act couvrant le cycle de vie des systèmes.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Rothschild Martin Maurel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Junior — Operations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(Juin 2020 — Janv.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Revue des processus Front-to-Back KYC, FATCA, CRS avec nouveaux contrôles de validité et de cohérence.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Sécurisation des traitements de fonds de Private Equity (souscriptions, appels de fonds, distributions).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Baptiste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EPPLIN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Consultant — Regulatory Compliance &amp; Internal Control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Banking — Client Protection, Tax &amp; Regulatory, AI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Banking regulatory compliance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Client interest protection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FATCA, AEOI, FTT, QDD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Act &amp; AI systems governance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Internal control (LoD1, LoD2)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Intermediate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2019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EM Lyon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Specialized Master in Law &amp;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2018 — 2019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University of Orléans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II Business Law &amp; Taxation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Paris Europlace referent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Attractiveness, EU regulation,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Over 5 years of experience in regulatory compliance, internal control and process transformation in banking environments. Skilled at translating regulatory requirements into operational frameworks.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Tier 1 French Banking Group (via Sia Partners)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Central Compliance — Client protection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Feb.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diagnostics: product governance, payments, consumer credit; gaps and non-compliance risks.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Target governance and control frameworks (LoD1/LoD2); documentary corpus (policies, procedures, training) for the Group.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Tier 1 Investment Bank (via Sia Partners)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Tax &amp; Regulatory — 4 regulations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(Sia Partners mission)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Rollout of FATCA, AEOI, FTT and QDD across AMER, APAC, EMEA; diagnostics and recommendations.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Target operating models per regulation; LoD1 control framework and control automation.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Tier 1 French Banking Group (via Sia Partners)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Data &amp; AI — AI Act programme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(Sia Partners mission)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Centralized AI systems inventory (Group register): traceability, AI Act compliance, auditability; AI risk mapping.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LoD1 controls on AI risks; AI Act governance framework covering the full system lifecycle.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Rothschild Martin Maurel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Junior — Operations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(June 2020 — Jan.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Front-to-Back review of KYC, FATCA, CRS processes with new validity and consistency controls.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Securing of Private Equity fund processing (subscriptions, capital calls, distributions).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Charles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SAINT-DIZIER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Manager — Chef de Projet Réglementaire Banque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Réglementation bancaire &amp; Risques — BCE, BCBS239, SREP, ESG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Projets réglementaires (BCE, BCBS239, SREP, ESG, RGPD)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Risques de crédit, opérationnel et de liquidité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Gouvernance des données, reportings réglementaires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 portefeuille projets, COPIL / COPROJ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Contrôle et conformité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Bon niveau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Bac +5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Master 2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Gestion financière internationale, spéc. Europe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Consultant indépendant, 11 ans d'expérience bancaire dont 9 en conseil. Programmes réglementaires, risques et gouvernance des données pour de grands groupes.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La Banque Postale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Chef de Projet Solution — ESG &amp; Conformité réglementaire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— aujourd'hui)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Programme Haussmann (PMO) : étude de faisabilité d'une solution bout en bout de la chaîne de crédit ; besoins métiers, rationalisation du SI.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Programme Citoyen (reco BCE) : automatisation du calcul d'indicateurs ESG (marché SPES) ; projet Forbearance : design de la solution cible.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AXA GIE — Headquarter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Project Manager — RGPD et management des données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2023 — Avr.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Suppression automatique de données structurées et non structurées : cartographie des processus, purges automatiques, Microsoft IPG.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Gestion du budget et des comités projets, pilotage de deux équipes de consultants.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— Risque Opérationnel (SREP) &amp; Data Strategy (BCE)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— Déc.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Risque opérationnel : roadmap métiers/IT, collecte et priorisation des besoins, dashboards, animation COPIL / COPROJ.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Strategy BCE : règles de gestion des données, APIs entre référentiels, cadrage avec le core banking (Loans IQ).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/ Consultant Senior — Data Management &amp; BCBS239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(2017 —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Digitalisation de la chaîne de crédit CIB : besoins métiers, dictionnaire de données, covenants, workflow.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BCBS 239 / RDARR : audit des contrats de crédit CIB, évaluation des garanties et confirmation du RWA.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Charles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SAINT-DIZIER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Manager — Regulatory Banking Project Manager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Banking Regulation &amp; Risk — ECB, BCBS239, SREP, ESG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projects (ECB, BCBS239, SREP, ESG, GDPR)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Credit, operational and liquidity risk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Data governance, regulatory reporting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Project portfolio management, steering committees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Controls and compliance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Good level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Bac +5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Master's Degree (Master 2)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Management &amp; International Finance, spec. Europe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Independent consultant with 11 years of experience in the banking sector, including 9 years in consulting. Specialized in leading regulatory programs, risk management, and data governance for major banking groups.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La Banque Postale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Solution Project Manager — ESG &amp; Regulatory Compliance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(2025 — Present)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Haussmann Program (PMO): feasibility study for an end-to-end credit chain solution; business requirements, process optimization, data management.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Citoyen Program (ECB recommendation): automation of ESG indicator calculations (SPES market); Forbearance project: target solution design.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AXA GIE — Headquarters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Project Manager — GDPR &amp; Data Management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2023 — Apr.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Automated deletion of structured and unstructured data: process mapping, automated purges, Microsoft Purview (IPG).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Budget and steering committee management, led two consulting teams.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— Operational Risk (SREP) &amp; Data Strategy (ECB)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— Dec.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Operational risk: business/IT roadmap, requirements gathering and prioritization, dashboards, governance meetings.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ECB Data Strategy: data governance rules, APIs between repositories, framework with the core banking system (Loans IQ).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/ Senior Consultant — Data Management &amp; BCBS239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(2017 —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Digitalization of the CIB credit chain: business requirements, data dictionary, covenants, workflow.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BCBS 239 / RDARR: audit of CIB credit agreements, guarantee evaluation and RWA confirmation.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Dorian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PREVOST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Conformité Réglementaire (CAMS &amp; CCAS)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LCB-FT, Fraude &amp; Criminalité financière — Banque &amp; Fintech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LCB-FT (AML/CTF) &amp; KYC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Lutte contre la fraude (scénarios, calibration)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Criminalité financière &amp; abus de marché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Cryptoactifs (certifié CCAS)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RegTech (Feedzai, AdvanThink, Shift, Finovox)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2018 / 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CAMS &amp; CCAS (cryptoactifs)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2011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Lyon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Programme Grande École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du Luxembourg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LL.M. Droit pénal économique et financier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Horlogerie de collection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Podcast L'Actu Fin[Tech]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Co-créateur — FinTech &amp;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Senior Manager en conformité réglementaire, certifié CAMS et CCAS, spécialisé en LCB-FT, lutte contre la fraude et criminalité financière pour les banques et fintechs. Expérience chez PwC, EY et KPMG Luxembourg.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CIB (via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IT Business Delivery Manager — LCB-FT &amp; Fraude / TOM Superviseurs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(PwC — depuis 2020)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Animation du comité bimensuel des évolutions IT LCB-FT &amp; Fraude : études d'impact, priorisation, backlog avec Conformité et Métiers.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Design du TOM d'interaction avec les superviseurs : benchmark top-tier dans 5 pays (UK, US), rôles et organisation.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La Banque Postale (via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Fraud PMO — Déploiement WERO (P2P, P2Pro, E/M Commerce)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(Mission PwC)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du workstream Fraude : avancement, risques et interdépendances, ateliers avec toutes les parties prenantes (dont EPI).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Évaluation des exigences Fraude d'EPI vs capacités de la banque ; conduite du changement du back-office Fraude.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&amp; Qonto (via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TOM Criminalité financière / Audit Fraude externe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(Missions PwC)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SG : TOM des activités de surveillance Financial Crime, Fraude &amp; Abus de Marché ; stratégie 2025, modélisation du ROI.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Qonto : revue des scénarios de détection de fraude externe (calibration) ; environ 1 000 documents d'identité revus.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 France / KPMG Luxembourg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Consultant — Regulatory &amp; Compliance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(2016 —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EY — Citi France : évaluation des risques Conformité dans plus de 10 pays (dont UK).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KPMG — J.P. Morgan Luxembourg : audits Transfer Agency, focus LCB-FT &amp; KYC.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Dorian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PREVOST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Regulatory Compliance (CAMS &amp; CCAS)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AML/CTF, Fraud &amp; Financial Crime — Banking &amp; Fintech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AML/CTF &amp; KYC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Fraud prevention (scenarios, calibration)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Financial crime &amp; market abuse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Cryptoassets (CCAS certified)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RegTech (Feedzai, AdvanThink, Shift, Finovox)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2018 / 2024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CAMS &amp; CCAS (cryptoassets)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2011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Sciences Po Lyon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Grande École Program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University of Luxembourg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LL.M. European Economic &amp; Financial Criminal Law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Watch collecting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L'Actu Fin[Tech] podcast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Co-creator — FinTech &amp;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Senior Manager in Regulatory Compliance, CAMS and CCAS certified, specialized in AML/CTF, fraud and financial crime for banks and fintechs. Experience with PwC, EY and KPMG Luxembourg.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BNP Paribas CIB (via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IT Business Delivery Manager — AML/CTF &amp; Fraud / Supervisory TOM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(PwC — since 2020)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Facilitated the bi-monthly AML/CTF &amp; Fraud IT committee: impact studies, prioritization, backlog with Compliance &amp; Business.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Designed the TOM for engaging with supervisors: top-tier benchmark across 5 countries (UK, US), roles and organization.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La Banque Postale (via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Fraud PMO — WERO roll-out (P2P, P2Pro, E/M Commerce)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(PwC mission)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Led the Fraud workstream: progress, risks and interdependencies, workshops with all stakeholders (incl. EPI).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Assessed EPI's fraud requirements against the bank's capabilities; change management for the fraud back-office.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&amp; Qonto (via PwC)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Financial Crime TOM / External Fraud audit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(PwC missions)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SG: TOM and organization for Financial Crime, Fraud &amp; Market Abuse surveillance; 2025 strategy, ROI modelling.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Qonto: review of external fraud detection scenarios (calibration); ~1,000 ID documents reviewed.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 France / KPMG Luxembourg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Consultant — Regulatory &amp; Compliance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(2016 —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EY — Citi France: Risk &amp; Compliance assessment across 10+ countries (incl. UK).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KPMG — J.P. Morgan Luxembourg: Transfer Agency audits, AML/CTF &amp; KYC focus.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Leila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SLIMANI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Manager Conformité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LCB-FT, KYC &amp; AI Act — Banque, Assurance, Paiement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LCB-FT &amp; sécurité financière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KYC, sanctions internationales, gel des avoirs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Act &amp; gouvernance IA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Audit interne &amp; contrôle permanent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Conduite, éthique &amp; déontologie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Portugais — Notions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— 2018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Panthéon-Assas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Banque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HEC Montréal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B.B.A. spécialisé en Finance (AACSB, EQUIS, AMBA)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Voyage (road trips Amérique du Nord)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Lecture (romans policiers)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Course à pied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Manager Conformité chez EY, intervenant auprès d'acteurs bancaires, assurantiels et de paiement. Expérience combinant conseil en conformité, audit interne en banque G-SIB et gestion de projets réglementaires internationaux.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Conformité — Banque, Assurance, Paiement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2023 — Août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Mise en conformité AI Act pour une G-SIB et un assureur majeur : gap analysis, gouvernance cible, feuille de route ; KRI conformité suite à une recommandation BCE.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du dispositif KYC d'un établissement de paiement (TOM, cas d'usage IA) ; remédiation LCB-FT de 25 collaborateurs ; analyses d'écart sécurité financière.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Auditrice interne — Inspection &amp; Audit interne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(Juin 2021 — Août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Missions d'audit interne LCB-FT, KYC, Sanctions &amp; embargo, PPE et contrôle permanent sur le domaine des paiements (correspondance bancaire, trade finance, affacturage, cash management).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Identification des risques, préconisations, rédaction des livrables d'audit (fiches diagnostic, constats, rapport) et relation avec les audités.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USA (VIE New York)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Cheffe de projet — Transition LIBOR USD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(Juil. 2019 — Avr.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Assistance au pilotage de la gouvernance de la transition IBOR de SG Amériques, en relation étroite avec les parties prenantes en France.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Front office — Émission de Covered Bonds &amp; gestion du collatéral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(Déc. 2017 — Juil.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Émission sur le marché primaire d'obligations sécurisées adossées à des actifs de haute qualité (alternance 12 mois puis CDD 9 mois).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Leila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SLIMANI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Compliance Manager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AML-CFT, KYC &amp; AI Act — Banking, Insurance,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AML-CFT &amp; financial security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KYC, international sanctions, asset freezing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Act &amp; AI governance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Internal audit &amp; permanent control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Conduct, ethics &amp; deontology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Portuguese — Basic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— 2018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Panthéon-Assas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Banking &amp;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HEC Montréal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B.B.A. in Finance (AACSB, EQUIS, AMBA)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Travel (North America road trips)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Reading (crime novels)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Compliance Manager at EY, advising banking, insurance and payment players. Experience combining compliance consulting, internal audit within a G-SIB bank and international regulatory project management.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Compliance Manager — Banking, Insurance, Payments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2023 — Aug.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AI Act compliance for a G-SIB and a major insurer: gap analysis, target governance, roadmap; compliance KRIs following an ECB recommendation.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KYC framework transformation for a payment institution (TOM, AI use-cases); 25-people AML remediation programme; financial security gap analyses.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Internal Auditor — Inspection &amp; Internal Audit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(June 2021 — Aug.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Internal audit missions on AML-CFT, KYC, Sanctions &amp; embargo, PEP and permanent control across the payments domain (correspondent banking, trade finance, factoring, cash management).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Risk identification, recommendations, drafting of audit deliverables (diagnostic sheets, findings, audit report) and relationship with auditees.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USA (VIE New York)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— USD LIBOR transition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(July 2019 — Apr.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Supported the governance of SG Americas' IBOR transition, working closely with stakeholders in France.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 CIB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Front office — Covered Bonds issuance &amp; collateral management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(Dec. 2017 — July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Primary-market issuance of covered bonds backed by high-quality assets (12-month apprenticeship then 9-month contract).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