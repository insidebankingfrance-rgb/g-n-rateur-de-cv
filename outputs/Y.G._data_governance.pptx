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61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300000" y="0"/>
            <a:ext cx="15000" cy="6858000"/>
          </a:xfrm>
          <a:prstGeom prst="rect">
            <a:avLst/>
          </a:prstGeom>
          <a:solidFill>
            <a:srgbClr val="3AE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nside_circl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0000" y="130000"/>
            <a:ext cx="1302000" cy="420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240000"/>
            <a:ext cx="3842800" cy="1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3AEDE5"/>
                </a:solidFill>
                <a:latin typeface="Alegreya Sans"/>
              </a:rPr>
              <a:t>Youssef</a:t>
            </a:r>
          </a:p>
          <a:p>
            <a:pPr>
              <a:spcBef>
                <a:spcPts val="0"/>
              </a:spcBef>
            </a:pPr>
            <a:r>
              <a:rPr sz="3200" b="1" i="0">
                <a:solidFill>
                  <a:srgbClr val="3AEDE5"/>
                </a:solidFill>
                <a:latin typeface="Alegreya Sans"/>
              </a:rPr>
              <a:t>GADRI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28600" y="300000"/>
            <a:ext cx="5963400" cy="8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1" i="0">
                <a:solidFill>
                  <a:srgbClr val="FFFFFF"/>
                </a:solidFill>
                <a:latin typeface="Alegreya Sans"/>
              </a:rPr>
              <a:t>Consultant Senior / Manager — Data Governance</a:t>
            </a:r>
          </a:p>
          <a:p>
            <a:pPr>
              <a:spcBef>
                <a:spcPts val="200"/>
              </a:spcBef>
            </a:pPr>
            <a:r>
              <a:rPr sz="1500" b="0" i="1">
                <a:solidFill>
                  <a:srgbClr val="3AEDE5"/>
                </a:solidFill>
                <a:latin typeface="Alegreya Sans"/>
              </a:rPr>
              <a:t>Data Management &amp; Gouvernance des données — BCBS 239 / RDARR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1180000"/>
            <a:ext cx="3842800" cy="531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DOMAINES D'EXPERTISE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Gouvernance &amp; qualité des données (BCBS 239 / RDARR)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Data Management &amp; Data Lineage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Outils : Collibra, Informatica, Ab Initio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Product Ownership &amp; Target Operating Model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Conduite du changement &amp; animation métier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LANGUES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Français — Langue maternelle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Anglais — Courant (TOEIC 920/990)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FORMATION &amp; CERTIFICATIONS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2017 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ESCP Business School</a:t>
            </a:r>
          </a:p>
          <a:p>
            <a:pPr algn="l">
              <a:spcAft>
                <a:spcPts val="300"/>
              </a:spcAft>
            </a:pPr>
            <a:r>
              <a:rPr sz="1200" b="0" i="1">
                <a:solidFill>
                  <a:srgbClr val="CCD6E8"/>
                </a:solidFill>
                <a:latin typeface="Alegreya Sans"/>
              </a:rPr>
              <a:t>MS Stratégie, Conseil &amp; Organisation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2016 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ESGI Paris</a:t>
            </a:r>
          </a:p>
          <a:p>
            <a:pPr algn="l">
              <a:spcAft>
                <a:spcPts val="300"/>
              </a:spcAft>
            </a:pPr>
            <a:r>
              <a:rPr sz="1200" b="0" i="1">
                <a:solidFill>
                  <a:srgbClr val="CCD6E8"/>
                </a:solidFill>
                <a:latin typeface="Alegreya Sans"/>
              </a:rPr>
              <a:t>Master Management &amp; Conseil en SI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— 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Certification</a:t>
            </a:r>
          </a:p>
          <a:p>
            <a:pPr algn="l">
              <a:spcAft>
                <a:spcPts val="300"/>
              </a:spcAft>
            </a:pPr>
            <a:r>
              <a:rPr sz="1200" b="0" i="1">
                <a:solidFill>
                  <a:srgbClr val="CCD6E8"/>
                </a:solidFill>
                <a:latin typeface="Alegreya Sans"/>
              </a:rPr>
              <a:t>Collibra Solution Architect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8600" y="1180000"/>
            <a:ext cx="7434800" cy="531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RÉSUMÉ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FFFFFF"/>
                </a:solidFill>
                <a:latin typeface="Alegreya Sans"/>
              </a:rPr>
              <a:t>Consultant Senior / Manager spécialisé en Data Management et gouvernance des données, expert des programmes réglementaires BCBS 239 / RDARR pour les grandes institutions financières.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PRINCIPALES EXPÉRIENCES PROFESSIONNELLES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Crédit Agricole CIB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Direction de programme RDARR — BCBS 239</a:t>
            </a:r>
            <a:r>
              <a:rPr sz="1200" b="0" i="1">
                <a:solidFill>
                  <a:srgbClr val="3AEDE5"/>
                </a:solidFill>
                <a:latin typeface="Alegreya Sans"/>
              </a:rPr>
              <a:t>  (Depuis Juin 2026)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Déclinaison du cadre normatif Groupe (gouvernance, qualité, lignage) aux spécificités de CACIB ; analyses d'écarts et plans de remédiation.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Animation des parties prenantes (CDO, risques/finance, data offices, IT) ; définition du périmètre RDARR (données essentielles, lignage, contrôles).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TDF (Télédiffusion de France)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Product Owner — Direction de la Transformation (BU TowerCo)</a:t>
            </a:r>
            <a:r>
              <a:rPr sz="1200" b="0" i="1">
                <a:solidFill>
                  <a:srgbClr val="3AEDE5"/>
                </a:solidFill>
                <a:latin typeface="Alegreya Sans"/>
              </a:rPr>
              <a:t>  (Mars 2024 — Mai 2026)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Digitalisation et automatisation des processus métier : TOM, solution Camunda (70 % du volume de commandes TowerCo).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Solution in-house de production automatique de livrables ; comités de pilotage et de direction.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Allianz Trade (ex Euler Hermes)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Mise en place du Data Office</a:t>
            </a:r>
            <a:r>
              <a:rPr sz="1200" b="0" i="1">
                <a:solidFill>
                  <a:srgbClr val="3AEDE5"/>
                </a:solidFill>
                <a:latin typeface="Alegreya Sans"/>
              </a:rPr>
              <a:t>  (Sept. 2022 — Oct. 2023)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Déclinaison des directives data du Groupe Allianz (framework, gouvernance, contrôles) avec le Group Data Office.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Déploiement Informatica AXON / EDC ; framework Data Quality (processus, contrôles, KPIs) ; change management.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BNP Paribas — Group Data Office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Implémentation de l'Enterprise Data Management Tool (Collibra)</a:t>
            </a:r>
            <a:r>
              <a:rPr sz="1200" b="0" i="1">
                <a:solidFill>
                  <a:srgbClr val="3AEDE5"/>
                </a:solidFill>
                <a:latin typeface="Alegreya Sans"/>
              </a:rPr>
              <a:t>  (Oct. 2020 — Août 2022)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Design du modèle de données (metamodel Collibra) ; dictionnaires, catalogues de contrôles, règles métier.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Cartographie du Data Lineage ; règles de qualité (complétude, fraîcheur, validité) ; guidelines et formation.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78000"/>
            <a:ext cx="12192000" cy="280000"/>
          </a:xfrm>
          <a:prstGeom prst="rect">
            <a:avLst/>
          </a:prstGeom>
          <a:solidFill>
            <a:srgbClr val="061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8600" y="6578000"/>
            <a:ext cx="11734800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1">
                <a:solidFill>
                  <a:srgbClr val="CCD6E8"/>
                </a:solidFill>
                <a:latin typeface="Alegreya Sans"/>
              </a:rPr>
              <a:t>Les informations de ce document sont strictement confidentielles — Ce document ne peut être partagé qu'avec l'accord de son propriétaire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61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300000" y="0"/>
            <a:ext cx="15000" cy="6858000"/>
          </a:xfrm>
          <a:prstGeom prst="rect">
            <a:avLst/>
          </a:prstGeom>
          <a:solidFill>
            <a:srgbClr val="3AE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nside_circl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0000" y="130000"/>
            <a:ext cx="1302000" cy="420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240000"/>
            <a:ext cx="3842800" cy="1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3AEDE5"/>
                </a:solidFill>
                <a:latin typeface="Alegreya Sans"/>
              </a:rPr>
              <a:t>Youssef</a:t>
            </a:r>
          </a:p>
          <a:p>
            <a:pPr>
              <a:spcBef>
                <a:spcPts val="0"/>
              </a:spcBef>
            </a:pPr>
            <a:r>
              <a:rPr sz="3200" b="1" i="0">
                <a:solidFill>
                  <a:srgbClr val="3AEDE5"/>
                </a:solidFill>
                <a:latin typeface="Alegreya Sans"/>
              </a:rPr>
              <a:t>GADRI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28600" y="300000"/>
            <a:ext cx="5963400" cy="8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1" i="0">
                <a:solidFill>
                  <a:srgbClr val="FFFFFF"/>
                </a:solidFill>
                <a:latin typeface="Alegreya Sans"/>
              </a:rPr>
              <a:t>Senior Consultant / Manager — Data Governance</a:t>
            </a:r>
          </a:p>
          <a:p>
            <a:pPr>
              <a:spcBef>
                <a:spcPts val="200"/>
              </a:spcBef>
            </a:pPr>
            <a:r>
              <a:rPr sz="1500" b="0" i="1">
                <a:solidFill>
                  <a:srgbClr val="3AEDE5"/>
                </a:solidFill>
                <a:latin typeface="Alegreya Sans"/>
              </a:rPr>
              <a:t>Data Management &amp; Data Governance — BCBS 239 / RDARR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1180000"/>
            <a:ext cx="3842800" cy="531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MAIN AREAS OF EXPERTISE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Data governance &amp; quality (BCBS 239 / RDARR)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Data Management &amp; Data Lineage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Tools: Collibra, Informatica, Ab Initio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Product Ownership &amp; Target Operating Model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Change management &amp; business facilitation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LANGUAGES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French — Native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English — Fluent (TOEIC 920/990)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EDUCATION &amp; CERTIFICATIONS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2017 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ESCP Business School</a:t>
            </a:r>
          </a:p>
          <a:p>
            <a:pPr algn="l">
              <a:spcAft>
                <a:spcPts val="300"/>
              </a:spcAft>
            </a:pPr>
            <a:r>
              <a:rPr sz="1200" b="0" i="1">
                <a:solidFill>
                  <a:srgbClr val="CCD6E8"/>
                </a:solidFill>
                <a:latin typeface="Alegreya Sans"/>
              </a:rPr>
              <a:t>MS Strategy, Consulting &amp; Organization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2016 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ESGI Paris</a:t>
            </a:r>
          </a:p>
          <a:p>
            <a:pPr algn="l">
              <a:spcAft>
                <a:spcPts val="300"/>
              </a:spcAft>
            </a:pPr>
            <a:r>
              <a:rPr sz="1200" b="0" i="1">
                <a:solidFill>
                  <a:srgbClr val="CCD6E8"/>
                </a:solidFill>
                <a:latin typeface="Alegreya Sans"/>
              </a:rPr>
              <a:t>Master's in Management &amp; IS Consulting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— 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Certification</a:t>
            </a:r>
          </a:p>
          <a:p>
            <a:pPr algn="l">
              <a:spcAft>
                <a:spcPts val="300"/>
              </a:spcAft>
            </a:pPr>
            <a:r>
              <a:rPr sz="1200" b="0" i="1">
                <a:solidFill>
                  <a:srgbClr val="CCD6E8"/>
                </a:solidFill>
                <a:latin typeface="Alegreya Sans"/>
              </a:rPr>
              <a:t>Collibra Solution Architect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8600" y="1180000"/>
            <a:ext cx="7434800" cy="531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SUMMARY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FFFFFF"/>
                </a:solidFill>
                <a:latin typeface="Alegreya Sans"/>
              </a:rPr>
              <a:t>Senior Consultant / Manager specialized in Data Management and data governance, expert in BCBS 239 / RDARR regulatory programs for major financial institutions.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MAIN PROFESSIONAL EXPERIENCE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Crédit Agricole CIB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RDARR Program Management — BCBS 239</a:t>
            </a:r>
            <a:r>
              <a:rPr sz="1200" b="0" i="1">
                <a:solidFill>
                  <a:srgbClr val="3AEDE5"/>
                </a:solidFill>
                <a:latin typeface="Alegreya Sans"/>
              </a:rPr>
              <a:t>  (Since June 2026)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Adaptation of the Group standards framework (governance, quality, lineage) to CACIB; gap analyses and remediation plans.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Stakeholder facilitation (CDO, risk/finance, data offices, IT); RDARR scope definition (critical data, lineage, controls).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TDF (Télédiffusion de France)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Product Owner — Transformation Division (TowerCo BU)</a:t>
            </a:r>
            <a:r>
              <a:rPr sz="1200" b="0" i="1">
                <a:solidFill>
                  <a:srgbClr val="3AEDE5"/>
                </a:solidFill>
                <a:latin typeface="Alegreya Sans"/>
              </a:rPr>
              <a:t>  (Mar. 2024 — May 2026)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Business-process digitalization and automation: TOM, Camunda solution (70% of TowerCo order volume).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In-house solution for automated deliverable production; steering and executive committees.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Allianz Trade (ex Euler Hermes)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Data Office set-up</a:t>
            </a:r>
            <a:r>
              <a:rPr sz="1200" b="0" i="1">
                <a:solidFill>
                  <a:srgbClr val="3AEDE5"/>
                </a:solidFill>
                <a:latin typeface="Alegreya Sans"/>
              </a:rPr>
              <a:t>  (Sept. 2022 — Oct. 2023)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Rollout of Allianz Group data directives (framework, governance, controls) with the Group Data Office.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Informatica AXON / EDC deployment; Data Quality framework (processes, controls, KPIs); change management.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BNP Paribas — Group Data Office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Enterprise Data Management Tool implementation (Collibra)</a:t>
            </a:r>
            <a:r>
              <a:rPr sz="1200" b="0" i="1">
                <a:solidFill>
                  <a:srgbClr val="3AEDE5"/>
                </a:solidFill>
                <a:latin typeface="Alegreya Sans"/>
              </a:rPr>
              <a:t>  (Oct. 2020 — Aug. 2022)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Data-model design (Collibra metamodel); dictionaries, control catalogs, business rules.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Data Lineage mapping; quality rules (completeness, freshness, validity); guidelines and training.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78000"/>
            <a:ext cx="12192000" cy="280000"/>
          </a:xfrm>
          <a:prstGeom prst="rect">
            <a:avLst/>
          </a:prstGeom>
          <a:solidFill>
            <a:srgbClr val="061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8600" y="6578000"/>
            <a:ext cx="11734800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1">
                <a:solidFill>
                  <a:srgbClr val="CCD6E8"/>
                </a:solidFill>
                <a:latin typeface="Alegreya Sans"/>
              </a:rPr>
              <a:t>The information in this document is strictly confidential — This document may only be shared with the owner's consent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